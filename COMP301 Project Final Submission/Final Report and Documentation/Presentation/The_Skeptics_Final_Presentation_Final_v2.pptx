
<file path=[Content_Types].xml><?xml version="1.0" encoding="utf-8"?>
<Types xmlns="http://schemas.openxmlformats.org/package/2006/content-types">
  <Default Extension="jpg" ContentType="image/jpg"/>
  <Default Extension="m4a" ContentType="audi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21.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22.xml" ContentType="application/vnd.openxmlformats-officedocument.presentationml.notesSlide+xml"/>
  <Override PartName="/ppt/charts/chart1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85" r:id="rId11"/>
    <p:sldId id="266" r:id="rId12"/>
    <p:sldId id="267" r:id="rId13"/>
    <p:sldId id="268" r:id="rId14"/>
    <p:sldId id="269" r:id="rId15"/>
    <p:sldId id="270" r:id="rId16"/>
    <p:sldId id="271" r:id="rId17"/>
    <p:sldId id="272" r:id="rId18"/>
    <p:sldId id="273" r:id="rId19"/>
    <p:sldId id="274" r:id="rId20"/>
    <p:sldId id="283" r:id="rId21"/>
    <p:sldId id="284" r:id="rId22"/>
    <p:sldId id="276" r:id="rId23"/>
    <p:sldId id="277" r:id="rId24"/>
    <p:sldId id="286" r:id="rId25"/>
    <p:sldId id="287" r:id="rId26"/>
    <p:sldId id="278" r:id="rId27"/>
    <p:sldId id="279" r:id="rId28"/>
    <p:sldId id="280" r:id="rId29"/>
    <p:sldId id="281" r:id="rId30"/>
    <p:sldId id="28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162" autoAdjust="0"/>
  </p:normalViewPr>
  <p:slideViewPr>
    <p:cSldViewPr snapToGrid="0" snapToObjects="1">
      <p:cViewPr varScale="1">
        <p:scale>
          <a:sx n="120" d="100"/>
          <a:sy n="120" d="100"/>
        </p:scale>
        <p:origin x="17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Baseline: code reaching the user (% of 990 tasks)</a:t>
            </a:r>
          </a:p>
        </c:rich>
      </c:tx>
      <c:overlay val="0"/>
    </c:title>
    <c:autoTitleDeleted val="0"/>
    <c:plotArea>
      <c:layout/>
      <c:barChart>
        <c:barDir val="col"/>
        <c:grouping val="clustered"/>
        <c:varyColors val="0"/>
        <c:ser>
          <c:idx val="0"/>
          <c:order val="0"/>
          <c:tx>
            <c:strRef>
              <c:f>Sheet1!$B$1</c:f>
              <c:strCache>
                <c:ptCount val="1"/>
                <c:pt idx="0">
                  <c:v>Hallucinated (A)</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BAC9-4F76-AD7F-2E7F90E4CB0D}"/>
            </c:ext>
          </c:extLst>
        </c:ser>
        <c:ser>
          <c:idx val="1"/>
          <c:order val="1"/>
          <c:tx>
            <c:strRef>
              <c:f>Sheet1!$C$1</c:f>
              <c:strCache>
                <c:ptCount val="1"/>
                <c:pt idx="0">
                  <c:v>Correct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24.9</c:v>
                </c:pt>
                <c:pt idx="1">
                  <c:v>36.9</c:v>
                </c:pt>
                <c:pt idx="2">
                  <c:v>34.4</c:v>
                </c:pt>
              </c:numCache>
            </c:numRef>
          </c:val>
          <c:extLst>
            <c:ext xmlns:c16="http://schemas.microsoft.com/office/drawing/2014/chart" uri="{C3380CC4-5D6E-409C-BE32-E72D297353CC}">
              <c16:uniqueId val="{00000001-BAC9-4F76-AD7F-2E7F90E4CB0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Hallucinated code reaching the user (%)</a:t>
            </a:r>
          </a:p>
        </c:rich>
      </c:tx>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C393-49D5-A18D-6D170359B4EA}"/>
            </c:ext>
          </c:extLst>
        </c:ser>
        <c:ser>
          <c:idx val="1"/>
          <c:order val="1"/>
          <c:tx>
            <c:strRef>
              <c:f>Sheet1!$C$1</c:f>
              <c:strCache>
                <c:ptCount val="1"/>
                <c:pt idx="0">
                  <c:v>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1-C393-49D5-A18D-6D170359B4E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Correct code reaching the user (%)</a:t>
            </a:r>
          </a:p>
        </c:rich>
      </c:tx>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9FB2CC"/>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24.9</c:v>
                </c:pt>
                <c:pt idx="1">
                  <c:v>36.9</c:v>
                </c:pt>
                <c:pt idx="2">
                  <c:v>34.4</c:v>
                </c:pt>
              </c:numCache>
            </c:numRef>
          </c:val>
          <c:extLst>
            <c:ext xmlns:c16="http://schemas.microsoft.com/office/drawing/2014/chart" uri="{C3380CC4-5D6E-409C-BE32-E72D297353CC}">
              <c16:uniqueId val="{00000000-B9D8-4FBE-95E6-900682255666}"/>
            </c:ext>
          </c:extLst>
        </c:ser>
        <c:ser>
          <c:idx val="1"/>
          <c:order val="1"/>
          <c:tx>
            <c:strRef>
              <c:f>Sheet1!$C$1</c:f>
              <c:strCache>
                <c:ptCount val="1"/>
                <c:pt idx="0">
                  <c:v>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50.9</c:v>
                </c:pt>
                <c:pt idx="1">
                  <c:v>50.4</c:v>
                </c:pt>
                <c:pt idx="2">
                  <c:v>51.5</c:v>
                </c:pt>
              </c:numCache>
            </c:numRef>
          </c:val>
          <c:extLst>
            <c:ext xmlns:c16="http://schemas.microsoft.com/office/drawing/2014/chart" uri="{C3380CC4-5D6E-409C-BE32-E72D297353CC}">
              <c16:uniqueId val="{00000001-B9D8-4FBE-95E6-90068225566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Fate of 1,562 baseline hallucinations (3 runs pooled)</a:t>
            </a:r>
          </a:p>
        </c:rich>
      </c:tx>
      <c:overlay val="0"/>
    </c:title>
    <c:autoTitleDeleted val="0"/>
    <c:plotArea>
      <c:layout/>
      <c:doughnutChart>
        <c:varyColors val="1"/>
        <c:ser>
          <c:idx val="0"/>
          <c:order val="0"/>
          <c:tx>
            <c:strRef>
              <c:f>Sheet1!$B$1</c:f>
              <c:strCache>
                <c:ptCount val="1"/>
                <c:pt idx="0">
                  <c:v>Baseline hallucinations</c:v>
                </c:pt>
              </c:strCache>
            </c:strRef>
          </c:tx>
          <c:spPr>
            <a:solidFill>
              <a:schemeClr val="accent1"/>
            </a:solidFill>
            <a:ln w="9525" cap="flat">
              <a:solidFill>
                <a:srgbClr val="F9F9F9"/>
              </a:solidFill>
              <a:prstDash val="solid"/>
              <a:round/>
            </a:ln>
            <a:effectLst/>
          </c:spPr>
          <c:dPt>
            <c:idx val="0"/>
            <c:bubble3D val="0"/>
            <c:spPr>
              <a:solidFill>
                <a:srgbClr val="8FC1FF"/>
              </a:solidFill>
              <a:ln w="25400" cap="flat">
                <a:solidFill>
                  <a:srgbClr val="16294A"/>
                </a:solidFill>
                <a:prstDash val="solid"/>
                <a:round/>
              </a:ln>
              <a:effectLst/>
            </c:spPr>
            <c:extLst>
              <c:ext xmlns:c16="http://schemas.microsoft.com/office/drawing/2014/chart" uri="{C3380CC4-5D6E-409C-BE32-E72D297353CC}">
                <c16:uniqueId val="{00000001-E2A9-4F71-8452-8EF7ED6CCD45}"/>
              </c:ext>
            </c:extLst>
          </c:dPt>
          <c:dPt>
            <c:idx val="1"/>
            <c:bubble3D val="0"/>
            <c:spPr>
              <a:solidFill>
                <a:srgbClr val="3D95E8"/>
              </a:solidFill>
              <a:ln w="25400" cap="flat">
                <a:solidFill>
                  <a:srgbClr val="16294A"/>
                </a:solidFill>
                <a:prstDash val="solid"/>
                <a:round/>
              </a:ln>
              <a:effectLst/>
            </c:spPr>
            <c:extLst>
              <c:ext xmlns:c16="http://schemas.microsoft.com/office/drawing/2014/chart" uri="{C3380CC4-5D6E-409C-BE32-E72D297353CC}">
                <c16:uniqueId val="{00000003-E2A9-4F71-8452-8EF7ED6CCD45}"/>
              </c:ext>
            </c:extLst>
          </c:dPt>
          <c:dPt>
            <c:idx val="2"/>
            <c:bubble3D val="0"/>
            <c:spPr>
              <a:solidFill>
                <a:srgbClr val="8FA3BD"/>
              </a:solidFill>
              <a:ln w="25400" cap="flat">
                <a:solidFill>
                  <a:srgbClr val="16294A"/>
                </a:solidFill>
                <a:prstDash val="solid"/>
                <a:round/>
              </a:ln>
              <a:effectLst/>
            </c:spPr>
            <c:extLst>
              <c:ext xmlns:c16="http://schemas.microsoft.com/office/drawing/2014/chart" uri="{C3380CC4-5D6E-409C-BE32-E72D297353CC}">
                <c16:uniqueId val="{00000005-E2A9-4F71-8452-8EF7ED6CCD45}"/>
              </c:ext>
            </c:extLst>
          </c:dPt>
          <c:dPt>
            <c:idx val="3"/>
            <c:bubble3D val="0"/>
            <c:spPr>
              <a:solidFill>
                <a:srgbClr val="5B7FA6"/>
              </a:solidFill>
              <a:ln w="25400" cap="flat">
                <a:solidFill>
                  <a:srgbClr val="16294A"/>
                </a:solidFill>
                <a:prstDash val="solid"/>
                <a:round/>
              </a:ln>
              <a:effectLst/>
            </c:spPr>
            <c:extLst>
              <c:ext xmlns:c16="http://schemas.microsoft.com/office/drawing/2014/chart" uri="{C3380CC4-5D6E-409C-BE32-E72D297353CC}">
                <c16:uniqueId val="{00000007-E2A9-4F71-8452-8EF7ED6CCD45}"/>
              </c:ext>
            </c:extLst>
          </c:dPt>
          <c:dPt>
            <c:idx val="4"/>
            <c:bubble3D val="0"/>
            <c:spPr>
              <a:solidFill>
                <a:srgbClr val="FF5A4F"/>
              </a:solidFill>
              <a:ln w="25400" cap="flat">
                <a:solidFill>
                  <a:srgbClr val="16294A"/>
                </a:solidFill>
                <a:prstDash val="solid"/>
                <a:round/>
              </a:ln>
              <a:effectLst/>
            </c:spPr>
            <c:extLst>
              <c:ext xmlns:c16="http://schemas.microsoft.com/office/drawing/2014/chart" uri="{C3380CC4-5D6E-409C-BE32-E72D297353CC}">
                <c16:uniqueId val="{00000009-E2A9-4F71-8452-8EF7ED6CCD45}"/>
              </c:ext>
            </c:extLst>
          </c:dPt>
          <c:dLbls>
            <c:dLbl>
              <c:idx val="0"/>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2A9-4F71-8452-8EF7ED6CCD45}"/>
                </c:ext>
              </c:extLst>
            </c:dLbl>
            <c:dLbl>
              <c:idx val="1"/>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2A9-4F71-8452-8EF7ED6CCD45}"/>
                </c:ext>
              </c:extLst>
            </c:dLbl>
            <c:dLbl>
              <c:idx val="2"/>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2A9-4F71-8452-8EF7ED6CCD45}"/>
                </c:ext>
              </c:extLst>
            </c:dLbl>
            <c:dLbl>
              <c:idx val="3"/>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A9-4F71-8452-8EF7ED6CCD45}"/>
                </c:ext>
              </c:extLst>
            </c:dLbl>
            <c:dLbl>
              <c:idx val="4"/>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2A9-4F71-8452-8EF7ED6CCD45}"/>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Withheld</c:v>
                </c:pt>
                <c:pt idx="1">
                  <c:v>Repaired into correct code</c:v>
                </c:pt>
                <c:pt idx="2">
                  <c:v>Valid call, wrong task</c:v>
                </c:pt>
                <c:pt idx="3">
                  <c:v>Other error / no code</c:v>
                </c:pt>
                <c:pt idx="4">
                  <c:v>Still reached user</c:v>
                </c:pt>
              </c:strCache>
            </c:strRef>
          </c:cat>
          <c:val>
            <c:numRef>
              <c:f>Sheet1!$B$2:$B$6</c:f>
              <c:numCache>
                <c:formatCode>General</c:formatCode>
                <c:ptCount val="5"/>
                <c:pt idx="0">
                  <c:v>1001</c:v>
                </c:pt>
                <c:pt idx="1">
                  <c:v>427</c:v>
                </c:pt>
                <c:pt idx="2">
                  <c:v>91</c:v>
                </c:pt>
                <c:pt idx="3">
                  <c:v>5</c:v>
                </c:pt>
                <c:pt idx="4">
                  <c:v>38</c:v>
                </c:pt>
              </c:numCache>
            </c:numRef>
          </c:val>
          <c:extLst>
            <c:ext xmlns:c16="http://schemas.microsoft.com/office/drawing/2014/chart" uri="{C3380CC4-5D6E-409C-BE32-E72D297353CC}">
              <c16:uniqueId val="{0000000A-E2A9-4F71-8452-8EF7ED6CCD45}"/>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Class A (hallucinated) code at three stages (% of 990 tasks)</a:t>
            </a:r>
          </a:p>
        </c:rich>
      </c:tx>
      <c:overlay val="0"/>
    </c:title>
    <c:autoTitleDeleted val="0"/>
    <c:plotArea>
      <c:layout/>
      <c:barChart>
        <c:barDir val="col"/>
        <c:grouping val="clustered"/>
        <c:varyColors val="0"/>
        <c:ser>
          <c:idx val="0"/>
          <c:order val="0"/>
          <c:tx>
            <c:strRef>
              <c:f>Sheet1!$B$1</c:f>
              <c:strCache>
                <c:ptCount val="1"/>
                <c:pt idx="0">
                  <c:v>Baseline answer</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A266-4918-AD4C-C152EAB69FBC}"/>
            </c:ext>
          </c:extLst>
        </c:ser>
        <c:ser>
          <c:idx val="1"/>
          <c:order val="1"/>
          <c:tx>
            <c:strRef>
              <c:f>Sheet1!$C$1</c:f>
              <c:strCache>
                <c:ptCount val="1"/>
                <c:pt idx="0">
                  <c:v>Agent's first candidate</c:v>
                </c:pt>
              </c:strCache>
            </c:strRef>
          </c:tx>
          <c:spPr>
            <a:solidFill>
              <a:srgbClr val="F7E23B"/>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48.9</c:v>
                </c:pt>
                <c:pt idx="1">
                  <c:v>46.7</c:v>
                </c:pt>
                <c:pt idx="2">
                  <c:v>47.9</c:v>
                </c:pt>
              </c:numCache>
            </c:numRef>
          </c:val>
          <c:extLst>
            <c:ext xmlns:c16="http://schemas.microsoft.com/office/drawing/2014/chart" uri="{C3380CC4-5D6E-409C-BE32-E72D297353CC}">
              <c16:uniqueId val="{00000001-A266-4918-AD4C-C152EAB69FBC}"/>
            </c:ext>
          </c:extLst>
        </c:ser>
        <c:ser>
          <c:idx val="2"/>
          <c:order val="2"/>
          <c:tx>
            <c:strRef>
              <c:f>Sheet1!$D$1</c:f>
              <c:strCache>
                <c:ptCount val="1"/>
                <c:pt idx="0">
                  <c:v>Delivered by the 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Sheet1!$D$2:$D$4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2-A266-4918-AD4C-C152EAB69FB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Hallucinations delivered (3 runs pooled)</a:t>
            </a:r>
          </a:p>
        </c:rich>
      </c:tx>
      <c:overlay val="0"/>
    </c:title>
    <c:autoTitleDeleted val="0"/>
    <c:plotArea>
      <c:layout/>
      <c:barChart>
        <c:barDir val="col"/>
        <c:grouping val="clustered"/>
        <c:varyColors val="0"/>
        <c:ser>
          <c:idx val="0"/>
          <c:order val="0"/>
          <c:tx>
            <c:strRef>
              <c:f>Sheet1!$B$1</c:f>
              <c:strCache>
                <c:ptCount val="1"/>
                <c:pt idx="0">
                  <c:v>Hallucinations delivered</c:v>
                </c:pt>
              </c:strCache>
            </c:strRef>
          </c:tx>
          <c:spPr>
            <a:solidFill>
              <a:srgbClr val="3D95E8"/>
            </a:solidFill>
            <a:effectLst/>
          </c:spPr>
          <c:invertIfNegative val="0"/>
          <c:dPt>
            <c:idx val="0"/>
            <c:invertIfNegative val="0"/>
            <c:bubble3D val="0"/>
            <c:extLst>
              <c:ext xmlns:c16="http://schemas.microsoft.com/office/drawing/2014/chart" uri="{C3380CC4-5D6E-409C-BE32-E72D297353CC}">
                <c16:uniqueId val="{00000001-CFF1-47B8-8045-C97BE903E16A}"/>
              </c:ext>
            </c:extLst>
          </c:dPt>
          <c:dPt>
            <c:idx val="1"/>
            <c:invertIfNegative val="0"/>
            <c:bubble3D val="0"/>
            <c:spPr>
              <a:solidFill>
                <a:srgbClr val="FF5A4F"/>
              </a:solidFill>
              <a:effectLst/>
            </c:spPr>
            <c:extLst>
              <c:ext xmlns:c16="http://schemas.microsoft.com/office/drawing/2014/chart" uri="{C3380CC4-5D6E-409C-BE32-E72D297353CC}">
                <c16:uniqueId val="{00000003-CFF1-47B8-8045-C97BE903E16A}"/>
              </c:ext>
            </c:extLst>
          </c:dPt>
          <c:dLbls>
            <c:numFmt formatCode="#,##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Gate on (used)</c:v>
                </c:pt>
                <c:pt idx="1">
                  <c:v>Gate removed</c:v>
                </c:pt>
              </c:strCache>
            </c:strRef>
          </c:cat>
          <c:val>
            <c:numRef>
              <c:f>Sheet1!$B$2:$B$3</c:f>
              <c:numCache>
                <c:formatCode>General</c:formatCode>
                <c:ptCount val="2"/>
                <c:pt idx="0">
                  <c:v>59</c:v>
                </c:pt>
                <c:pt idx="1">
                  <c:v>224</c:v>
                </c:pt>
              </c:numCache>
            </c:numRef>
          </c:val>
          <c:extLst>
            <c:ext xmlns:c16="http://schemas.microsoft.com/office/drawing/2014/chart" uri="{C3380CC4-5D6E-409C-BE32-E72D297353CC}">
              <c16:uniqueId val="{00000004-CFF1-47B8-8045-C97BE903E16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26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Time / prompt (seconds)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5.8090282828299999</c:v>
                </c:pt>
                <c:pt idx="1">
                  <c:v>6.2019030302999996</c:v>
                </c:pt>
                <c:pt idx="2">
                  <c:v>7.3540949494900003</c:v>
                </c:pt>
              </c:numCache>
            </c:numRef>
          </c:val>
          <c:extLst>
            <c:ext xmlns:c16="http://schemas.microsoft.com/office/drawing/2014/chart" uri="{C3380CC4-5D6E-409C-BE32-E72D297353CC}">
              <c16:uniqueId val="{00000000-C473-4206-83C4-A9DFDC9CFDF2}"/>
            </c:ext>
          </c:extLst>
        </c:ser>
        <c:ser>
          <c:idx val="1"/>
          <c:order val="1"/>
          <c:tx>
            <c:v>Confident Agent</c:v>
          </c:tx>
          <c:spPr>
            <a:solidFill>
              <a:srgbClr val="3D95E8"/>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36.947718181799999</c:v>
                </c:pt>
                <c:pt idx="1">
                  <c:v>38.343018181799998</c:v>
                </c:pt>
                <c:pt idx="2">
                  <c:v>48.410880808100003</c:v>
                </c:pt>
              </c:numCache>
            </c:numRef>
          </c:val>
          <c:extLst>
            <c:ext xmlns:c16="http://schemas.microsoft.com/office/drawing/2014/chart" uri="{C3380CC4-5D6E-409C-BE32-E72D297353CC}">
              <c16:uniqueId val="{00000001-C473-4206-83C4-A9DFDC9CFDF2}"/>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60"/>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10"/>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Electricity / prompt (cents)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0.0</c:formatCode>
                <c:ptCount val="3"/>
                <c:pt idx="0">
                  <c:v>0.19548074182899999</c:v>
                </c:pt>
                <c:pt idx="1">
                  <c:v>0.21958517863099999</c:v>
                </c:pt>
                <c:pt idx="2">
                  <c:v>0.242286821008</c:v>
                </c:pt>
              </c:numCache>
            </c:numRef>
          </c:val>
          <c:extLst>
            <c:ext xmlns:c16="http://schemas.microsoft.com/office/drawing/2014/chart" uri="{C3380CC4-5D6E-409C-BE32-E72D297353CC}">
              <c16:uniqueId val="{00000000-7F1A-4A81-859F-62212A9A3D6D}"/>
            </c:ext>
          </c:extLst>
        </c:ser>
        <c:ser>
          <c:idx val="1"/>
          <c:order val="1"/>
          <c:tx>
            <c:v>Confident Agent</c:v>
          </c:tx>
          <c:spPr>
            <a:solidFill>
              <a:srgbClr val="FF5A4F"/>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0.0</c:formatCode>
                <c:ptCount val="3"/>
                <c:pt idx="0">
                  <c:v>1.0509187556599999</c:v>
                </c:pt>
                <c:pt idx="1">
                  <c:v>1.37788049606</c:v>
                </c:pt>
                <c:pt idx="2">
                  <c:v>1.4873668610199999</c:v>
                </c:pt>
              </c:numCache>
            </c:numRef>
          </c:val>
          <c:extLst>
            <c:ext xmlns:c16="http://schemas.microsoft.com/office/drawing/2014/chart" uri="{C3380CC4-5D6E-409C-BE32-E72D297353CC}">
              <c16:uniqueId val="{00000001-7F1A-4A81-859F-62212A9A3D6D}"/>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8"/>
          <c:min val="0"/>
        </c:scaling>
        <c:delete val="0"/>
        <c:axPos val="l"/>
        <c:majorGridlines>
          <c:spPr>
            <a:ln w="6668">
              <a:solidFill>
                <a:srgbClr val="2B4470"/>
              </a:solidFill>
              <a:prstDash val="solid"/>
            </a:ln>
          </c:spPr>
        </c:majorGridlines>
        <c:numFmt formatCode="0.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0.3"/>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Tokens / prompt (thousands)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0.52958888888900002</c:v>
                </c:pt>
                <c:pt idx="1">
                  <c:v>0.50599797979799999</c:v>
                </c:pt>
                <c:pt idx="2">
                  <c:v>0.50385353535400002</c:v>
                </c:pt>
              </c:numCache>
            </c:numRef>
          </c:val>
          <c:extLst>
            <c:ext xmlns:c16="http://schemas.microsoft.com/office/drawing/2014/chart" uri="{C3380CC4-5D6E-409C-BE32-E72D297353CC}">
              <c16:uniqueId val="{00000000-65BA-46BF-9BE6-6C0B064F7CD7}"/>
            </c:ext>
          </c:extLst>
        </c:ser>
        <c:ser>
          <c:idx val="1"/>
          <c:order val="1"/>
          <c:tx>
            <c:v>Confident Agent</c:v>
          </c:tx>
          <c:spPr>
            <a:solidFill>
              <a:srgbClr val="F7E23B"/>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21.420469697000001</c:v>
                </c:pt>
                <c:pt idx="1">
                  <c:v>22.7707282828</c:v>
                </c:pt>
                <c:pt idx="2">
                  <c:v>23.058383838400001</c:v>
                </c:pt>
              </c:numCache>
            </c:numRef>
          </c:val>
          <c:extLst>
            <c:ext xmlns:c16="http://schemas.microsoft.com/office/drawing/2014/chart" uri="{C3380CC4-5D6E-409C-BE32-E72D297353CC}">
              <c16:uniqueId val="{00000001-65BA-46BF-9BE6-6C0B064F7CD7}"/>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28"/>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5"/>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Wall-clock time (hours)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1.61</c:v>
                </c:pt>
                <c:pt idx="1">
                  <c:v>1.7230000000000001</c:v>
                </c:pt>
                <c:pt idx="2">
                  <c:v>2.04</c:v>
                </c:pt>
              </c:numCache>
            </c:numRef>
          </c:val>
          <c:extLst>
            <c:ext xmlns:c16="http://schemas.microsoft.com/office/drawing/2014/chart" uri="{C3380CC4-5D6E-409C-BE32-E72D297353CC}">
              <c16:uniqueId val="{00000000-3DEA-46B0-8EE8-6B861878199C}"/>
            </c:ext>
          </c:extLst>
        </c:ser>
        <c:ser>
          <c:idx val="1"/>
          <c:order val="1"/>
          <c:tx>
            <c:v>Confident Agent</c:v>
          </c:tx>
          <c:spPr>
            <a:solidFill>
              <a:srgbClr val="3D95E8"/>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10.246</c:v>
                </c:pt>
                <c:pt idx="1">
                  <c:v>10.657999999999999</c:v>
                </c:pt>
                <c:pt idx="2">
                  <c:v>13.452</c:v>
                </c:pt>
              </c:numCache>
            </c:numRef>
          </c:val>
          <c:extLst>
            <c:ext xmlns:c16="http://schemas.microsoft.com/office/drawing/2014/chart" uri="{C3380CC4-5D6E-409C-BE32-E72D297353CC}">
              <c16:uniqueId val="{00000001-3DEA-46B0-8EE8-6B861878199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6"/>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4"/>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Electricity cost (Rand incl. VAT)</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1.9479646669599999</c:v>
                </c:pt>
                <c:pt idx="1">
                  <c:v>2.1948327340199998</c:v>
                </c:pt>
                <c:pt idx="2">
                  <c:v>2.4192141507299998</c:v>
                </c:pt>
              </c:numCache>
            </c:numRef>
          </c:val>
          <c:extLst>
            <c:ext xmlns:c16="http://schemas.microsoft.com/office/drawing/2014/chart" uri="{C3380CC4-5D6E-409C-BE32-E72D297353CC}">
              <c16:uniqueId val="{00000000-41BE-4CBE-8817-75C759F0FF33}"/>
            </c:ext>
          </c:extLst>
        </c:ser>
        <c:ser>
          <c:idx val="1"/>
          <c:order val="1"/>
          <c:tx>
            <c:v>Confident Agent</c:v>
          </c:tx>
          <c:spPr>
            <a:solidFill>
              <a:srgbClr val="FF5A4F"/>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10.4906143586</c:v>
                </c:pt>
                <c:pt idx="1">
                  <c:v>13.785184065499999</c:v>
                </c:pt>
                <c:pt idx="2">
                  <c:v>14.8748616539</c:v>
                </c:pt>
              </c:numCache>
            </c:numRef>
          </c:val>
          <c:extLst>
            <c:ext xmlns:c16="http://schemas.microsoft.com/office/drawing/2014/chart" uri="{C3380CC4-5D6E-409C-BE32-E72D297353CC}">
              <c16:uniqueId val="{00000001-41BE-4CBE-8817-75C759F0FF3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8"/>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3"/>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Energy used (kWh, GPU + CPU)</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0.0</c:formatCode>
                <c:ptCount val="3"/>
                <c:pt idx="0">
                  <c:v>0.47385300000000002</c:v>
                </c:pt>
                <c:pt idx="1">
                  <c:v>0.53390499999999996</c:v>
                </c:pt>
                <c:pt idx="2">
                  <c:v>0.58848699999999998</c:v>
                </c:pt>
              </c:numCache>
            </c:numRef>
          </c:val>
          <c:extLst>
            <c:ext xmlns:c16="http://schemas.microsoft.com/office/drawing/2014/chart" uri="{C3380CC4-5D6E-409C-BE32-E72D297353CC}">
              <c16:uniqueId val="{00000000-EA02-45FF-B324-1B3602764720}"/>
            </c:ext>
          </c:extLst>
        </c:ser>
        <c:ser>
          <c:idx val="1"/>
          <c:order val="1"/>
          <c:tx>
            <c:v>Confident Agent</c:v>
          </c:tx>
          <c:spPr>
            <a:solidFill>
              <a:srgbClr val="F7E23B"/>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0.0</c:formatCode>
                <c:ptCount val="3"/>
                <c:pt idx="0">
                  <c:v>2.5518990000000001</c:v>
                </c:pt>
                <c:pt idx="1">
                  <c:v>3.3533210000000002</c:v>
                </c:pt>
                <c:pt idx="2">
                  <c:v>3.6183909999999999</c:v>
                </c:pt>
              </c:numCache>
            </c:numRef>
          </c:val>
          <c:extLst>
            <c:ext xmlns:c16="http://schemas.microsoft.com/office/drawing/2014/chart" uri="{C3380CC4-5D6E-409C-BE32-E72D297353CC}">
              <c16:uniqueId val="{00000001-EA02-45FF-B324-1B360276472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4.5"/>
          <c:min val="0"/>
        </c:scaling>
        <c:delete val="0"/>
        <c:axPos val="l"/>
        <c:majorGridlines>
          <c:spPr>
            <a:ln w="6668">
              <a:solidFill>
                <a:srgbClr val="2B4470"/>
              </a:solidFill>
              <a:prstDash val="solid"/>
            </a:ln>
          </c:spPr>
        </c:majorGridlines>
        <c:numFmt formatCode="0.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1"/>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Agent hallucination rate (% of tasks)</a:t>
            </a:r>
          </a:p>
        </c:rich>
      </c:tx>
      <c:overlay val="0"/>
    </c:title>
    <c:autoTitleDeleted val="0"/>
    <c:plotArea>
      <c:layout/>
      <c:barChart>
        <c:barDir val="col"/>
        <c:grouping val="clustered"/>
        <c:varyColors val="0"/>
        <c:ser>
          <c:idx val="0"/>
          <c:order val="0"/>
          <c:tx>
            <c:strRef>
              <c:f>Sheet1!$B$1</c:f>
              <c:strCache>
                <c:ptCount val="1"/>
                <c:pt idx="0">
                  <c:v>Pre-registered evaluator</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0-6E1D-4402-A2BD-9B74DBECCFC5}"/>
            </c:ext>
          </c:extLst>
        </c:ser>
        <c:ser>
          <c:idx val="1"/>
          <c:order val="1"/>
          <c:tx>
            <c:strRef>
              <c:f>Sheet1!$C$1</c:f>
              <c:strCache>
                <c:ptCount val="1"/>
                <c:pt idx="0">
                  <c:v>Audit-informed re-scoring</c:v>
                </c:pt>
              </c:strCache>
            </c:strRef>
          </c:tx>
          <c:spPr>
            <a:solidFill>
              <a:srgbClr val="F7E23B"/>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3</c:v>
                </c:pt>
                <c:pt idx="1">
                  <c:v>2.8</c:v>
                </c:pt>
                <c:pt idx="2">
                  <c:v>3.7</c:v>
                </c:pt>
              </c:numCache>
            </c:numRef>
          </c:val>
          <c:extLst>
            <c:ext xmlns:c16="http://schemas.microsoft.com/office/drawing/2014/chart" uri="{C3380CC4-5D6E-409C-BE32-E72D297353CC}">
              <c16:uniqueId val="{00000001-6E1D-4402-A2BD-9B74DBECCFC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742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and welcome. My name is Mahomed, joining me today are my collegues: Jawad, Joshua, Andiswa and Abiel. Together, we are known as The Skeptics. Now, lets have a look at what we have been working on. For our Confident Agent, we have decide to research into the Static Verification of REST API Hallucinations in LLM-Generated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now ask language models for code that talks to web services, as routinely as they search the documentation. The answers look professional. But a large share of them call an API that is wrong in a way the developer cannot see: an endpoint that was renamed, a host that was retired, or a parameter that never existed. That code often runs without an error until it reaches production.
The project description puts the challenge in one sentence: a Confident Agent is not one that is always correct; it is one that knows when it should not be trusted. We treated that sentence as something to test. We did not try to make the model stop hallucinating. We asked whether a carefully designed architecture can stop those hallucinations from reaching the user.
We chose software APIs because they offer something most domains lack: an authoritative, machine-readable contract. In our case, such is available being called an OpenAPI specification. A claim in generated code can be checked against it without trusting the model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question is this. Can a code-generation agent that verifies the API claims in its own code, against frozen and authoritative specifications, reduce the hallucinations that reach the user, compared with the same model without verification, while abstaining when verification is inconclusive, and at what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four hypotheses, all fixed in an evaluation plan before the main runs. H1, our primary hypothesis: the agent significantly reduces the share of tasks in which hallucinated code reaches the user. H2: it does not reduce the share of tasks that receive correct code, because an agent that refused everything would score zero hallucinations and be useless. H3: our confidence score gives correct code higher scores than hallucinated code. And H4: we measure what all this costs in time, tokens and electricity.
We also count both ways the agent can fail: delivering hallucinated code, which we call incorrect acceptance, and withholding correct code, which we call incorrect rejection.
To answer these questions we first needed a way to measure hallucinations. For that, Andiswa will explain the benchmark we built, and what the plain model did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Andiswa</a:t>
            </a:r>
            <a:r>
              <a:rPr lang="en-US" dirty="0"/>
              <a:t> Start)</a:t>
            </a:r>
            <a:br>
              <a:rPr lang="en-US" dirty="0"/>
            </a:br>
            <a:r>
              <a:rPr lang="en-US" dirty="0"/>
              <a:t>Thank you, Mahomed. First, what counts as an API hallucination. We define it as a claim in generated code that is verified to be incorrect against an authoritative source. Something we cannot verify is not automatically false; that is a reason to abstain, not a hallucination. Our evaluator places the code that reaches the user into classes. Class A is an API hallucination: a wrong host or version, an endpoint, parameter or field the API does not declare, or a missing credential. Class B is a valid call, but not the one the task asked for. Correct code makes the expected request. A runtime failure crashes before sending any request.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benchmark has 1,000 Python tasks over six public REST APIs: GitHub, Swagger Petstore, Open-Meteo, JSONPlaceholder, DummyJSON and REST Countries. Together they cover no authentication, API keys, Bearer tokens and OAuth2, and every kind of operation. Three APIs publish an official OpenAPI document. For the other three we wrote small specifications from the official documentation and labelled them as ours.
Every specification was downloaded on 21 September 2026 and frozen with a SHA-256 hash, so the ground truth could not change between runs. Each task asks for a function called solve(inputs), names the API and the operation, but never gives the URL, the method or the parameter names. The model has to supply the API knowledge itself. Each task also carries the exact request a correct answer must send. Before any results were scored, all 1,000 reference solutions passed our evaluator, and a group member audited 100 tasks against the providers' documentation. All 100 passed.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Qwen3.5-9B, a local model, with no verification. We ran it at three quantizations of the same weights. Between 51 and 55 percent of its answers contained an API hallucination, and only a quarter to a third were correct.
Why so many? The model writes the API it was trained on. 78 percent of Petstore answers called the retired Swagger 2 host, which dominates old tutorials. Told to use REST Countries version 5, which it has never seen, the model invented a version 5.1 address in over a third of its answers. And 45 percent of DummyJSON answers called a different, similar service. These are errors the model cannot detect by looking at itself, but a frozen specification detects them immediately.
That is the problem our agent has to solve. Joshua will now show how we designed it.</a:t>
            </a:r>
            <a:br>
              <a:rPr lang="en-US" dirty="0"/>
            </a:br>
            <a:r>
              <a:rPr lang="en-US" dirty="0"/>
              <a:t>(</a:t>
            </a:r>
            <a:r>
              <a:rPr lang="en-US" dirty="0" err="1"/>
              <a:t>Andiswa</a:t>
            </a:r>
            <a:r>
              <a:rPr lang="en-US" dirty="0"/>
              <a:t>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Start)</a:t>
            </a:r>
            <a:br>
              <a:rPr lang="en-US" dirty="0"/>
            </a:br>
            <a:r>
              <a:rPr lang="en-US" dirty="0"/>
              <a:t>Thank you </a:t>
            </a:r>
            <a:r>
              <a:rPr lang="en-US" dirty="0" err="1"/>
              <a:t>Andiswa</a:t>
            </a:r>
            <a:r>
              <a:rPr lang="en-US" dirty="0"/>
              <a:t>. Our design rests on one principle: generating an answer must not give it authority. So the model proposes code, a deterministic tool judges it against external evidence, and the tool, not the model, decides what reaches the user.
A typical design would use a chief agent and several specialist language-model agents. We kept those roles, but implemented the checking as a deterministic tool called verify_candidate. A model used as a judge can itself hallucinate; a contract check cannot. The model, running locally in LM Studio, writes the code and corrects it when told exactly what is wrong. Our independent evaluator shares no code with this tool.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first reads the code without running it and extracts every API claim. Then six layers check those claims. Layer 1 checks that the imported modules exist. Layer 2 runs the Pyright type checker. Layer 3, the most important, checks the host, path and method against the frozen specification. Layers 4, 5 and 6 check the request parameters, the response fields the code reads, and authentication. The evidence is selected by the host the code actually calls. If the code calls a host we hold no specification for, nothing can be verified, so the code is withheld.
To express confidence, we built the Evidence-Weighted Confidence Score, or EWCS. It is the share of the verification weight that is supported by positive evidence, discounted when the evidence is weaker, such as a specification we wrote ourselves. It measures evidence coverage. It is not a probability that the code is correct.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express confidence, we built the Evidence-Weighted Confidence Score, or EWCS. It is the share of the verification weight that is supported by positive evidence, discounted when the evidence is weaker, such as a specification we wrote ourselves. It measures evidence coverage. It is not a probability that the code is correct.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8564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policy applies three rules in order. First, the safety constraint: if any layer is verified incorrect, the code is never released. On the first attempt the model may correct it once; after that, the agent abstains. Second, the uncertainty gate: if any layer cannot be verified, the agent abstains. Only then, third, does the score matter: above 0.85 the code is delivered, and between 0.60 and 0.85 it is delivered with a warning flag. As Abiel will show, these first two hard rules, not the score, turned out to decide what is released.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scoring model output, the verifier produced no false contradictions on the 1,000 reference solutions. It delivered 99 without a flag, flagged 888 and withheld 13 because of documented evidence limitations. It blocked all 3,000 mutants. This is apparatus validation, not the primary experiment.
Abiel will now explain the experimental procedure and results.</a:t>
            </a:r>
            <a:br>
              <a:rPr lang="en-US" dirty="0"/>
            </a:br>
            <a:r>
              <a:rPr lang="en-US" dirty="0"/>
              <a:t>(Josh End)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(Abiel Start)</a:t>
            </a:r>
            <a:br>
              <a:rPr lang="en-US" dirty="0"/>
            </a:br>
            <a:r>
              <a:rPr lang="en-US" dirty="0"/>
              <a:t>Thank you, Joshua. Our experiment is a paired comparison. Each of the 990 scored tasks was answered twice by the same model with the same settings: once as the plain baseline, and once as the Confident Agent. We ran the whole experiment at three quantizations, which gives 2,970 task pairs. These are not three independent replications, because they repeat the same tasks, so we test each run separately and treat the three runs as a robustness check.
The Marker must not trust the agent's own verdict. So a separate evaluator, sharing no code with the agent, runs every program in a sandbox, records the exact request it would send, and compares it with the answer key. The scoring rules and tests were fixed in an evaluation plan before the main runs.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Without the agent, hallucinated code reached the user in 51 to 55 percent of tasks. With the agent, that fell to about 2 percent, in every run. At the same time, the share of tasks receiving correct code rose from between a quarter and a third, to about half. The price is that the agent gave no code at all for 38 to 40 percent of tasks.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follows every task from its baseline outcome to its outcome under the agent. Of the 1,562 baseline hallucinations, the agent withheld 1,001 and turned 427 into correct code. Only 38 still reached the user. So about two-thirds of the protection comes from withholding code, and one-third from correcting it.
Five additional task-runs end in another error or no code. Across baseline hallucinations, protection mainly comes from abstention, followed by correction.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clear about what this shows. Our intervention is a package: a prompt, the verification tool, one correction, and abstention. We recorded the model's first attempt, written under our prompt but before any verification. It still hallucinated in 47 to 49 percent of tasks, almost as often as the baseline. So the prompt alone changed which errors the model made, not how many. The reduction happens at verification and release. This is a breakdown by stage, though, not a test of each component on its 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also has clear failures. For REST Countries, it delivered nothing for almost every task: safe, but not useful. Most remaining hallucinations are Petstore request bodies with the wrong value types. And passing verification only shows the call matches the API contract, not that it does what the user asked. Counting every behaviour check, only about one task in ten received fully correct code.
Jawad will now take us through the statistics, the limitations, and our conclusions.</a:t>
            </a:r>
            <a:br>
              <a:rPr lang="en-US" dirty="0"/>
            </a:br>
            <a:r>
              <a:rPr lang="en-US" dirty="0"/>
              <a:t>(Abiel End)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(Jawad Start)</a:t>
            </a:r>
            <a:br>
              <a:rPr lang="en-US" dirty="0"/>
            </a:br>
            <a:r>
              <a:rPr lang="en-US" dirty="0"/>
              <a:t>Thanks, Abiel. Because each task was answered under both conditions, we used the exact McNemar test, which compares the tasks that changed. H1 is supported in every run, with Holm-adjusted p-values below ten to the minus 129. Even our most conservative confidence intervals exclude zero by more than 30 percentage points. H2 is supported too: correct code reaching the user rose by 13 to 26 percentage points.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supported: the confidence score separates correct from hallucinated code very well, with an area under the ROC curve of about 0.93. But it is not a probability. Our most important finding came from re-scoring every decision under five weighting schemes fixed in advance. The weights never changed what was withheld; they only decided whether delivered code carried a flag. Removing the uncertainty gate, however, would have let almost four times as many hallucinations through. So in our design, hard verification rules decide what is released, not the confidence score.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Part 5: </a:t>
            </a:r>
            <a:r>
              <a:rPr lang="en-US" dirty="0"/>
              <a:t>Jawad</a:t>
            </a:r>
            <a:r>
              <a:rPr dirty="0"/>
              <a:t> — Cost of intervention</a:t>
            </a:r>
          </a:p>
          <a:p>
            <a:endParaRPr dirty="0"/>
          </a:p>
          <a:p>
            <a:r>
              <a:rPr dirty="0"/>
              <a:t>H4 is the price. Each request takes about six times as long, and processes 40 to 46 times as many tokens. Locally, the measured electricity cost is about 1.1 to 1.5 South African cents per agent prompt; on a paid cloud model, the tokens would dominate.</a:t>
            </a:r>
          </a:p>
          <a:p>
            <a:endParaRPr dirty="0"/>
          </a:p>
          <a:p>
            <a:r>
              <a:rPr lang="en-US" dirty="0"/>
              <a:t>For time taken </a:t>
            </a:r>
            <a:r>
              <a:rPr dirty="0"/>
              <a:t> for the </a:t>
            </a:r>
            <a:r>
              <a:rPr lang="en-US" dirty="0"/>
              <a:t>s</a:t>
            </a:r>
            <a:r>
              <a:rPr dirty="0"/>
              <a:t>cored tasks in each run, excluding the pilot prompts</a:t>
            </a:r>
            <a:r>
              <a:rPr lang="en-US" dirty="0"/>
              <a:t> we are looking at a </a:t>
            </a:r>
            <a:r>
              <a:rPr dirty="0"/>
              <a:t>Baseline </a:t>
            </a:r>
            <a:r>
              <a:t>time</a:t>
            </a:r>
            <a:r>
              <a:rPr lang="en-US"/>
              <a:t> t</a:t>
            </a:r>
            <a:r>
              <a:t>5.8</a:t>
            </a:r>
            <a:r>
              <a:rPr dirty="0"/>
              <a:t>, 6.2 and 7.4 seconds; agent time is 36.9, 38.3 and 48.4 seconds. Electricity costs are shown in cents per prompt, not Rand per 1,000. Cost ratios use unrounded source means. The charts show means only.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Part 5: </a:t>
            </a:r>
            <a:r>
              <a:rPr lang="en-US" dirty="0"/>
              <a:t>Jawad</a:t>
            </a:r>
            <a:r>
              <a:rPr dirty="0"/>
              <a:t> — Cost of intervention, measured batch totals</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A full batch contains 1,000 prompts per mode and quantization, including the 10 pilot prompts. The baseline took 1.6 to 2.0 hours per batch and the Confident Agent took 10.2 to 13.5 hours. Electricity cost rose from roughly R1.95–R2.42 to R10.49–R14.87 per batch. GPU plus CPU package energy rose from 0.47–0.59 kWh to 2.55–3.62 kWh. Across the three full runs, the intervention added 2</a:t>
            </a:r>
            <a:r>
              <a:rPr lang="en-US" dirty="0"/>
              <a:t>9</a:t>
            </a:r>
            <a:r>
              <a:rPr dirty="0"/>
              <a:t> hours and R32.5</a:t>
            </a:r>
            <a:r>
              <a:rPr lang="en-US" dirty="0"/>
              <a:t>9</a:t>
            </a:r>
            <a:r>
              <a:rPr dirty="0"/>
              <a:t> of electricity</a:t>
            </a:r>
          </a:p>
          <a:p>
            <a:r>
              <a:rPr dirty="0"/>
              <a:t>Batch totals are the actual full runs, rather than 1,000 times the 990-task averages on the preceding slide. Their pilot inclusion explains the small difference between a normalized cost per 1,000 prompts and a measured full-batch total.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checked our own instruments. Two group members independently re-classified 102 of the evaluator's decisions, and after adjudication the evaluator was right on 99 of them. The audit found two rules it lacked, including invented GitHub media types that neither the evaluator nor our verifier checks. Re-scoring with those rules raises the agent's rate to about 3 percent, and every conclusion still holds.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threats to validity are one model, six popular APIs, Python only, part of the ground truth written by us, and no test of each component on its own. The repeated quantization runs are robustness checks, not independent replications.
Future work follows directly from the residual errors and evidence limits: component ablations, representative runtime inputs, task-level checks and broader testing.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might be thinking: what about application? How can we apply this in the real world?</a:t>
            </a:r>
          </a:p>
          <a:p>
            <a:r>
              <a:rPr lang="en-US" dirty="0"/>
              <a:t>Now imagine a company with a large codebase and its own internal APIs, and developers using an AI coding assistant. Today, when that assistant writes a call to one of those APIs, the developer has to either trust it or check it by hand. Put a checker like ours between the assistant and the developer. It reads the company's own API specifications, frozen and versioned, and checks every claim in the code against them. The developer then sees one of three things: verified code, code with a warning, or code held back with the reason.</a:t>
            </a:r>
          </a:p>
          <a:p>
            <a:r>
              <a:rPr lang="en-US" dirty="0"/>
              <a:t>This fits for three reasons. The task is specialised: one codebase with known contracts, not the whole internet. It stays current, because when a contract changes you update the checker's evidence, not the model. And it is cheap to run: about one cent of local electricity per prompt in our tests, though the real price is time, about six times longer.</a:t>
            </a:r>
          </a:p>
          <a:p>
            <a:r>
              <a:rPr lang="en-US" dirty="0"/>
              <a:t>To be clear, this is a sketch of an application, not something we tested. Our evidence covers one model and six public APIs.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might be thinking: what about application? How can we apply this in the real world?</a:t>
            </a:r>
          </a:p>
          <a:p>
            <a:r>
              <a:rPr lang="en-US" dirty="0"/>
              <a:t>Now imagine a company with a large codebase and its own internal APIs, and developers using an AI coding assistant. Today, when that assistant writes a call to one of those APIs, the developer has to either trust it or check it by hand. Put a checker like ours between the assistant and the developer. It reads the company's own API specifications, frozen and versioned, and checks every claim in the code against them. The developer then sees one of three things: verified code, code with a warning, or code held back with the reason.</a:t>
            </a:r>
          </a:p>
          <a:p>
            <a:r>
              <a:rPr lang="en-US" dirty="0"/>
              <a:t>This fits for three reasons. The task is specialised: one codebase with known contracts, not the whole internet. It stays current, because when a contract changes you update the checker's evidence, not the model. And it is cheap to run: about one cent of local electricity per prompt in our tests, though the real price is time, about six times longer.</a:t>
            </a:r>
          </a:p>
          <a:p>
            <a:r>
              <a:rPr lang="en-US" dirty="0"/>
              <a:t>To be clear, this is a sketch of an application, not something we tested. Our evidence covers one model and six public APIs.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yes, a Confident Agent built this way stops most API hallucinations from reaching the user, from over half of tasks to about 2 percent.</a:t>
            </a:r>
          </a:p>
          <a:p>
            <a:r>
              <a:rPr lang="en-US" dirty="0"/>
              <a:t>We also found why the baseline fails. Most of its hallucinations, 83 percent, were retired or invented API versions: the model repeats the hosts and versions that dominate its training data, and makes up version numbers it has never seen. A model's training is a snapshot, and nothing in its weights records that an API has since moved, so the fix has to come from outside the model. Current coding agents do add outside help, for example by reading up-to-date documentation, but we did not test a baseline with retrieval, so we cannot say how much of the gap that closes.</a:t>
            </a:r>
          </a:p>
          <a:p>
            <a:r>
              <a:rPr lang="en-US" dirty="0"/>
              <a:t>Our agent is safe rather than always useful, it costs time, and passing verification is not the same as doing the task. A Confident Agent is not one that is always correct; it is one that knows when it should not be trusted. Our agent earns that trust through explicit rules in its architecture, not through the model's own judgement.</a:t>
            </a:r>
          </a:p>
          <a:p>
            <a:r>
              <a:rPr lang="en-US" dirty="0"/>
              <a:t>Thank you for watching. (Jawad End)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400" b="1" dirty="0">
                <a:solidFill>
                  <a:srgbClr val="F2F5FA"/>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kern="0" spc="200" dirty="0">
                <a:solidFill>
                  <a:srgbClr val="9FB2CC"/>
                </a:solidFill>
                <a:latin typeface="Calibri" pitchFamily="34" charset="0"/>
                <a:ea typeface="Calibri" pitchFamily="34" charset="-122"/>
                <a:cs typeface="Calibri" pitchFamily="34" charset="-120"/>
              </a:rPr>
              <a:t>THE SKEPTICS  ·  COMP301  ·  CONFIDENT AGENT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0D1B2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3.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chart" Target="../charts/chart11.xml"/></Relationships>
</file>

<file path=ppt/slides/_rels/slide2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Network of glowing nodes"/>
          <p:cNvPicPr>
            <a:picLocks noChangeAspect="1"/>
          </p:cNvPicPr>
          <p:nvPr/>
        </p:nvPicPr>
        <p:blipFill>
          <a:blip r:embed="rId5"/>
          <a:stretch>
            <a:fillRect/>
          </a:stretch>
        </p:blipFill>
        <p:spPr>
          <a:xfrm>
            <a:off x="7132320" y="0"/>
            <a:ext cx="5059375" cy="6858000"/>
          </a:xfrm>
          <a:prstGeom prst="rect">
            <a:avLst/>
          </a:prstGeom>
        </p:spPr>
      </p:pic>
      <p:sp>
        <p:nvSpPr>
          <p:cNvPr id="4" name="Cut"/>
          <p:cNvSpPr/>
          <p:nvPr/>
        </p:nvSpPr>
        <p:spPr>
          <a:xfrm>
            <a:off x="7132320" y="0"/>
            <a:ext cx="2011680" cy="6858000"/>
          </a:xfrm>
          <a:prstGeom prst="rtTriangle">
            <a:avLst/>
          </a:prstGeom>
          <a:solidFill>
            <a:srgbClr val="0D1B2E"/>
          </a:solidFill>
          <a:ln w="12700">
            <a:solidFill>
              <a:srgbClr val="0D1B2E"/>
            </a:solidFill>
            <a:prstDash val="solid"/>
          </a:ln>
        </p:spPr>
        <p:txBody>
          <a:bodyPr/>
          <a:lstStyle/>
          <a:p>
            <a:endParaRPr lang="en-GB"/>
          </a:p>
        </p:txBody>
      </p:sp>
      <p:sp>
        <p:nvSpPr>
          <p:cNvPr id="5" name="Text 1"/>
          <p:cNvSpPr txBox="1"/>
          <p:nvPr/>
        </p:nvSpPr>
        <p:spPr>
          <a:xfrm>
            <a:off x="731520" y="731520"/>
            <a:ext cx="5943600" cy="365760"/>
          </a:xfrm>
          <a:prstGeom prst="rect">
            <a:avLst/>
          </a:prstGeom>
          <a:noFill/>
          <a:ln/>
        </p:spPr>
        <p:txBody>
          <a:bodyPr wrap="square" lIns="0" tIns="0" rIns="0" bIns="0" rtlCol="0" anchor="t"/>
          <a:lstStyle/>
          <a:p>
            <a:pPr marL="0" indent="0">
              <a:buNone/>
            </a:pPr>
            <a:r>
              <a:rPr lang="en-US" sz="1400" b="1" kern="0" spc="300" dirty="0">
                <a:solidFill>
                  <a:srgbClr val="F7E23B"/>
                </a:solidFill>
                <a:latin typeface="Calibri" pitchFamily="34" charset="0"/>
                <a:ea typeface="Calibri" pitchFamily="34" charset="-122"/>
                <a:cs typeface="Calibri" pitchFamily="34" charset="-120"/>
              </a:rPr>
              <a:t>COMP301  ·  SOFTWARE DESIGN</a:t>
            </a:r>
            <a:endParaRPr lang="en-US" sz="1400" dirty="0"/>
          </a:p>
        </p:txBody>
      </p:sp>
      <p:sp>
        <p:nvSpPr>
          <p:cNvPr id="6" name="Text 2"/>
          <p:cNvSpPr txBox="1"/>
          <p:nvPr/>
        </p:nvSpPr>
        <p:spPr>
          <a:xfrm>
            <a:off x="731520" y="1371600"/>
            <a:ext cx="6400800" cy="1097280"/>
          </a:xfrm>
          <a:prstGeom prst="rect">
            <a:avLst/>
          </a:prstGeom>
          <a:noFill/>
          <a:ln/>
        </p:spPr>
        <p:txBody>
          <a:bodyPr wrap="square" lIns="0" tIns="0" rIns="0" bIns="0" rtlCol="0" anchor="t"/>
          <a:lstStyle/>
          <a:p>
            <a:pPr marL="0" indent="0">
              <a:buNone/>
            </a:pPr>
            <a:r>
              <a:rPr lang="en-US" sz="5800" b="1" dirty="0">
                <a:solidFill>
                  <a:srgbClr val="FFFFFF"/>
                </a:solidFill>
                <a:latin typeface="Cambria" pitchFamily="34" charset="0"/>
                <a:ea typeface="Cambria" pitchFamily="34" charset="-122"/>
                <a:cs typeface="Cambria" pitchFamily="34" charset="-120"/>
              </a:rPr>
              <a:t>The Skeptics</a:t>
            </a:r>
            <a:endParaRPr lang="en-US" sz="5800" dirty="0"/>
          </a:p>
        </p:txBody>
      </p:sp>
      <p:sp>
        <p:nvSpPr>
          <p:cNvPr id="7" name="Text 3"/>
          <p:cNvSpPr txBox="1"/>
          <p:nvPr/>
        </p:nvSpPr>
        <p:spPr>
          <a:xfrm>
            <a:off x="731520" y="2651760"/>
            <a:ext cx="6035040" cy="14630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Confident Agent</a:t>
            </a:r>
            <a:endParaRPr lang="en-US" sz="2400" dirty="0"/>
          </a:p>
          <a:p>
            <a:pPr marL="0" indent="0">
              <a:buNone/>
            </a:pPr>
            <a:r>
              <a:rPr lang="en-US" sz="2400" dirty="0">
                <a:solidFill>
                  <a:srgbClr val="C9D6E8"/>
                </a:solidFill>
                <a:latin typeface="Cambria" pitchFamily="34" charset="0"/>
                <a:ea typeface="Cambria" pitchFamily="34" charset="-122"/>
                <a:cs typeface="Cambria" pitchFamily="34" charset="-120"/>
              </a:rPr>
              <a:t>Static Verification of REST API Hallucinations in LLM-Generated Code</a:t>
            </a:r>
            <a:endParaRPr lang="en-US" sz="2400" dirty="0"/>
          </a:p>
        </p:txBody>
      </p:sp>
      <p:sp>
        <p:nvSpPr>
          <p:cNvPr id="8" name="Text 4"/>
          <p:cNvSpPr txBox="1"/>
          <p:nvPr/>
        </p:nvSpPr>
        <p:spPr>
          <a:xfrm>
            <a:off x="731520" y="4297680"/>
            <a:ext cx="5760720" cy="822960"/>
          </a:xfrm>
          <a:prstGeom prst="rect">
            <a:avLst/>
          </a:prstGeom>
          <a:noFill/>
          <a:ln/>
        </p:spPr>
        <p:txBody>
          <a:bodyPr wrap="square" lIns="0" tIns="0" rIns="0" bIns="0" rtlCol="0" anchor="t"/>
          <a:lstStyle/>
          <a:p>
            <a:pPr marL="0" indent="0">
              <a:buNone/>
            </a:pPr>
            <a:r>
              <a:rPr lang="en-US" sz="1600" i="1" dirty="0">
                <a:solidFill>
                  <a:srgbClr val="9FB2CC"/>
                </a:solidFill>
                <a:latin typeface="Calibri" pitchFamily="34" charset="0"/>
                <a:ea typeface="Calibri" pitchFamily="34" charset="-122"/>
                <a:cs typeface="Calibri" pitchFamily="34" charset="-120"/>
              </a:rPr>
              <a:t>A Confident Agent is not one that is always correct; it is one that knows when it should not be trusted.</a:t>
            </a:r>
            <a:endParaRPr lang="en-US" sz="1600" dirty="0"/>
          </a:p>
        </p:txBody>
      </p:sp>
      <p:sp>
        <p:nvSpPr>
          <p:cNvPr id="9" name="Text 5"/>
          <p:cNvSpPr txBox="1"/>
          <p:nvPr/>
        </p:nvSpPr>
        <p:spPr>
          <a:xfrm>
            <a:off x="731520" y="5440680"/>
            <a:ext cx="585216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Mahomed Valli Mahomed  ·  Jawad Kachbal  ·  Joshua Blom  ·  Andiswa Hlengwa  ·  Abiel Govender</a:t>
            </a:r>
            <a:endParaRPr lang="en-US" sz="1400" dirty="0"/>
          </a:p>
        </p:txBody>
      </p:sp>
      <p:sp>
        <p:nvSpPr>
          <p:cNvPr id="10" name="Text 6"/>
          <p:cNvSpPr txBox="1"/>
          <p:nvPr/>
        </p:nvSpPr>
        <p:spPr>
          <a:xfrm>
            <a:off x="731520" y="6217920"/>
            <a:ext cx="5486400" cy="3200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University of KwaZulu-Natal</a:t>
            </a:r>
            <a:endParaRPr lang="en-US" sz="1300" dirty="0"/>
          </a:p>
        </p:txBody>
      </p:sp>
      <p:pic>
        <p:nvPicPr>
          <p:cNvPr id="18" name="Audio 17">
            <a:hlinkClick r:id="" action="ppaction://media"/>
            <a:extLst>
              <a:ext uri="{FF2B5EF4-FFF2-40B4-BE49-F238E27FC236}">
                <a16:creationId xmlns:a16="http://schemas.microsoft.com/office/drawing/2014/main" id="{BCCFD664-1A44-C286-A931-5FC8A9B8CAC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859"/>
    </mc:Choice>
    <mc:Fallback xmlns="">
      <p:transition spd="slow" advTm="28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Code that looks right, and calls an API that isn't</a:t>
            </a:r>
            <a:endParaRPr lang="en-US" sz="3400" dirty="0"/>
          </a:p>
        </p:txBody>
      </p:sp>
      <p:sp>
        <p:nvSpPr>
          <p:cNvPr id="4" name="Card"/>
          <p:cNvSpPr/>
          <p:nvPr/>
        </p:nvSpPr>
        <p:spPr>
          <a:xfrm>
            <a:off x="548640" y="1508760"/>
            <a:ext cx="6766560" cy="4480560"/>
          </a:xfrm>
          <a:prstGeom prst="roundRect">
            <a:avLst>
              <a:gd name="adj" fmla="val 2449"/>
            </a:avLst>
          </a:prstGeom>
          <a:solidFill>
            <a:srgbClr val="07111F"/>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Dot"/>
          <p:cNvSpPr/>
          <p:nvPr/>
        </p:nvSpPr>
        <p:spPr>
          <a:xfrm>
            <a:off x="777240" y="1691640"/>
            <a:ext cx="164592" cy="164592"/>
          </a:xfrm>
          <a:prstGeom prst="ellipse">
            <a:avLst/>
          </a:prstGeom>
          <a:solidFill>
            <a:srgbClr val="FF5F57"/>
          </a:solidFill>
          <a:ln w="12700">
            <a:solidFill>
              <a:srgbClr val="FF5F57"/>
            </a:solidFill>
            <a:prstDash val="solid"/>
          </a:ln>
        </p:spPr>
        <p:txBody>
          <a:bodyPr/>
          <a:lstStyle/>
          <a:p>
            <a:endParaRPr lang="en-GB"/>
          </a:p>
        </p:txBody>
      </p:sp>
      <p:sp>
        <p:nvSpPr>
          <p:cNvPr id="6" name="Dot"/>
          <p:cNvSpPr/>
          <p:nvPr/>
        </p:nvSpPr>
        <p:spPr>
          <a:xfrm>
            <a:off x="1051560" y="1691640"/>
            <a:ext cx="164592" cy="164592"/>
          </a:xfrm>
          <a:prstGeom prst="ellipse">
            <a:avLst/>
          </a:prstGeom>
          <a:solidFill>
            <a:srgbClr val="FEBC2E"/>
          </a:solidFill>
          <a:ln w="12700">
            <a:solidFill>
              <a:srgbClr val="FEBC2E"/>
            </a:solidFill>
            <a:prstDash val="solid"/>
          </a:ln>
        </p:spPr>
        <p:txBody>
          <a:bodyPr/>
          <a:lstStyle/>
          <a:p>
            <a:endParaRPr lang="en-GB"/>
          </a:p>
        </p:txBody>
      </p:sp>
      <p:sp>
        <p:nvSpPr>
          <p:cNvPr id="7" name="Dot"/>
          <p:cNvSpPr/>
          <p:nvPr/>
        </p:nvSpPr>
        <p:spPr>
          <a:xfrm>
            <a:off x="1325880" y="1691640"/>
            <a:ext cx="164592" cy="164592"/>
          </a:xfrm>
          <a:prstGeom prst="ellipse">
            <a:avLst/>
          </a:prstGeom>
          <a:solidFill>
            <a:srgbClr val="28C840"/>
          </a:solidFill>
          <a:ln w="12700">
            <a:solidFill>
              <a:srgbClr val="28C840"/>
            </a:solidFill>
            <a:prstDash val="solid"/>
          </a:ln>
        </p:spPr>
        <p:txBody>
          <a:bodyPr/>
          <a:lstStyle/>
          <a:p>
            <a:endParaRPr lang="en-GB"/>
          </a:p>
        </p:txBody>
      </p:sp>
      <p:sp>
        <p:nvSpPr>
          <p:cNvPr id="8" name="Text 5"/>
          <p:cNvSpPr txBox="1"/>
          <p:nvPr/>
        </p:nvSpPr>
        <p:spPr>
          <a:xfrm>
            <a:off x="1828800" y="1627632"/>
            <a:ext cx="502920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solve.py  ·  model-generated (illustrative)</a:t>
            </a:r>
            <a:endParaRPr lang="en-US" sz="1200" dirty="0"/>
          </a:p>
        </p:txBody>
      </p:sp>
      <p:sp>
        <p:nvSpPr>
          <p:cNvPr id="9" name="Text 6"/>
          <p:cNvSpPr txBox="1"/>
          <p:nvPr/>
        </p:nvSpPr>
        <p:spPr>
          <a:xfrm>
            <a:off x="868680" y="2103120"/>
            <a:ext cx="6217920" cy="2926080"/>
          </a:xfrm>
          <a:prstGeom prst="rect">
            <a:avLst/>
          </a:prstGeom>
          <a:noFill/>
          <a:ln/>
        </p:spPr>
        <p:txBody>
          <a:bodyPr wrap="square" lIns="0" tIns="0" rIns="0" bIns="0" rtlCol="0" anchor="t"/>
          <a:lstStyle/>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import </a:t>
            </a:r>
            <a:r>
              <a:rPr lang="en-US" sz="1300" dirty="0">
                <a:solidFill>
                  <a:srgbClr val="E6ECF5"/>
                </a:solidFill>
                <a:latin typeface="Courier New" pitchFamily="34" charset="0"/>
                <a:ea typeface="Courier New" pitchFamily="34" charset="-122"/>
                <a:cs typeface="Courier New" pitchFamily="34" charset="-120"/>
              </a:rPr>
              <a:t>requests</a:t>
            </a:r>
            <a:endParaRPr lang="en-US" sz="1300" dirty="0"/>
          </a:p>
          <a:p>
            <a:pPr marL="0" indent="0">
              <a:spcAft>
                <a:spcPts val="600"/>
              </a:spcAft>
              <a:buNone/>
            </a:pPr>
            <a:r>
              <a:rPr lang="en-US" sz="1300" dirty="0">
                <a:solidFill>
                  <a:srgbClr val="F2F5FA"/>
                </a:solidFill>
                <a:latin typeface="Courier New" pitchFamily="34" charset="0"/>
                <a:ea typeface="Courier New" pitchFamily="34" charset="-122"/>
                <a:cs typeface="Courier New" pitchFamily="34" charset="-120"/>
              </a:rPr>
              <a:t> </a:t>
            </a:r>
            <a:endParaRPr lang="en-US" sz="1300" dirty="0"/>
          </a:p>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def </a:t>
            </a:r>
            <a:r>
              <a:rPr lang="en-US" sz="1300" dirty="0">
                <a:solidFill>
                  <a:srgbClr val="7FD0FF"/>
                </a:solidFill>
                <a:latin typeface="Courier New" pitchFamily="34" charset="0"/>
                <a:ea typeface="Courier New" pitchFamily="34" charset="-122"/>
                <a:cs typeface="Courier New" pitchFamily="34" charset="-120"/>
              </a:rPr>
              <a:t>solve</a:t>
            </a:r>
            <a:r>
              <a:rPr lang="en-US" sz="1300" dirty="0">
                <a:solidFill>
                  <a:srgbClr val="E6ECF5"/>
                </a:solidFill>
                <a:latin typeface="Courier New" pitchFamily="34" charset="0"/>
                <a:ea typeface="Courier New" pitchFamily="34" charset="-122"/>
                <a:cs typeface="Courier New" pitchFamily="34" charset="-120"/>
              </a:rPr>
              <a:t>(inputs):</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url = </a:t>
            </a:r>
            <a:r>
              <a:rPr lang="en-US" sz="1300" b="1" dirty="0">
                <a:solidFill>
                  <a:srgbClr val="FF8A7F"/>
                </a:solidFill>
                <a:latin typeface="Courier New" pitchFamily="34" charset="0"/>
                <a:ea typeface="Courier New" pitchFamily="34" charset="-122"/>
                <a:cs typeface="Courier New" pitchFamily="34" charset="-120"/>
              </a:rPr>
              <a:t>"https://petstore.swagger.io/v2/pet/findByStatus"</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r = requests.get(url,</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params={</a:t>
            </a:r>
            <a:r>
              <a:rPr lang="en-US" sz="1300" dirty="0">
                <a:solidFill>
                  <a:srgbClr val="FFD84D"/>
                </a:solidFill>
                <a:latin typeface="Courier New" pitchFamily="34" charset="0"/>
                <a:ea typeface="Courier New" pitchFamily="34" charset="-122"/>
                <a:cs typeface="Courier New" pitchFamily="34" charset="-120"/>
              </a:rPr>
              <a:t>"status"</a:t>
            </a:r>
            <a:r>
              <a:rPr lang="en-US" sz="1300" dirty="0">
                <a:solidFill>
                  <a:srgbClr val="E6ECF5"/>
                </a:solidFill>
                <a:latin typeface="Courier New" pitchFamily="34" charset="0"/>
                <a:ea typeface="Courier New" pitchFamily="34" charset="-122"/>
                <a:cs typeface="Courier New" pitchFamily="34" charset="-120"/>
              </a:rPr>
              <a:t>: </a:t>
            </a:r>
            <a:r>
              <a:rPr lang="en-US" sz="1300" dirty="0">
                <a:solidFill>
                  <a:srgbClr val="FFD84D"/>
                </a:solidFill>
                <a:latin typeface="Courier New" pitchFamily="34" charset="0"/>
                <a:ea typeface="Courier New" pitchFamily="34" charset="-122"/>
                <a:cs typeface="Courier New" pitchFamily="34" charset="-120"/>
              </a:rPr>
              <a:t>"available"</a:t>
            </a:r>
            <a:r>
              <a:rPr lang="en-US" sz="1300" dirty="0">
                <a:solidFill>
                  <a:srgbClr val="E6ECF5"/>
                </a:solidFill>
                <a:latin typeface="Courier New" pitchFamily="34" charset="0"/>
                <a:ea typeface="Courier New" pitchFamily="34" charset="-122"/>
                <a:cs typeface="Courier New" pitchFamily="34" charset="-120"/>
              </a:rPr>
              <a:t>})</a:t>
            </a:r>
            <a:endParaRPr lang="en-US" sz="1300" dirty="0"/>
          </a:p>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    return </a:t>
            </a:r>
            <a:r>
              <a:rPr lang="en-US" sz="1300" dirty="0">
                <a:solidFill>
                  <a:srgbClr val="E6ECF5"/>
                </a:solidFill>
                <a:latin typeface="Courier New" pitchFamily="34" charset="0"/>
                <a:ea typeface="Courier New" pitchFamily="34" charset="-122"/>
                <a:cs typeface="Courier New" pitchFamily="34" charset="-120"/>
              </a:rPr>
              <a:t>r.json()</a:t>
            </a:r>
            <a:endParaRPr lang="en-US" sz="1300" dirty="0"/>
          </a:p>
        </p:txBody>
      </p:sp>
      <p:sp>
        <p:nvSpPr>
          <p:cNvPr id="10" name="Warning"/>
          <p:cNvSpPr/>
          <p:nvPr/>
        </p:nvSpPr>
        <p:spPr>
          <a:xfrm>
            <a:off x="868680" y="5029200"/>
            <a:ext cx="6126480" cy="640080"/>
          </a:xfrm>
          <a:prstGeom prst="roundRect">
            <a:avLst>
              <a:gd name="adj" fmla="val 14286"/>
            </a:avLst>
          </a:prstGeom>
          <a:solidFill>
            <a:srgbClr val="FF5A4F">
              <a:alpha val="18000"/>
            </a:srgbClr>
          </a:solidFill>
          <a:ln w="12700">
            <a:solidFill>
              <a:srgbClr val="FF5A4F"/>
            </a:solidFill>
            <a:prstDash val="solid"/>
          </a:ln>
        </p:spPr>
        <p:txBody>
          <a:bodyPr/>
          <a:lstStyle/>
          <a:p>
            <a:endParaRPr lang="en-GB"/>
          </a:p>
        </p:txBody>
      </p:sp>
      <p:sp>
        <p:nvSpPr>
          <p:cNvPr id="11" name="Text 8"/>
          <p:cNvSpPr txBox="1"/>
          <p:nvPr/>
        </p:nvSpPr>
        <p:spPr>
          <a:xfrm>
            <a:off x="1051560" y="5029200"/>
            <a:ext cx="5852160" cy="640080"/>
          </a:xfrm>
          <a:prstGeom prst="rect">
            <a:avLst/>
          </a:prstGeom>
          <a:noFill/>
          <a:ln/>
        </p:spPr>
        <p:txBody>
          <a:bodyPr wrap="square" lIns="0" tIns="0" rIns="0" bIns="0" rtlCol="0" anchor="ctr"/>
          <a:lstStyle/>
          <a:p>
            <a:pPr marL="0" indent="0">
              <a:buNone/>
            </a:pPr>
            <a:r>
              <a:rPr lang="en-US" sz="1600" b="1" dirty="0">
                <a:solidFill>
                  <a:srgbClr val="FF5A4F"/>
                </a:solidFill>
                <a:latin typeface="Calibri" pitchFamily="34" charset="0"/>
                <a:ea typeface="Calibri" pitchFamily="34" charset="-122"/>
                <a:cs typeface="Calibri" pitchFamily="34" charset="-120"/>
              </a:rPr>
              <a:t>No exception. Looks professional. Fails in production.</a:t>
            </a:r>
            <a:endParaRPr lang="en-US" sz="1600" dirty="0"/>
          </a:p>
        </p:txBody>
      </p:sp>
      <p:sp>
        <p:nvSpPr>
          <p:cNvPr id="12" name="Card"/>
          <p:cNvSpPr/>
          <p:nvPr/>
        </p:nvSpPr>
        <p:spPr>
          <a:xfrm>
            <a:off x="7680960" y="150876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IconCircle"/>
          <p:cNvSpPr/>
          <p:nvPr/>
        </p:nvSpPr>
        <p:spPr>
          <a:xfrm>
            <a:off x="7863840" y="1645920"/>
            <a:ext cx="731520" cy="73152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4" name="Image 0" descr="icon"/>
          <p:cNvPicPr>
            <a:picLocks noChangeAspect="1"/>
          </p:cNvPicPr>
          <p:nvPr/>
        </p:nvPicPr>
        <p:blipFill>
          <a:blip r:embed="rId3"/>
          <a:stretch>
            <a:fillRect/>
          </a:stretch>
        </p:blipFill>
        <p:spPr>
          <a:xfrm>
            <a:off x="8068666" y="1850746"/>
            <a:ext cx="321869" cy="321869"/>
          </a:xfrm>
          <a:prstGeom prst="rect">
            <a:avLst/>
          </a:prstGeom>
        </p:spPr>
      </p:pic>
      <p:sp>
        <p:nvSpPr>
          <p:cNvPr id="15" name="Text 11"/>
          <p:cNvSpPr txBox="1"/>
          <p:nvPr/>
        </p:nvSpPr>
        <p:spPr>
          <a:xfrm>
            <a:off x="8778240" y="150876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renamed endpoint</a:t>
            </a:r>
            <a:endParaRPr lang="en-US" sz="1800" dirty="0"/>
          </a:p>
        </p:txBody>
      </p:sp>
      <p:sp>
        <p:nvSpPr>
          <p:cNvPr id="16" name="Card"/>
          <p:cNvSpPr/>
          <p:nvPr/>
        </p:nvSpPr>
        <p:spPr>
          <a:xfrm>
            <a:off x="7680960" y="269748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7" name="IconCircle"/>
          <p:cNvSpPr/>
          <p:nvPr/>
        </p:nvSpPr>
        <p:spPr>
          <a:xfrm>
            <a:off x="7863840" y="2834640"/>
            <a:ext cx="731520" cy="731520"/>
          </a:xfrm>
          <a:prstGeom prst="ellipse">
            <a:avLst/>
          </a:prstGeom>
          <a:solidFill>
            <a:srgbClr val="FF5A4F">
              <a:alpha val="20000"/>
            </a:srgbClr>
          </a:solidFill>
          <a:ln w="15875">
            <a:solidFill>
              <a:srgbClr val="FF5A4F"/>
            </a:solidFill>
            <a:prstDash val="solid"/>
          </a:ln>
        </p:spPr>
        <p:txBody>
          <a:bodyPr/>
          <a:lstStyle/>
          <a:p>
            <a:endParaRPr lang="en-GB"/>
          </a:p>
        </p:txBody>
      </p:sp>
      <p:pic>
        <p:nvPicPr>
          <p:cNvPr id="18" name="Image 1" descr="icon"/>
          <p:cNvPicPr>
            <a:picLocks noChangeAspect="1"/>
          </p:cNvPicPr>
          <p:nvPr/>
        </p:nvPicPr>
        <p:blipFill>
          <a:blip r:embed="rId4"/>
          <a:stretch>
            <a:fillRect/>
          </a:stretch>
        </p:blipFill>
        <p:spPr>
          <a:xfrm>
            <a:off x="8068666" y="3039466"/>
            <a:ext cx="321869" cy="321869"/>
          </a:xfrm>
          <a:prstGeom prst="rect">
            <a:avLst/>
          </a:prstGeom>
        </p:spPr>
      </p:pic>
      <p:sp>
        <p:nvSpPr>
          <p:cNvPr id="19" name="Text 14"/>
          <p:cNvSpPr txBox="1"/>
          <p:nvPr/>
        </p:nvSpPr>
        <p:spPr>
          <a:xfrm>
            <a:off x="8778240" y="269748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retired host</a:t>
            </a:r>
            <a:endParaRPr lang="en-US" sz="1800" dirty="0"/>
          </a:p>
        </p:txBody>
      </p:sp>
      <p:sp>
        <p:nvSpPr>
          <p:cNvPr id="20" name="Card"/>
          <p:cNvSpPr/>
          <p:nvPr/>
        </p:nvSpPr>
        <p:spPr>
          <a:xfrm>
            <a:off x="7680960" y="388620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1" name="IconCircle"/>
          <p:cNvSpPr/>
          <p:nvPr/>
        </p:nvSpPr>
        <p:spPr>
          <a:xfrm>
            <a:off x="7863840" y="4023360"/>
            <a:ext cx="731520" cy="73152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22" name="Image 2" descr="icon"/>
          <p:cNvPicPr>
            <a:picLocks noChangeAspect="1"/>
          </p:cNvPicPr>
          <p:nvPr/>
        </p:nvPicPr>
        <p:blipFill>
          <a:blip r:embed="rId5"/>
          <a:stretch>
            <a:fillRect/>
          </a:stretch>
        </p:blipFill>
        <p:spPr>
          <a:xfrm>
            <a:off x="8068666" y="4228186"/>
            <a:ext cx="321869" cy="321869"/>
          </a:xfrm>
          <a:prstGeom prst="rect">
            <a:avLst/>
          </a:prstGeom>
        </p:spPr>
      </p:pic>
      <p:sp>
        <p:nvSpPr>
          <p:cNvPr id="23" name="Text 17"/>
          <p:cNvSpPr txBox="1"/>
          <p:nvPr/>
        </p:nvSpPr>
        <p:spPr>
          <a:xfrm>
            <a:off x="8778240" y="388620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parameter that never existed</a:t>
            </a:r>
            <a:endParaRPr lang="en-US" sz="1800" dirty="0"/>
          </a:p>
        </p:txBody>
      </p:sp>
      <p:sp>
        <p:nvSpPr>
          <p:cNvPr id="24" name="Text 18"/>
          <p:cNvSpPr txBox="1"/>
          <p:nvPr/>
        </p:nvSpPr>
        <p:spPr>
          <a:xfrm>
            <a:off x="7680960" y="5074920"/>
            <a:ext cx="3977640" cy="118872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Every claim can be checked against a machine-readable contract (OpenAPI). The frozen benchmark expects the OpenAPI 3 service at petstore3.swagger.io/api/v3.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research question</a:t>
            </a:r>
            <a:endParaRPr lang="en-US" sz="3400" dirty="0"/>
          </a:p>
        </p:txBody>
      </p:sp>
      <p:sp>
        <p:nvSpPr>
          <p:cNvPr id="4" name="Card"/>
          <p:cNvSpPr/>
          <p:nvPr/>
        </p:nvSpPr>
        <p:spPr>
          <a:xfrm>
            <a:off x="548640" y="1508760"/>
            <a:ext cx="11064240" cy="3840480"/>
          </a:xfrm>
          <a:prstGeom prst="roundRect">
            <a:avLst>
              <a:gd name="adj" fmla="val 2857"/>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pic>
        <p:nvPicPr>
          <p:cNvPr id="5" name="Image 0" descr="question mark icon"/>
          <p:cNvPicPr>
            <a:picLocks noChangeAspect="1"/>
          </p:cNvPicPr>
          <p:nvPr/>
        </p:nvPicPr>
        <p:blipFill>
          <a:blip r:embed="rId3"/>
          <a:stretch>
            <a:fillRect/>
          </a:stretch>
        </p:blipFill>
        <p:spPr>
          <a:xfrm>
            <a:off x="868680" y="1783080"/>
            <a:ext cx="640080" cy="640080"/>
          </a:xfrm>
          <a:prstGeom prst="rect">
            <a:avLst/>
          </a:prstGeom>
        </p:spPr>
      </p:pic>
      <p:sp>
        <p:nvSpPr>
          <p:cNvPr id="6" name="Text 2"/>
          <p:cNvSpPr txBox="1"/>
          <p:nvPr/>
        </p:nvSpPr>
        <p:spPr>
          <a:xfrm>
            <a:off x="1737360" y="1783080"/>
            <a:ext cx="9509760" cy="3383280"/>
          </a:xfrm>
          <a:prstGeom prst="rect">
            <a:avLst/>
          </a:prstGeom>
          <a:noFill/>
          <a:ln/>
        </p:spPr>
        <p:txBody>
          <a:bodyPr wrap="square" lIns="0" tIns="0" rIns="0" bIns="0" rtlCol="0" anchor="ctr"/>
          <a:lstStyle/>
          <a:p>
            <a:pPr marL="0" indent="0">
              <a:buNone/>
            </a:pPr>
            <a:r>
              <a:rPr lang="en-US" sz="2700" dirty="0">
                <a:solidFill>
                  <a:srgbClr val="F2F5FA"/>
                </a:solidFill>
                <a:latin typeface="Cambria" pitchFamily="34" charset="0"/>
                <a:ea typeface="Cambria" pitchFamily="34" charset="-122"/>
                <a:cs typeface="Cambria" pitchFamily="34" charset="-120"/>
              </a:rPr>
              <a:t>Can a code-generation agent that </a:t>
            </a:r>
            <a:r>
              <a:rPr lang="en-US" sz="2700" b="1" dirty="0">
                <a:solidFill>
                  <a:srgbClr val="8FC1FF"/>
                </a:solidFill>
                <a:latin typeface="Cambria" pitchFamily="34" charset="0"/>
                <a:ea typeface="Cambria" pitchFamily="34" charset="-122"/>
                <a:cs typeface="Cambria" pitchFamily="34" charset="-120"/>
              </a:rPr>
              <a:t>verifies the API claims in its own code</a:t>
            </a:r>
            <a:r>
              <a:rPr lang="en-US" sz="2700" dirty="0">
                <a:solidFill>
                  <a:srgbClr val="F2F5FA"/>
                </a:solidFill>
                <a:latin typeface="Cambria" pitchFamily="34" charset="0"/>
                <a:ea typeface="Cambria" pitchFamily="34" charset="-122"/>
                <a:cs typeface="Cambria" pitchFamily="34" charset="-120"/>
              </a:rPr>
              <a:t>, against </a:t>
            </a:r>
            <a:r>
              <a:rPr lang="en-US" sz="2700" b="1" dirty="0">
                <a:solidFill>
                  <a:srgbClr val="8FC1FF"/>
                </a:solidFill>
                <a:latin typeface="Cambria" pitchFamily="34" charset="0"/>
                <a:ea typeface="Cambria" pitchFamily="34" charset="-122"/>
                <a:cs typeface="Cambria" pitchFamily="34" charset="-120"/>
              </a:rPr>
              <a:t>frozen, authoritative specifications</a:t>
            </a:r>
            <a:r>
              <a:rPr lang="en-US" sz="2700" dirty="0">
                <a:solidFill>
                  <a:srgbClr val="F2F5FA"/>
                </a:solidFill>
                <a:latin typeface="Cambria" pitchFamily="34" charset="0"/>
                <a:ea typeface="Cambria" pitchFamily="34" charset="-122"/>
                <a:cs typeface="Cambria" pitchFamily="34" charset="-120"/>
              </a:rPr>
              <a:t>, reduce the hallucinations that reach the user compared with the same model without verification, while </a:t>
            </a:r>
            <a:r>
              <a:rPr lang="en-US" sz="2700" b="1" dirty="0">
                <a:solidFill>
                  <a:srgbClr val="3D95E8"/>
                </a:solidFill>
                <a:latin typeface="Cambria" pitchFamily="34" charset="0"/>
                <a:ea typeface="Cambria" pitchFamily="34" charset="-122"/>
                <a:cs typeface="Cambria" pitchFamily="34" charset="-120"/>
              </a:rPr>
              <a:t>abstaining when verification is inconclusive</a:t>
            </a:r>
            <a:r>
              <a:rPr lang="en-US" sz="2700" dirty="0">
                <a:solidFill>
                  <a:srgbClr val="F2F5FA"/>
                </a:solidFill>
                <a:latin typeface="Cambria" pitchFamily="34" charset="0"/>
                <a:ea typeface="Cambria" pitchFamily="34" charset="-122"/>
                <a:cs typeface="Cambria" pitchFamily="34" charset="-120"/>
              </a:rPr>
              <a:t>, and at what </a:t>
            </a:r>
            <a:r>
              <a:rPr lang="en-US" sz="2700" b="1" dirty="0">
                <a:solidFill>
                  <a:srgbClr val="F7E23B"/>
                </a:solidFill>
                <a:latin typeface="Cambria" pitchFamily="34" charset="0"/>
                <a:ea typeface="Cambria" pitchFamily="34" charset="-122"/>
                <a:cs typeface="Cambria" pitchFamily="34" charset="-120"/>
              </a:rPr>
              <a:t>cost</a:t>
            </a:r>
            <a:r>
              <a:rPr lang="en-US" sz="2700" dirty="0">
                <a:solidFill>
                  <a:srgbClr val="F2F5FA"/>
                </a:solidFill>
                <a:latin typeface="Cambria" pitchFamily="34" charset="0"/>
                <a:ea typeface="Cambria" pitchFamily="34" charset="-122"/>
                <a:cs typeface="Cambria" pitchFamily="34" charset="-120"/>
              </a:rPr>
              <a:t>?</a:t>
            </a:r>
            <a:endParaRPr lang="en-US" sz="2700" dirty="0"/>
          </a:p>
        </p:txBody>
      </p:sp>
      <p:sp>
        <p:nvSpPr>
          <p:cNvPr id="7" name="Text 3"/>
          <p:cNvSpPr txBox="1"/>
          <p:nvPr/>
        </p:nvSpPr>
        <p:spPr>
          <a:xfrm>
            <a:off x="548640" y="5577840"/>
            <a:ext cx="11064240" cy="548640"/>
          </a:xfrm>
          <a:prstGeom prst="rect">
            <a:avLst/>
          </a:prstGeom>
          <a:noFill/>
          <a:ln/>
        </p:spPr>
        <p:txBody>
          <a:bodyPr wrap="square" lIns="0" tIns="0" rIns="0" bIns="0" rtlCol="0" anchor="t"/>
          <a:lstStyle/>
          <a:p>
            <a:pPr marL="0" indent="0">
              <a:buNone/>
            </a:pPr>
            <a:r>
              <a:rPr lang="en-US" sz="1800" i="1" dirty="0">
                <a:solidFill>
                  <a:srgbClr val="9FB2CC"/>
                </a:solidFill>
                <a:latin typeface="Calibri" pitchFamily="34" charset="0"/>
                <a:ea typeface="Calibri" pitchFamily="34" charset="-122"/>
                <a:cs typeface="Calibri" pitchFamily="34" charset="-120"/>
              </a:rPr>
              <a:t>We did not try to stop the model hallucinating. We tried to stop hallucinations reaching the user.</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Four hypotheses, fixed before the main runs</a:t>
            </a:r>
            <a:endParaRPr lang="en-US" sz="3400" dirty="0"/>
          </a:p>
        </p:txBody>
      </p:sp>
      <p:sp>
        <p:nvSpPr>
          <p:cNvPr id="4" name="Card"/>
          <p:cNvSpPr/>
          <p:nvPr/>
        </p:nvSpPr>
        <p:spPr>
          <a:xfrm>
            <a:off x="548640" y="1508760"/>
            <a:ext cx="2606040" cy="3383280"/>
          </a:xfrm>
          <a:prstGeom prst="roundRect">
            <a:avLst>
              <a:gd name="adj" fmla="val 421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91640"/>
            <a:ext cx="1463040" cy="822960"/>
          </a:xfrm>
          <a:prstGeom prst="rect">
            <a:avLst/>
          </a:prstGeom>
          <a:noFill/>
          <a:ln/>
        </p:spPr>
        <p:txBody>
          <a:bodyPr wrap="square" lIns="0" tIns="0" rIns="0" bIns="0" rtlCol="0" anchor="t"/>
          <a:lstStyle/>
          <a:p>
            <a:pPr marL="0" indent="0">
              <a:buNone/>
            </a:pPr>
            <a:r>
              <a:rPr lang="en-US" sz="4800" b="1" dirty="0">
                <a:solidFill>
                  <a:srgbClr val="8FC1FF"/>
                </a:solidFill>
                <a:latin typeface="Cambria" pitchFamily="34" charset="0"/>
                <a:ea typeface="Cambria" pitchFamily="34" charset="-122"/>
                <a:cs typeface="Cambria" pitchFamily="34" charset="-120"/>
              </a:rPr>
              <a:t>H1</a:t>
            </a:r>
            <a:endParaRPr lang="en-US" sz="4800" dirty="0"/>
          </a:p>
        </p:txBody>
      </p:sp>
      <p:sp>
        <p:nvSpPr>
          <p:cNvPr id="6" name="Badge"/>
          <p:cNvSpPr/>
          <p:nvPr/>
        </p:nvSpPr>
        <p:spPr>
          <a:xfrm>
            <a:off x="1920240" y="1874520"/>
            <a:ext cx="1005840" cy="320040"/>
          </a:xfrm>
          <a:prstGeom prst="roundRect">
            <a:avLst>
              <a:gd name="adj" fmla="val 48571"/>
            </a:avLst>
          </a:prstGeom>
          <a:solidFill>
            <a:srgbClr val="8FC1FF">
              <a:alpha val="20000"/>
            </a:srgbClr>
          </a:solidFill>
          <a:ln w="12700">
            <a:solidFill>
              <a:srgbClr val="8FC1FF"/>
            </a:solidFill>
            <a:prstDash val="solid"/>
          </a:ln>
        </p:spPr>
        <p:txBody>
          <a:bodyPr/>
          <a:lstStyle/>
          <a:p>
            <a:endParaRPr lang="en-GB"/>
          </a:p>
        </p:txBody>
      </p:sp>
      <p:sp>
        <p:nvSpPr>
          <p:cNvPr id="7" name="Text 4"/>
          <p:cNvSpPr txBox="1"/>
          <p:nvPr/>
        </p:nvSpPr>
        <p:spPr>
          <a:xfrm>
            <a:off x="1920240" y="1874520"/>
            <a:ext cx="1005840" cy="320040"/>
          </a:xfrm>
          <a:prstGeom prst="rect">
            <a:avLst/>
          </a:prstGeom>
          <a:noFill/>
          <a:ln/>
        </p:spPr>
        <p:txBody>
          <a:bodyPr wrap="square" lIns="0" tIns="0" rIns="0" bIns="0" rtlCol="0" anchor="ctr"/>
          <a:lstStyle/>
          <a:p>
            <a:pPr marL="0" indent="0" algn="ctr">
              <a:buNone/>
            </a:pPr>
            <a:r>
              <a:rPr lang="en-US" sz="1100" b="1" dirty="0">
                <a:solidFill>
                  <a:srgbClr val="8FC1FF"/>
                </a:solidFill>
                <a:latin typeface="Calibri" pitchFamily="34" charset="0"/>
                <a:ea typeface="Calibri" pitchFamily="34" charset="-122"/>
                <a:cs typeface="Calibri" pitchFamily="34" charset="-120"/>
              </a:rPr>
              <a:t>PRIMARY</a:t>
            </a:r>
            <a:endParaRPr lang="en-US" sz="1100" dirty="0"/>
          </a:p>
        </p:txBody>
      </p:sp>
      <p:sp>
        <p:nvSpPr>
          <p:cNvPr id="8" name="Text 5"/>
          <p:cNvSpPr txBox="1"/>
          <p:nvPr/>
        </p:nvSpPr>
        <p:spPr>
          <a:xfrm>
            <a:off x="82296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Fewer hallucinations reach the user</a:t>
            </a:r>
            <a:endParaRPr lang="en-US" sz="1800" dirty="0"/>
          </a:p>
        </p:txBody>
      </p:sp>
      <p:pic>
        <p:nvPicPr>
          <p:cNvPr id="9" name="Image 0" descr="icon"/>
          <p:cNvPicPr>
            <a:picLocks noChangeAspect="1"/>
          </p:cNvPicPr>
          <p:nvPr/>
        </p:nvPicPr>
        <p:blipFill>
          <a:blip r:embed="rId3"/>
          <a:stretch>
            <a:fillRect/>
          </a:stretch>
        </p:blipFill>
        <p:spPr>
          <a:xfrm>
            <a:off x="822960" y="4160520"/>
            <a:ext cx="502920" cy="502920"/>
          </a:xfrm>
          <a:prstGeom prst="rect">
            <a:avLst/>
          </a:prstGeom>
        </p:spPr>
      </p:pic>
      <p:sp>
        <p:nvSpPr>
          <p:cNvPr id="10" name="Card"/>
          <p:cNvSpPr/>
          <p:nvPr/>
        </p:nvSpPr>
        <p:spPr>
          <a:xfrm>
            <a:off x="3383280" y="1508760"/>
            <a:ext cx="2606040" cy="3383280"/>
          </a:xfrm>
          <a:prstGeom prst="roundRect">
            <a:avLst>
              <a:gd name="adj" fmla="val 421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7"/>
          <p:cNvSpPr txBox="1"/>
          <p:nvPr/>
        </p:nvSpPr>
        <p:spPr>
          <a:xfrm>
            <a:off x="3657600" y="1691640"/>
            <a:ext cx="1463040" cy="822960"/>
          </a:xfrm>
          <a:prstGeom prst="rect">
            <a:avLst/>
          </a:prstGeom>
          <a:noFill/>
          <a:ln/>
        </p:spPr>
        <p:txBody>
          <a:bodyPr wrap="square" lIns="0" tIns="0" rIns="0" bIns="0" rtlCol="0" anchor="t"/>
          <a:lstStyle/>
          <a:p>
            <a:pPr marL="0" indent="0">
              <a:buNone/>
            </a:pPr>
            <a:r>
              <a:rPr lang="en-US" sz="4800" b="1" dirty="0">
                <a:solidFill>
                  <a:srgbClr val="3D95E8"/>
                </a:solidFill>
                <a:latin typeface="Cambria" pitchFamily="34" charset="0"/>
                <a:ea typeface="Cambria" pitchFamily="34" charset="-122"/>
                <a:cs typeface="Cambria" pitchFamily="34" charset="-120"/>
              </a:rPr>
              <a:t>H2</a:t>
            </a:r>
            <a:endParaRPr lang="en-US" sz="4800" dirty="0"/>
          </a:p>
        </p:txBody>
      </p:sp>
      <p:sp>
        <p:nvSpPr>
          <p:cNvPr id="12" name="Text 8"/>
          <p:cNvSpPr txBox="1"/>
          <p:nvPr/>
        </p:nvSpPr>
        <p:spPr>
          <a:xfrm>
            <a:off x="365760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Correct code does not drop. Refusing everything is useless</a:t>
            </a:r>
            <a:endParaRPr lang="en-US" sz="1800" dirty="0"/>
          </a:p>
        </p:txBody>
      </p:sp>
      <p:pic>
        <p:nvPicPr>
          <p:cNvPr id="13" name="Image 1" descr="icon"/>
          <p:cNvPicPr>
            <a:picLocks noChangeAspect="1"/>
          </p:cNvPicPr>
          <p:nvPr/>
        </p:nvPicPr>
        <p:blipFill>
          <a:blip r:embed="rId4"/>
          <a:stretch>
            <a:fillRect/>
          </a:stretch>
        </p:blipFill>
        <p:spPr>
          <a:xfrm>
            <a:off x="3657600" y="4160520"/>
            <a:ext cx="502920" cy="502920"/>
          </a:xfrm>
          <a:prstGeom prst="rect">
            <a:avLst/>
          </a:prstGeom>
        </p:spPr>
      </p:pic>
      <p:sp>
        <p:nvSpPr>
          <p:cNvPr id="14" name="Card"/>
          <p:cNvSpPr/>
          <p:nvPr/>
        </p:nvSpPr>
        <p:spPr>
          <a:xfrm>
            <a:off x="6217920" y="1508760"/>
            <a:ext cx="2606040" cy="3383280"/>
          </a:xfrm>
          <a:prstGeom prst="roundRect">
            <a:avLst>
              <a:gd name="adj" fmla="val 421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6492240" y="1691640"/>
            <a:ext cx="1463040" cy="822960"/>
          </a:xfrm>
          <a:prstGeom prst="rect">
            <a:avLst/>
          </a:prstGeom>
          <a:noFill/>
          <a:ln/>
        </p:spPr>
        <p:txBody>
          <a:bodyPr wrap="square" lIns="0" tIns="0" rIns="0" bIns="0" rtlCol="0" anchor="t"/>
          <a:lstStyle/>
          <a:p>
            <a:pPr marL="0" indent="0">
              <a:buNone/>
            </a:pPr>
            <a:r>
              <a:rPr lang="en-US" sz="4800" b="1" dirty="0">
                <a:solidFill>
                  <a:srgbClr val="7F9CC4"/>
                </a:solidFill>
                <a:latin typeface="Cambria" pitchFamily="34" charset="0"/>
                <a:ea typeface="Cambria" pitchFamily="34" charset="-122"/>
                <a:cs typeface="Cambria" pitchFamily="34" charset="-120"/>
              </a:rPr>
              <a:t>H3</a:t>
            </a:r>
            <a:endParaRPr lang="en-US" sz="4800" dirty="0"/>
          </a:p>
        </p:txBody>
      </p:sp>
      <p:sp>
        <p:nvSpPr>
          <p:cNvPr id="16" name="Text 11"/>
          <p:cNvSpPr txBox="1"/>
          <p:nvPr/>
        </p:nvSpPr>
        <p:spPr>
          <a:xfrm>
            <a:off x="649224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Confidence score ranks correct above hallucinated</a:t>
            </a:r>
            <a:endParaRPr lang="en-US" sz="1800" dirty="0"/>
          </a:p>
        </p:txBody>
      </p:sp>
      <p:pic>
        <p:nvPicPr>
          <p:cNvPr id="17" name="Image 2" descr="icon"/>
          <p:cNvPicPr>
            <a:picLocks noChangeAspect="1"/>
          </p:cNvPicPr>
          <p:nvPr/>
        </p:nvPicPr>
        <p:blipFill>
          <a:blip r:embed="rId5"/>
          <a:stretch>
            <a:fillRect/>
          </a:stretch>
        </p:blipFill>
        <p:spPr>
          <a:xfrm>
            <a:off x="6492240" y="4160520"/>
            <a:ext cx="502920" cy="502920"/>
          </a:xfrm>
          <a:prstGeom prst="rect">
            <a:avLst/>
          </a:prstGeom>
        </p:spPr>
      </p:pic>
      <p:sp>
        <p:nvSpPr>
          <p:cNvPr id="18" name="Card"/>
          <p:cNvSpPr/>
          <p:nvPr/>
        </p:nvSpPr>
        <p:spPr>
          <a:xfrm>
            <a:off x="9052560" y="1508760"/>
            <a:ext cx="2606040" cy="3383280"/>
          </a:xfrm>
          <a:prstGeom prst="roundRect">
            <a:avLst>
              <a:gd name="adj" fmla="val 4211"/>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9" name="Text 13"/>
          <p:cNvSpPr txBox="1"/>
          <p:nvPr/>
        </p:nvSpPr>
        <p:spPr>
          <a:xfrm>
            <a:off x="9326880" y="1691640"/>
            <a:ext cx="1463040" cy="822960"/>
          </a:xfrm>
          <a:prstGeom prst="rect">
            <a:avLst/>
          </a:prstGeom>
          <a:noFill/>
          <a:ln/>
        </p:spPr>
        <p:txBody>
          <a:bodyPr wrap="square" lIns="0" tIns="0" rIns="0" bIns="0" rtlCol="0" anchor="t"/>
          <a:lstStyle/>
          <a:p>
            <a:pPr marL="0" indent="0">
              <a:buNone/>
            </a:pPr>
            <a:r>
              <a:rPr lang="en-US" sz="4800" b="1" dirty="0">
                <a:solidFill>
                  <a:srgbClr val="F7E23B"/>
                </a:solidFill>
                <a:latin typeface="Cambria" pitchFamily="34" charset="0"/>
                <a:ea typeface="Cambria" pitchFamily="34" charset="-122"/>
                <a:cs typeface="Cambria" pitchFamily="34" charset="-120"/>
              </a:rPr>
              <a:t>H4</a:t>
            </a:r>
            <a:endParaRPr lang="en-US" sz="4800" dirty="0"/>
          </a:p>
        </p:txBody>
      </p:sp>
      <p:sp>
        <p:nvSpPr>
          <p:cNvPr id="20" name="Text 14"/>
          <p:cNvSpPr txBox="1"/>
          <p:nvPr/>
        </p:nvSpPr>
        <p:spPr>
          <a:xfrm>
            <a:off x="932688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Measure the cost: time, tokens, electricity</a:t>
            </a:r>
            <a:endParaRPr lang="en-US" sz="1800" dirty="0"/>
          </a:p>
        </p:txBody>
      </p:sp>
      <p:pic>
        <p:nvPicPr>
          <p:cNvPr id="21" name="Image 3" descr="icon"/>
          <p:cNvPicPr>
            <a:picLocks noChangeAspect="1"/>
          </p:cNvPicPr>
          <p:nvPr/>
        </p:nvPicPr>
        <p:blipFill>
          <a:blip r:embed="rId6"/>
          <a:stretch>
            <a:fillRect/>
          </a:stretch>
        </p:blipFill>
        <p:spPr>
          <a:xfrm>
            <a:off x="9326880" y="4160520"/>
            <a:ext cx="502920" cy="502920"/>
          </a:xfrm>
          <a:prstGeom prst="rect">
            <a:avLst/>
          </a:prstGeom>
        </p:spPr>
      </p:pic>
      <p:sp>
        <p:nvSpPr>
          <p:cNvPr id="22" name="Card"/>
          <p:cNvSpPr/>
          <p:nvPr/>
        </p:nvSpPr>
        <p:spPr>
          <a:xfrm>
            <a:off x="548640" y="5166360"/>
            <a:ext cx="110642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3" name="Text 16"/>
          <p:cNvSpPr txBox="1"/>
          <p:nvPr/>
        </p:nvSpPr>
        <p:spPr>
          <a:xfrm>
            <a:off x="822960" y="5166360"/>
            <a:ext cx="10515600" cy="96012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Two ways to fail:  </a:t>
            </a:r>
            <a:r>
              <a:rPr lang="en-US" sz="1800" b="1" dirty="0">
                <a:solidFill>
                  <a:srgbClr val="FF5A4F"/>
                </a:solidFill>
                <a:latin typeface="Calibri" pitchFamily="34" charset="0"/>
                <a:ea typeface="Calibri" pitchFamily="34" charset="-122"/>
                <a:cs typeface="Calibri" pitchFamily="34" charset="-120"/>
              </a:rPr>
              <a:t>incorrect acceptance</a:t>
            </a:r>
            <a:r>
              <a:rPr lang="en-US" sz="1800" dirty="0">
                <a:solidFill>
                  <a:srgbClr val="F2F5FA"/>
                </a:solidFill>
                <a:latin typeface="Calibri" pitchFamily="34" charset="0"/>
                <a:ea typeface="Calibri" pitchFamily="34" charset="-122"/>
                <a:cs typeface="Calibri" pitchFamily="34" charset="-120"/>
              </a:rPr>
              <a:t> (hallucinated code delivered)   ·   </a:t>
            </a:r>
            <a:r>
              <a:rPr lang="en-US" sz="1800" b="1" dirty="0">
                <a:solidFill>
                  <a:srgbClr val="F7E23B"/>
                </a:solidFill>
                <a:latin typeface="Calibri" pitchFamily="34" charset="0"/>
                <a:ea typeface="Calibri" pitchFamily="34" charset="-122"/>
                <a:cs typeface="Calibri" pitchFamily="34" charset="-120"/>
              </a:rPr>
              <a:t>incorrect rejection</a:t>
            </a:r>
            <a:r>
              <a:rPr lang="en-US" sz="1800" dirty="0">
                <a:solidFill>
                  <a:srgbClr val="F2F5FA"/>
                </a:solidFill>
                <a:latin typeface="Calibri" pitchFamily="34" charset="0"/>
                <a:ea typeface="Calibri" pitchFamily="34" charset="-122"/>
                <a:cs typeface="Calibri" pitchFamily="34" charset="-120"/>
              </a:rPr>
              <a:t> (correct code withheld)</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What counts as a hallucination</a:t>
            </a:r>
            <a:endParaRPr lang="en-US" sz="3400" dirty="0"/>
          </a:p>
        </p:txBody>
      </p:sp>
      <p:sp>
        <p:nvSpPr>
          <p:cNvPr id="4" name="Text 1"/>
          <p:cNvSpPr txBox="1"/>
          <p:nvPr/>
        </p:nvSpPr>
        <p:spPr>
          <a:xfrm>
            <a:off x="548640" y="1371600"/>
            <a:ext cx="11064240" cy="731520"/>
          </a:xfrm>
          <a:prstGeom prst="rect">
            <a:avLst/>
          </a:prstGeom>
          <a:noFill/>
          <a:ln/>
        </p:spPr>
        <p:txBody>
          <a:bodyPr wrap="square" lIns="0" tIns="0" rIns="0" bIns="0" rtlCol="0" anchor="t"/>
          <a:lstStyle/>
          <a:p>
            <a:pPr marL="0" indent="0">
              <a:buNone/>
            </a:pPr>
            <a:r>
              <a:rPr lang="en-US" sz="1800" dirty="0">
                <a:solidFill>
                  <a:srgbClr val="9FB2CC"/>
                </a:solidFill>
                <a:latin typeface="Calibri" pitchFamily="34" charset="0"/>
                <a:ea typeface="Calibri" pitchFamily="34" charset="-122"/>
                <a:cs typeface="Calibri" pitchFamily="34" charset="-120"/>
              </a:rPr>
              <a:t>A claim in generated code that is verified incorrect against an authoritative source. Unverifiable is not false: that is a reason to abstain.</a:t>
            </a:r>
            <a:endParaRPr lang="en-US" sz="1800" dirty="0"/>
          </a:p>
        </p:txBody>
      </p:sp>
      <p:sp>
        <p:nvSpPr>
          <p:cNvPr id="5" name="Card"/>
          <p:cNvSpPr/>
          <p:nvPr/>
        </p:nvSpPr>
        <p:spPr>
          <a:xfrm>
            <a:off x="548640" y="2286000"/>
            <a:ext cx="2606040" cy="3566160"/>
          </a:xfrm>
          <a:prstGeom prst="roundRect">
            <a:avLst>
              <a:gd name="adj" fmla="val 4211"/>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6" name="IconCircle"/>
          <p:cNvSpPr/>
          <p:nvPr/>
        </p:nvSpPr>
        <p:spPr>
          <a:xfrm>
            <a:off x="822960" y="2514600"/>
            <a:ext cx="822960" cy="822960"/>
          </a:xfrm>
          <a:prstGeom prst="ellipse">
            <a:avLst/>
          </a:prstGeom>
          <a:solidFill>
            <a:srgbClr val="FF5A4F">
              <a:alpha val="20000"/>
            </a:srgbClr>
          </a:solidFill>
          <a:ln w="15875">
            <a:solidFill>
              <a:srgbClr val="FF5A4F"/>
            </a:solidFill>
            <a:prstDash val="solid"/>
          </a:ln>
        </p:spPr>
        <p:txBody>
          <a:bodyPr/>
          <a:lstStyle/>
          <a:p>
            <a:endParaRPr lang="en-GB"/>
          </a:p>
        </p:txBody>
      </p:sp>
      <p:pic>
        <p:nvPicPr>
          <p:cNvPr id="7" name="Image 0" descr="icon"/>
          <p:cNvPicPr>
            <a:picLocks noChangeAspect="1"/>
          </p:cNvPicPr>
          <p:nvPr/>
        </p:nvPicPr>
        <p:blipFill>
          <a:blip r:embed="rId3"/>
          <a:stretch>
            <a:fillRect/>
          </a:stretch>
        </p:blipFill>
        <p:spPr>
          <a:xfrm>
            <a:off x="1053389" y="2745029"/>
            <a:ext cx="362102" cy="362102"/>
          </a:xfrm>
          <a:prstGeom prst="rect">
            <a:avLst/>
          </a:prstGeom>
        </p:spPr>
      </p:pic>
      <p:sp>
        <p:nvSpPr>
          <p:cNvPr id="8" name="Text 4"/>
          <p:cNvSpPr txBox="1"/>
          <p:nvPr/>
        </p:nvSpPr>
        <p:spPr>
          <a:xfrm>
            <a:off x="822960" y="3520440"/>
            <a:ext cx="2057400" cy="365760"/>
          </a:xfrm>
          <a:prstGeom prst="rect">
            <a:avLst/>
          </a:prstGeom>
          <a:noFill/>
          <a:ln/>
        </p:spPr>
        <p:txBody>
          <a:bodyPr wrap="square" lIns="0" tIns="0" rIns="0" bIns="0" rtlCol="0" anchor="t"/>
          <a:lstStyle/>
          <a:p>
            <a:pPr marL="0" indent="0">
              <a:buNone/>
            </a:pPr>
            <a:r>
              <a:rPr lang="en-US" sz="1400" b="1" kern="0" spc="300" dirty="0">
                <a:solidFill>
                  <a:srgbClr val="FF5A4F"/>
                </a:solidFill>
                <a:latin typeface="Calibri" pitchFamily="34" charset="0"/>
                <a:ea typeface="Calibri" pitchFamily="34" charset="-122"/>
                <a:cs typeface="Calibri" pitchFamily="34" charset="-120"/>
              </a:rPr>
              <a:t>CLASS A</a:t>
            </a:r>
            <a:endParaRPr lang="en-US" sz="1400" dirty="0"/>
          </a:p>
        </p:txBody>
      </p:sp>
      <p:sp>
        <p:nvSpPr>
          <p:cNvPr id="9" name="Text 5"/>
          <p:cNvSpPr txBox="1"/>
          <p:nvPr/>
        </p:nvSpPr>
        <p:spPr>
          <a:xfrm>
            <a:off x="82296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API hallucination</a:t>
            </a:r>
            <a:endParaRPr lang="en-US" sz="2100" dirty="0"/>
          </a:p>
        </p:txBody>
      </p:sp>
      <p:sp>
        <p:nvSpPr>
          <p:cNvPr id="10" name="Text 6"/>
          <p:cNvSpPr txBox="1"/>
          <p:nvPr/>
        </p:nvSpPr>
        <p:spPr>
          <a:xfrm>
            <a:off x="82296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Wrong host or version; endpoint, parameter or field the API does not declare; missing credential</a:t>
            </a:r>
            <a:endParaRPr lang="en-US" sz="1400" dirty="0"/>
          </a:p>
        </p:txBody>
      </p:sp>
      <p:sp>
        <p:nvSpPr>
          <p:cNvPr id="11" name="Card"/>
          <p:cNvSpPr/>
          <p:nvPr/>
        </p:nvSpPr>
        <p:spPr>
          <a:xfrm>
            <a:off x="3383280" y="2286000"/>
            <a:ext cx="2606040" cy="3566160"/>
          </a:xfrm>
          <a:prstGeom prst="roundRect">
            <a:avLst>
              <a:gd name="adj" fmla="val 4211"/>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2" name="IconCircle"/>
          <p:cNvSpPr/>
          <p:nvPr/>
        </p:nvSpPr>
        <p:spPr>
          <a:xfrm>
            <a:off x="3657600" y="2514600"/>
            <a:ext cx="822960" cy="82296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3" name="Image 1" descr="icon"/>
          <p:cNvPicPr>
            <a:picLocks noChangeAspect="1"/>
          </p:cNvPicPr>
          <p:nvPr/>
        </p:nvPicPr>
        <p:blipFill>
          <a:blip r:embed="rId4"/>
          <a:stretch>
            <a:fillRect/>
          </a:stretch>
        </p:blipFill>
        <p:spPr>
          <a:xfrm>
            <a:off x="3888029" y="2745029"/>
            <a:ext cx="362102" cy="362102"/>
          </a:xfrm>
          <a:prstGeom prst="rect">
            <a:avLst/>
          </a:prstGeom>
        </p:spPr>
      </p:pic>
      <p:sp>
        <p:nvSpPr>
          <p:cNvPr id="14" name="Text 9"/>
          <p:cNvSpPr txBox="1"/>
          <p:nvPr/>
        </p:nvSpPr>
        <p:spPr>
          <a:xfrm>
            <a:off x="3657600" y="3520440"/>
            <a:ext cx="2057400" cy="365760"/>
          </a:xfrm>
          <a:prstGeom prst="rect">
            <a:avLst/>
          </a:prstGeom>
          <a:noFill/>
          <a:ln/>
        </p:spPr>
        <p:txBody>
          <a:bodyPr wrap="square" lIns="0" tIns="0" rIns="0" bIns="0" rtlCol="0" anchor="t"/>
          <a:lstStyle/>
          <a:p>
            <a:pPr marL="0" indent="0">
              <a:buNone/>
            </a:pPr>
            <a:r>
              <a:rPr lang="en-US" sz="1400" b="1" kern="0" spc="300" dirty="0">
                <a:solidFill>
                  <a:srgbClr val="F7E23B"/>
                </a:solidFill>
                <a:latin typeface="Calibri" pitchFamily="34" charset="0"/>
                <a:ea typeface="Calibri" pitchFamily="34" charset="-122"/>
                <a:cs typeface="Calibri" pitchFamily="34" charset="-120"/>
              </a:rPr>
              <a:t>CLASS B</a:t>
            </a:r>
            <a:endParaRPr lang="en-US" sz="1400" dirty="0"/>
          </a:p>
        </p:txBody>
      </p:sp>
      <p:sp>
        <p:nvSpPr>
          <p:cNvPr id="15" name="Text 10"/>
          <p:cNvSpPr txBox="1"/>
          <p:nvPr/>
        </p:nvSpPr>
        <p:spPr>
          <a:xfrm>
            <a:off x="365760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Valid call, wrong task</a:t>
            </a:r>
            <a:endParaRPr lang="en-US" sz="2100" dirty="0"/>
          </a:p>
        </p:txBody>
      </p:sp>
      <p:sp>
        <p:nvSpPr>
          <p:cNvPr id="16" name="Text 11"/>
          <p:cNvSpPr txBox="1"/>
          <p:nvPr/>
        </p:nvSpPr>
        <p:spPr>
          <a:xfrm>
            <a:off x="365760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A real request, but not the one the task asked for</a:t>
            </a:r>
            <a:endParaRPr lang="en-US" sz="1400" dirty="0"/>
          </a:p>
        </p:txBody>
      </p:sp>
      <p:sp>
        <p:nvSpPr>
          <p:cNvPr id="17" name="Card"/>
          <p:cNvSpPr/>
          <p:nvPr/>
        </p:nvSpPr>
        <p:spPr>
          <a:xfrm>
            <a:off x="6217920" y="2286000"/>
            <a:ext cx="2606040" cy="3566160"/>
          </a:xfrm>
          <a:prstGeom prst="roundRect">
            <a:avLst>
              <a:gd name="adj" fmla="val 421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8" name="IconCircle"/>
          <p:cNvSpPr/>
          <p:nvPr/>
        </p:nvSpPr>
        <p:spPr>
          <a:xfrm>
            <a:off x="6492240" y="2514600"/>
            <a:ext cx="822960" cy="822960"/>
          </a:xfrm>
          <a:prstGeom prst="ellipse">
            <a:avLst/>
          </a:prstGeom>
          <a:solidFill>
            <a:srgbClr val="3D95E8">
              <a:alpha val="20000"/>
            </a:srgbClr>
          </a:solidFill>
          <a:ln w="15875">
            <a:solidFill>
              <a:srgbClr val="3D95E8"/>
            </a:solidFill>
            <a:prstDash val="solid"/>
          </a:ln>
        </p:spPr>
        <p:txBody>
          <a:bodyPr/>
          <a:lstStyle/>
          <a:p>
            <a:endParaRPr lang="en-GB"/>
          </a:p>
        </p:txBody>
      </p:sp>
      <p:pic>
        <p:nvPicPr>
          <p:cNvPr id="19" name="Image 2" descr="icon"/>
          <p:cNvPicPr>
            <a:picLocks noChangeAspect="1"/>
          </p:cNvPicPr>
          <p:nvPr/>
        </p:nvPicPr>
        <p:blipFill>
          <a:blip r:embed="rId5"/>
          <a:stretch>
            <a:fillRect/>
          </a:stretch>
        </p:blipFill>
        <p:spPr>
          <a:xfrm>
            <a:off x="6722669" y="2745029"/>
            <a:ext cx="362102" cy="362102"/>
          </a:xfrm>
          <a:prstGeom prst="rect">
            <a:avLst/>
          </a:prstGeom>
        </p:spPr>
      </p:pic>
      <p:sp>
        <p:nvSpPr>
          <p:cNvPr id="20" name="Text 14"/>
          <p:cNvSpPr txBox="1"/>
          <p:nvPr/>
        </p:nvSpPr>
        <p:spPr>
          <a:xfrm>
            <a:off x="6492240" y="3520440"/>
            <a:ext cx="2057400" cy="365760"/>
          </a:xfrm>
          <a:prstGeom prst="rect">
            <a:avLst/>
          </a:prstGeom>
          <a:noFill/>
          <a:ln/>
        </p:spPr>
        <p:txBody>
          <a:bodyPr wrap="square" lIns="0" tIns="0" rIns="0" bIns="0" rtlCol="0" anchor="t"/>
          <a:lstStyle/>
          <a:p>
            <a:pPr marL="0" indent="0">
              <a:buNone/>
            </a:pPr>
            <a:r>
              <a:rPr lang="en-US" sz="1400" b="1" kern="0" spc="300" dirty="0">
                <a:solidFill>
                  <a:srgbClr val="3D95E8"/>
                </a:solidFill>
                <a:latin typeface="Calibri" pitchFamily="34" charset="0"/>
                <a:ea typeface="Calibri" pitchFamily="34" charset="-122"/>
                <a:cs typeface="Calibri" pitchFamily="34" charset="-120"/>
              </a:rPr>
              <a:t>CORRECT</a:t>
            </a:r>
            <a:endParaRPr lang="en-US" sz="1400" dirty="0"/>
          </a:p>
        </p:txBody>
      </p:sp>
      <p:sp>
        <p:nvSpPr>
          <p:cNvPr id="21" name="Text 15"/>
          <p:cNvSpPr txBox="1"/>
          <p:nvPr/>
        </p:nvSpPr>
        <p:spPr>
          <a:xfrm>
            <a:off x="649224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Expected request</a:t>
            </a:r>
            <a:endParaRPr lang="en-US" sz="2100" dirty="0"/>
          </a:p>
        </p:txBody>
      </p:sp>
      <p:sp>
        <p:nvSpPr>
          <p:cNvPr id="22" name="Text 16"/>
          <p:cNvSpPr txBox="1"/>
          <p:nvPr/>
        </p:nvSpPr>
        <p:spPr>
          <a:xfrm>
            <a:off x="649224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Code sends exactly the request the answer key requires</a:t>
            </a:r>
            <a:endParaRPr lang="en-US" sz="1400" dirty="0"/>
          </a:p>
        </p:txBody>
      </p:sp>
      <p:sp>
        <p:nvSpPr>
          <p:cNvPr id="23" name="Card"/>
          <p:cNvSpPr/>
          <p:nvPr/>
        </p:nvSpPr>
        <p:spPr>
          <a:xfrm>
            <a:off x="9052560" y="2286000"/>
            <a:ext cx="2606040" cy="3566160"/>
          </a:xfrm>
          <a:prstGeom prst="roundRect">
            <a:avLst>
              <a:gd name="adj" fmla="val 421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24" name="IconCircle"/>
          <p:cNvSpPr/>
          <p:nvPr/>
        </p:nvSpPr>
        <p:spPr>
          <a:xfrm>
            <a:off x="9326880" y="2514600"/>
            <a:ext cx="822960" cy="82296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25" name="Image 3" descr="icon"/>
          <p:cNvPicPr>
            <a:picLocks noChangeAspect="1"/>
          </p:cNvPicPr>
          <p:nvPr/>
        </p:nvPicPr>
        <p:blipFill>
          <a:blip r:embed="rId6"/>
          <a:stretch>
            <a:fillRect/>
          </a:stretch>
        </p:blipFill>
        <p:spPr>
          <a:xfrm>
            <a:off x="9557309" y="2745029"/>
            <a:ext cx="362102" cy="362102"/>
          </a:xfrm>
          <a:prstGeom prst="rect">
            <a:avLst/>
          </a:prstGeom>
        </p:spPr>
      </p:pic>
      <p:sp>
        <p:nvSpPr>
          <p:cNvPr id="26" name="Text 19"/>
          <p:cNvSpPr txBox="1"/>
          <p:nvPr/>
        </p:nvSpPr>
        <p:spPr>
          <a:xfrm>
            <a:off x="9326880" y="3520440"/>
            <a:ext cx="2057400" cy="365760"/>
          </a:xfrm>
          <a:prstGeom prst="rect">
            <a:avLst/>
          </a:prstGeom>
          <a:noFill/>
          <a:ln/>
        </p:spPr>
        <p:txBody>
          <a:bodyPr wrap="square" lIns="0" tIns="0" rIns="0" bIns="0" rtlCol="0" anchor="t"/>
          <a:lstStyle/>
          <a:p>
            <a:pPr marL="0" indent="0">
              <a:buNone/>
            </a:pPr>
            <a:r>
              <a:rPr lang="en-US" sz="1400" b="1" kern="0" spc="300" dirty="0">
                <a:solidFill>
                  <a:srgbClr val="7F9CC4"/>
                </a:solidFill>
                <a:latin typeface="Calibri" pitchFamily="34" charset="0"/>
                <a:ea typeface="Calibri" pitchFamily="34" charset="-122"/>
                <a:cs typeface="Calibri" pitchFamily="34" charset="-120"/>
              </a:rPr>
              <a:t>CRASH</a:t>
            </a:r>
            <a:endParaRPr lang="en-US" sz="1400" dirty="0"/>
          </a:p>
        </p:txBody>
      </p:sp>
      <p:sp>
        <p:nvSpPr>
          <p:cNvPr id="27" name="Text 20"/>
          <p:cNvSpPr txBox="1"/>
          <p:nvPr/>
        </p:nvSpPr>
        <p:spPr>
          <a:xfrm>
            <a:off x="932688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Runtime failure</a:t>
            </a:r>
            <a:endParaRPr lang="en-US" sz="2100" dirty="0"/>
          </a:p>
        </p:txBody>
      </p:sp>
      <p:sp>
        <p:nvSpPr>
          <p:cNvPr id="28" name="Text 21"/>
          <p:cNvSpPr txBox="1"/>
          <p:nvPr/>
        </p:nvSpPr>
        <p:spPr>
          <a:xfrm>
            <a:off x="932688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Fails before sending any request</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1,000 tasks. 6 public APIs. Frozen ground truth</a:t>
            </a:r>
            <a:endParaRPr lang="en-US" sz="3400" dirty="0"/>
          </a:p>
        </p:txBody>
      </p:sp>
      <p:sp>
        <p:nvSpPr>
          <p:cNvPr id="4" name="Text 1"/>
          <p:cNvSpPr txBox="1"/>
          <p:nvPr/>
        </p:nvSpPr>
        <p:spPr>
          <a:xfrm>
            <a:off x="548640"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1,000</a:t>
            </a:r>
            <a:endParaRPr lang="en-US" sz="3000" dirty="0"/>
          </a:p>
        </p:txBody>
      </p:sp>
      <p:sp>
        <p:nvSpPr>
          <p:cNvPr id="5" name="Text 2"/>
          <p:cNvSpPr txBox="1"/>
          <p:nvPr/>
        </p:nvSpPr>
        <p:spPr>
          <a:xfrm>
            <a:off x="548640"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Python tasks</a:t>
            </a:r>
            <a:endParaRPr lang="en-US" sz="1400" dirty="0"/>
          </a:p>
        </p:txBody>
      </p:sp>
      <p:sp>
        <p:nvSpPr>
          <p:cNvPr id="6" name="Text 3"/>
          <p:cNvSpPr txBox="1"/>
          <p:nvPr/>
        </p:nvSpPr>
        <p:spPr>
          <a:xfrm>
            <a:off x="3364992"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142</a:t>
            </a:r>
            <a:endParaRPr lang="en-US" sz="3000" dirty="0"/>
          </a:p>
        </p:txBody>
      </p:sp>
      <p:sp>
        <p:nvSpPr>
          <p:cNvPr id="7" name="Text 4"/>
          <p:cNvSpPr txBox="1"/>
          <p:nvPr/>
        </p:nvSpPr>
        <p:spPr>
          <a:xfrm>
            <a:off x="3364992"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operation families</a:t>
            </a:r>
            <a:endParaRPr lang="en-US" sz="1400" dirty="0"/>
          </a:p>
        </p:txBody>
      </p:sp>
      <p:sp>
        <p:nvSpPr>
          <p:cNvPr id="8" name="Text 5"/>
          <p:cNvSpPr txBox="1"/>
          <p:nvPr/>
        </p:nvSpPr>
        <p:spPr>
          <a:xfrm>
            <a:off x="6181344"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SHA-256</a:t>
            </a:r>
            <a:endParaRPr lang="en-US" sz="3000" dirty="0"/>
          </a:p>
        </p:txBody>
      </p:sp>
      <p:sp>
        <p:nvSpPr>
          <p:cNvPr id="9" name="Text 6"/>
          <p:cNvSpPr txBox="1"/>
          <p:nvPr/>
        </p:nvSpPr>
        <p:spPr>
          <a:xfrm>
            <a:off x="6181344"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hashed specs, 21 Sep 2026</a:t>
            </a:r>
            <a:endParaRPr lang="en-US" sz="1400" dirty="0"/>
          </a:p>
        </p:txBody>
      </p:sp>
      <p:sp>
        <p:nvSpPr>
          <p:cNvPr id="10" name="Text 7"/>
          <p:cNvSpPr txBox="1"/>
          <p:nvPr/>
        </p:nvSpPr>
        <p:spPr>
          <a:xfrm>
            <a:off x="8997696"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100 / 100</a:t>
            </a:r>
            <a:endParaRPr lang="en-US" sz="3000" dirty="0"/>
          </a:p>
        </p:txBody>
      </p:sp>
      <p:sp>
        <p:nvSpPr>
          <p:cNvPr id="11" name="Text 8"/>
          <p:cNvSpPr txBox="1"/>
          <p:nvPr/>
        </p:nvSpPr>
        <p:spPr>
          <a:xfrm>
            <a:off x="8997696"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answer-key audit passed</a:t>
            </a:r>
            <a:endParaRPr lang="en-US" sz="1400" dirty="0"/>
          </a:p>
        </p:txBody>
      </p:sp>
      <p:sp>
        <p:nvSpPr>
          <p:cNvPr id="12" name="Card"/>
          <p:cNvSpPr/>
          <p:nvPr/>
        </p:nvSpPr>
        <p:spPr>
          <a:xfrm>
            <a:off x="54864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3" name="Image 0" descr="api icon"/>
          <p:cNvPicPr>
            <a:picLocks noChangeAspect="1"/>
          </p:cNvPicPr>
          <p:nvPr/>
        </p:nvPicPr>
        <p:blipFill>
          <a:blip r:embed="rId3"/>
          <a:stretch>
            <a:fillRect/>
          </a:stretch>
        </p:blipFill>
        <p:spPr>
          <a:xfrm>
            <a:off x="822960" y="2788920"/>
            <a:ext cx="502920" cy="502920"/>
          </a:xfrm>
          <a:prstGeom prst="rect">
            <a:avLst/>
          </a:prstGeom>
        </p:spPr>
      </p:pic>
      <p:sp>
        <p:nvSpPr>
          <p:cNvPr id="14" name="Text 10"/>
          <p:cNvSpPr txBox="1"/>
          <p:nvPr/>
        </p:nvSpPr>
        <p:spPr>
          <a:xfrm>
            <a:off x="150876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GitHub REST</a:t>
            </a:r>
            <a:endParaRPr lang="en-US" sz="1900" dirty="0"/>
          </a:p>
        </p:txBody>
      </p:sp>
      <p:sp>
        <p:nvSpPr>
          <p:cNvPr id="15" name="Text 11"/>
          <p:cNvSpPr txBox="1"/>
          <p:nvPr/>
        </p:nvSpPr>
        <p:spPr>
          <a:xfrm>
            <a:off x="82296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250 tasks</a:t>
            </a:r>
            <a:endParaRPr lang="en-US" sz="1600" dirty="0"/>
          </a:p>
        </p:txBody>
      </p:sp>
      <p:sp>
        <p:nvSpPr>
          <p:cNvPr id="16" name="Text 12"/>
          <p:cNvSpPr txBox="1"/>
          <p:nvPr/>
        </p:nvSpPr>
        <p:spPr>
          <a:xfrm>
            <a:off x="82296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Bearer token</a:t>
            </a:r>
            <a:endParaRPr lang="en-US" sz="1200" dirty="0"/>
          </a:p>
        </p:txBody>
      </p:sp>
      <p:sp>
        <p:nvSpPr>
          <p:cNvPr id="17" name="Badge"/>
          <p:cNvSpPr/>
          <p:nvPr/>
        </p:nvSpPr>
        <p:spPr>
          <a:xfrm>
            <a:off x="278892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18" name="Text 14"/>
          <p:cNvSpPr txBox="1"/>
          <p:nvPr/>
        </p:nvSpPr>
        <p:spPr>
          <a:xfrm>
            <a:off x="278892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19" name="Card"/>
          <p:cNvSpPr/>
          <p:nvPr/>
        </p:nvSpPr>
        <p:spPr>
          <a:xfrm>
            <a:off x="429768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20" name="Image 1" descr="api icon"/>
          <p:cNvPicPr>
            <a:picLocks noChangeAspect="1"/>
          </p:cNvPicPr>
          <p:nvPr/>
        </p:nvPicPr>
        <p:blipFill>
          <a:blip r:embed="rId4"/>
          <a:stretch>
            <a:fillRect/>
          </a:stretch>
        </p:blipFill>
        <p:spPr>
          <a:xfrm>
            <a:off x="4572000" y="2788920"/>
            <a:ext cx="502920" cy="502920"/>
          </a:xfrm>
          <a:prstGeom prst="rect">
            <a:avLst/>
          </a:prstGeom>
        </p:spPr>
      </p:pic>
      <p:sp>
        <p:nvSpPr>
          <p:cNvPr id="21" name="Text 16"/>
          <p:cNvSpPr txBox="1"/>
          <p:nvPr/>
        </p:nvSpPr>
        <p:spPr>
          <a:xfrm>
            <a:off x="525780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Swagger Petstore</a:t>
            </a:r>
            <a:endParaRPr lang="en-US" sz="1900" dirty="0"/>
          </a:p>
        </p:txBody>
      </p:sp>
      <p:sp>
        <p:nvSpPr>
          <p:cNvPr id="22" name="Text 17"/>
          <p:cNvSpPr txBox="1"/>
          <p:nvPr/>
        </p:nvSpPr>
        <p:spPr>
          <a:xfrm>
            <a:off x="457200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23" name="Text 18"/>
          <p:cNvSpPr txBox="1"/>
          <p:nvPr/>
        </p:nvSpPr>
        <p:spPr>
          <a:xfrm>
            <a:off x="457200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API key / OAuth2</a:t>
            </a:r>
            <a:endParaRPr lang="en-US" sz="1200" dirty="0"/>
          </a:p>
        </p:txBody>
      </p:sp>
      <p:sp>
        <p:nvSpPr>
          <p:cNvPr id="24" name="Badge"/>
          <p:cNvSpPr/>
          <p:nvPr/>
        </p:nvSpPr>
        <p:spPr>
          <a:xfrm>
            <a:off x="653796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25" name="Text 20"/>
          <p:cNvSpPr txBox="1"/>
          <p:nvPr/>
        </p:nvSpPr>
        <p:spPr>
          <a:xfrm>
            <a:off x="653796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26" name="Card"/>
          <p:cNvSpPr/>
          <p:nvPr/>
        </p:nvSpPr>
        <p:spPr>
          <a:xfrm>
            <a:off x="804672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27" name="Image 2" descr="api icon"/>
          <p:cNvPicPr>
            <a:picLocks noChangeAspect="1"/>
          </p:cNvPicPr>
          <p:nvPr/>
        </p:nvPicPr>
        <p:blipFill>
          <a:blip r:embed="rId5"/>
          <a:stretch>
            <a:fillRect/>
          </a:stretch>
        </p:blipFill>
        <p:spPr>
          <a:xfrm>
            <a:off x="8321040" y="2788920"/>
            <a:ext cx="502920" cy="502920"/>
          </a:xfrm>
          <a:prstGeom prst="rect">
            <a:avLst/>
          </a:prstGeom>
        </p:spPr>
      </p:pic>
      <p:sp>
        <p:nvSpPr>
          <p:cNvPr id="28" name="Text 22"/>
          <p:cNvSpPr txBox="1"/>
          <p:nvPr/>
        </p:nvSpPr>
        <p:spPr>
          <a:xfrm>
            <a:off x="900684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Open-Meteo</a:t>
            </a:r>
            <a:endParaRPr lang="en-US" sz="1900" dirty="0"/>
          </a:p>
        </p:txBody>
      </p:sp>
      <p:sp>
        <p:nvSpPr>
          <p:cNvPr id="29" name="Text 23"/>
          <p:cNvSpPr txBox="1"/>
          <p:nvPr/>
        </p:nvSpPr>
        <p:spPr>
          <a:xfrm>
            <a:off x="832104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30" name="Text 24"/>
          <p:cNvSpPr txBox="1"/>
          <p:nvPr/>
        </p:nvSpPr>
        <p:spPr>
          <a:xfrm>
            <a:off x="832104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31" name="Badge"/>
          <p:cNvSpPr/>
          <p:nvPr/>
        </p:nvSpPr>
        <p:spPr>
          <a:xfrm>
            <a:off x="1028700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32" name="Text 26"/>
          <p:cNvSpPr txBox="1"/>
          <p:nvPr/>
        </p:nvSpPr>
        <p:spPr>
          <a:xfrm>
            <a:off x="1028700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33" name="Card"/>
          <p:cNvSpPr/>
          <p:nvPr/>
        </p:nvSpPr>
        <p:spPr>
          <a:xfrm>
            <a:off x="54864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34" name="Image 3" descr="api icon"/>
          <p:cNvPicPr>
            <a:picLocks noChangeAspect="1"/>
          </p:cNvPicPr>
          <p:nvPr/>
        </p:nvPicPr>
        <p:blipFill>
          <a:blip r:embed="rId6"/>
          <a:stretch>
            <a:fillRect/>
          </a:stretch>
        </p:blipFill>
        <p:spPr>
          <a:xfrm>
            <a:off x="822960" y="4709160"/>
            <a:ext cx="502920" cy="502920"/>
          </a:xfrm>
          <a:prstGeom prst="rect">
            <a:avLst/>
          </a:prstGeom>
        </p:spPr>
      </p:pic>
      <p:sp>
        <p:nvSpPr>
          <p:cNvPr id="35" name="Text 28"/>
          <p:cNvSpPr txBox="1"/>
          <p:nvPr/>
        </p:nvSpPr>
        <p:spPr>
          <a:xfrm>
            <a:off x="150876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JSONPlaceholder</a:t>
            </a:r>
            <a:endParaRPr lang="en-US" sz="1900" dirty="0"/>
          </a:p>
        </p:txBody>
      </p:sp>
      <p:sp>
        <p:nvSpPr>
          <p:cNvPr id="36" name="Text 29"/>
          <p:cNvSpPr txBox="1"/>
          <p:nvPr/>
        </p:nvSpPr>
        <p:spPr>
          <a:xfrm>
            <a:off x="82296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37" name="Text 30"/>
          <p:cNvSpPr txBox="1"/>
          <p:nvPr/>
        </p:nvSpPr>
        <p:spPr>
          <a:xfrm>
            <a:off x="82296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38" name="Badge"/>
          <p:cNvSpPr/>
          <p:nvPr/>
        </p:nvSpPr>
        <p:spPr>
          <a:xfrm>
            <a:off x="278892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39" name="Text 32"/>
          <p:cNvSpPr txBox="1"/>
          <p:nvPr/>
        </p:nvSpPr>
        <p:spPr>
          <a:xfrm>
            <a:off x="278892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40" name="Card"/>
          <p:cNvSpPr/>
          <p:nvPr/>
        </p:nvSpPr>
        <p:spPr>
          <a:xfrm>
            <a:off x="429768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41" name="Image 4" descr="api icon"/>
          <p:cNvPicPr>
            <a:picLocks noChangeAspect="1"/>
          </p:cNvPicPr>
          <p:nvPr/>
        </p:nvPicPr>
        <p:blipFill>
          <a:blip r:embed="rId7"/>
          <a:stretch>
            <a:fillRect/>
          </a:stretch>
        </p:blipFill>
        <p:spPr>
          <a:xfrm>
            <a:off x="4572000" y="4709160"/>
            <a:ext cx="502920" cy="502920"/>
          </a:xfrm>
          <a:prstGeom prst="rect">
            <a:avLst/>
          </a:prstGeom>
        </p:spPr>
      </p:pic>
      <p:sp>
        <p:nvSpPr>
          <p:cNvPr id="42" name="Text 34"/>
          <p:cNvSpPr txBox="1"/>
          <p:nvPr/>
        </p:nvSpPr>
        <p:spPr>
          <a:xfrm>
            <a:off x="525780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DummyJSON</a:t>
            </a:r>
            <a:endParaRPr lang="en-US" sz="1900" dirty="0"/>
          </a:p>
        </p:txBody>
      </p:sp>
      <p:sp>
        <p:nvSpPr>
          <p:cNvPr id="43" name="Text 35"/>
          <p:cNvSpPr txBox="1"/>
          <p:nvPr/>
        </p:nvSpPr>
        <p:spPr>
          <a:xfrm>
            <a:off x="457200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44" name="Text 36"/>
          <p:cNvSpPr txBox="1"/>
          <p:nvPr/>
        </p:nvSpPr>
        <p:spPr>
          <a:xfrm>
            <a:off x="457200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45" name="Badge"/>
          <p:cNvSpPr/>
          <p:nvPr/>
        </p:nvSpPr>
        <p:spPr>
          <a:xfrm>
            <a:off x="653796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46" name="Text 38"/>
          <p:cNvSpPr txBox="1"/>
          <p:nvPr/>
        </p:nvSpPr>
        <p:spPr>
          <a:xfrm>
            <a:off x="653796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47" name="Card"/>
          <p:cNvSpPr/>
          <p:nvPr/>
        </p:nvSpPr>
        <p:spPr>
          <a:xfrm>
            <a:off x="804672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48" name="Image 5" descr="api icon"/>
          <p:cNvPicPr>
            <a:picLocks noChangeAspect="1"/>
          </p:cNvPicPr>
          <p:nvPr/>
        </p:nvPicPr>
        <p:blipFill>
          <a:blip r:embed="rId8"/>
          <a:stretch>
            <a:fillRect/>
          </a:stretch>
        </p:blipFill>
        <p:spPr>
          <a:xfrm>
            <a:off x="8321040" y="4709160"/>
            <a:ext cx="502920" cy="502920"/>
          </a:xfrm>
          <a:prstGeom prst="rect">
            <a:avLst/>
          </a:prstGeom>
        </p:spPr>
      </p:pic>
      <p:sp>
        <p:nvSpPr>
          <p:cNvPr id="49" name="Text 40"/>
          <p:cNvSpPr txBox="1"/>
          <p:nvPr/>
        </p:nvSpPr>
        <p:spPr>
          <a:xfrm>
            <a:off x="900684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REST Countries v5</a:t>
            </a:r>
            <a:endParaRPr lang="en-US" sz="1900" dirty="0"/>
          </a:p>
        </p:txBody>
      </p:sp>
      <p:sp>
        <p:nvSpPr>
          <p:cNvPr id="50" name="Text 41"/>
          <p:cNvSpPr txBox="1"/>
          <p:nvPr/>
        </p:nvSpPr>
        <p:spPr>
          <a:xfrm>
            <a:off x="832104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51" name="Text 42"/>
          <p:cNvSpPr txBox="1"/>
          <p:nvPr/>
        </p:nvSpPr>
        <p:spPr>
          <a:xfrm>
            <a:off x="832104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API key (Bearer)</a:t>
            </a:r>
            <a:endParaRPr lang="en-US" sz="1200" dirty="0"/>
          </a:p>
        </p:txBody>
      </p:sp>
      <p:sp>
        <p:nvSpPr>
          <p:cNvPr id="52" name="Badge"/>
          <p:cNvSpPr/>
          <p:nvPr/>
        </p:nvSpPr>
        <p:spPr>
          <a:xfrm>
            <a:off x="1028700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53" name="Text 44"/>
          <p:cNvSpPr txBox="1"/>
          <p:nvPr/>
        </p:nvSpPr>
        <p:spPr>
          <a:xfrm>
            <a:off x="1028700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plain model hallucinates in over half its answers</a:t>
            </a:r>
            <a:endParaRPr lang="en-US" sz="3400" dirty="0"/>
          </a:p>
        </p:txBody>
      </p:sp>
      <p:sp>
        <p:nvSpPr>
          <p:cNvPr id="4" name="Card"/>
          <p:cNvSpPr/>
          <p:nvPr/>
        </p:nvSpPr>
        <p:spPr>
          <a:xfrm>
            <a:off x="548640" y="1463040"/>
            <a:ext cx="658368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731520" y="1554480"/>
          <a:ext cx="62179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7406640" y="14630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7635240" y="1554480"/>
            <a:ext cx="3749040" cy="685800"/>
          </a:xfrm>
          <a:prstGeom prst="rect">
            <a:avLst/>
          </a:prstGeom>
          <a:noFill/>
          <a:ln/>
        </p:spPr>
        <p:txBody>
          <a:bodyPr wrap="square" lIns="0" tIns="0" rIns="0" bIns="0" rtlCol="0" anchor="t"/>
          <a:lstStyle/>
          <a:p>
            <a:pPr marL="0" indent="0">
              <a:buNone/>
            </a:pPr>
            <a:r>
              <a:rPr lang="en-US" sz="3800" b="1" dirty="0">
                <a:solidFill>
                  <a:srgbClr val="FF5A4F"/>
                </a:solidFill>
                <a:latin typeface="Cambria" pitchFamily="34" charset="0"/>
                <a:ea typeface="Cambria" pitchFamily="34" charset="-122"/>
                <a:cs typeface="Cambria" pitchFamily="34" charset="-120"/>
              </a:rPr>
              <a:t>78%</a:t>
            </a:r>
            <a:endParaRPr lang="en-US" sz="3800" dirty="0"/>
          </a:p>
        </p:txBody>
      </p:sp>
      <p:sp>
        <p:nvSpPr>
          <p:cNvPr id="8" name="Text 4"/>
          <p:cNvSpPr txBox="1"/>
          <p:nvPr/>
        </p:nvSpPr>
        <p:spPr>
          <a:xfrm>
            <a:off x="7635240" y="22402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of Petstore answers called the retired Swagger 2 host</a:t>
            </a:r>
            <a:endParaRPr lang="en-US" sz="1400" dirty="0"/>
          </a:p>
        </p:txBody>
      </p:sp>
      <p:sp>
        <p:nvSpPr>
          <p:cNvPr id="9" name="Card"/>
          <p:cNvSpPr/>
          <p:nvPr/>
        </p:nvSpPr>
        <p:spPr>
          <a:xfrm>
            <a:off x="7406640" y="30632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7635240" y="3154680"/>
            <a:ext cx="3749040" cy="685800"/>
          </a:xfrm>
          <a:prstGeom prst="rect">
            <a:avLst/>
          </a:prstGeom>
          <a:noFill/>
          <a:ln/>
        </p:spPr>
        <p:txBody>
          <a:bodyPr wrap="square" lIns="0" tIns="0" rIns="0" bIns="0" rtlCol="0" anchor="t"/>
          <a:lstStyle/>
          <a:p>
            <a:pPr marL="0" indent="0">
              <a:buNone/>
            </a:pPr>
            <a:r>
              <a:rPr lang="en-US" sz="3800" b="1" dirty="0">
                <a:solidFill>
                  <a:srgbClr val="F7E23B"/>
                </a:solidFill>
                <a:latin typeface="Cambria" pitchFamily="34" charset="0"/>
                <a:ea typeface="Cambria" pitchFamily="34" charset="-122"/>
                <a:cs typeface="Cambria" pitchFamily="34" charset="-120"/>
              </a:rPr>
              <a:t>1 in 3+</a:t>
            </a:r>
            <a:endParaRPr lang="en-US" sz="3800" dirty="0"/>
          </a:p>
        </p:txBody>
      </p:sp>
      <p:sp>
        <p:nvSpPr>
          <p:cNvPr id="11" name="Text 7"/>
          <p:cNvSpPr txBox="1"/>
          <p:nvPr/>
        </p:nvSpPr>
        <p:spPr>
          <a:xfrm>
            <a:off x="7635240" y="38404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REST Countries v5 answers invented a v5.1 address</a:t>
            </a:r>
            <a:endParaRPr lang="en-US" sz="1400" dirty="0"/>
          </a:p>
        </p:txBody>
      </p:sp>
      <p:sp>
        <p:nvSpPr>
          <p:cNvPr id="12" name="Card"/>
          <p:cNvSpPr/>
          <p:nvPr/>
        </p:nvSpPr>
        <p:spPr>
          <a:xfrm>
            <a:off x="7406640" y="46634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Text 9"/>
          <p:cNvSpPr txBox="1"/>
          <p:nvPr/>
        </p:nvSpPr>
        <p:spPr>
          <a:xfrm>
            <a:off x="7635240" y="4754880"/>
            <a:ext cx="3749040" cy="685800"/>
          </a:xfrm>
          <a:prstGeom prst="rect">
            <a:avLst/>
          </a:prstGeom>
          <a:noFill/>
          <a:ln/>
        </p:spPr>
        <p:txBody>
          <a:bodyPr wrap="square" lIns="0" tIns="0" rIns="0" bIns="0" rtlCol="0" anchor="t"/>
          <a:lstStyle/>
          <a:p>
            <a:pPr marL="0" indent="0">
              <a:buNone/>
            </a:pPr>
            <a:r>
              <a:rPr lang="en-US" sz="3800" b="1" dirty="0">
                <a:solidFill>
                  <a:srgbClr val="7F9CC4"/>
                </a:solidFill>
                <a:latin typeface="Cambria" pitchFamily="34" charset="0"/>
                <a:ea typeface="Cambria" pitchFamily="34" charset="-122"/>
                <a:cs typeface="Cambria" pitchFamily="34" charset="-120"/>
              </a:rPr>
              <a:t>45%</a:t>
            </a:r>
            <a:endParaRPr lang="en-US" sz="3800" dirty="0"/>
          </a:p>
        </p:txBody>
      </p:sp>
      <p:sp>
        <p:nvSpPr>
          <p:cNvPr id="14" name="Text 10"/>
          <p:cNvSpPr txBox="1"/>
          <p:nvPr/>
        </p:nvSpPr>
        <p:spPr>
          <a:xfrm>
            <a:off x="7635240" y="54406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of DummyJSON answers called a different, similar service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Generating an answer must not give it authority</a:t>
            </a:r>
            <a:endParaRPr lang="en-US" sz="3400" dirty="0"/>
          </a:p>
        </p:txBody>
      </p:sp>
      <p:sp>
        <p:nvSpPr>
          <p:cNvPr id="4" name="Card"/>
          <p:cNvSpPr/>
          <p:nvPr/>
        </p:nvSpPr>
        <p:spPr>
          <a:xfrm>
            <a:off x="548640" y="1737360"/>
            <a:ext cx="2423160" cy="2651760"/>
          </a:xfrm>
          <a:prstGeom prst="roundRect">
            <a:avLst>
              <a:gd name="adj" fmla="val 4528"/>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5" name="IconCircle"/>
          <p:cNvSpPr/>
          <p:nvPr/>
        </p:nvSpPr>
        <p:spPr>
          <a:xfrm>
            <a:off x="822960" y="1965960"/>
            <a:ext cx="822960" cy="82296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6" name="Image 0" descr="icon"/>
          <p:cNvPicPr>
            <a:picLocks noChangeAspect="1"/>
          </p:cNvPicPr>
          <p:nvPr/>
        </p:nvPicPr>
        <p:blipFill>
          <a:blip r:embed="rId3"/>
          <a:stretch>
            <a:fillRect/>
          </a:stretch>
        </p:blipFill>
        <p:spPr>
          <a:xfrm>
            <a:off x="1053389" y="2196389"/>
            <a:ext cx="362102" cy="362102"/>
          </a:xfrm>
          <a:prstGeom prst="rect">
            <a:avLst/>
          </a:prstGeom>
        </p:spPr>
      </p:pic>
      <p:sp>
        <p:nvSpPr>
          <p:cNvPr id="7" name="Text 3"/>
          <p:cNvSpPr txBox="1"/>
          <p:nvPr/>
        </p:nvSpPr>
        <p:spPr>
          <a:xfrm>
            <a:off x="822960" y="2926080"/>
            <a:ext cx="1874520" cy="365760"/>
          </a:xfrm>
          <a:prstGeom prst="rect">
            <a:avLst/>
          </a:prstGeom>
          <a:noFill/>
          <a:ln/>
        </p:spPr>
        <p:txBody>
          <a:bodyPr wrap="square" lIns="0" tIns="0" rIns="0" bIns="0" rtlCol="0" anchor="t"/>
          <a:lstStyle/>
          <a:p>
            <a:pPr marL="0" indent="0">
              <a:buNone/>
            </a:pPr>
            <a:r>
              <a:rPr lang="en-US" sz="1500" b="1" kern="0" spc="200" dirty="0">
                <a:solidFill>
                  <a:srgbClr val="7F9CC4"/>
                </a:solidFill>
                <a:latin typeface="Calibri" pitchFamily="34" charset="0"/>
                <a:ea typeface="Calibri" pitchFamily="34" charset="-122"/>
                <a:cs typeface="Calibri" pitchFamily="34" charset="-120"/>
              </a:rPr>
              <a:t>MODEL PROPOSES</a:t>
            </a:r>
            <a:endParaRPr lang="en-US" sz="1500" dirty="0"/>
          </a:p>
        </p:txBody>
      </p:sp>
      <p:sp>
        <p:nvSpPr>
          <p:cNvPr id="8" name="Text 4"/>
          <p:cNvSpPr txBox="1"/>
          <p:nvPr/>
        </p:nvSpPr>
        <p:spPr>
          <a:xfrm>
            <a:off x="82296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Qwen3.5-9B, local in LM Studio. Writes and corrects code</a:t>
            </a:r>
            <a:endParaRPr lang="en-US" sz="1400" dirty="0"/>
          </a:p>
        </p:txBody>
      </p:sp>
      <p:sp>
        <p:nvSpPr>
          <p:cNvPr id="9" name="Arrow"/>
          <p:cNvSpPr/>
          <p:nvPr/>
        </p:nvSpPr>
        <p:spPr>
          <a:xfrm>
            <a:off x="303580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10" name="Card"/>
          <p:cNvSpPr/>
          <p:nvPr/>
        </p:nvSpPr>
        <p:spPr>
          <a:xfrm>
            <a:off x="3429000" y="1737360"/>
            <a:ext cx="2423160" cy="2651760"/>
          </a:xfrm>
          <a:prstGeom prst="roundRect">
            <a:avLst>
              <a:gd name="adj" fmla="val 4528"/>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1" name="IconCircle"/>
          <p:cNvSpPr/>
          <p:nvPr/>
        </p:nvSpPr>
        <p:spPr>
          <a:xfrm>
            <a:off x="3703320" y="1965960"/>
            <a:ext cx="822960" cy="822960"/>
          </a:xfrm>
          <a:prstGeom prst="ellipse">
            <a:avLst/>
          </a:prstGeom>
          <a:solidFill>
            <a:srgbClr val="8FC1FF">
              <a:alpha val="20000"/>
            </a:srgbClr>
          </a:solidFill>
          <a:ln w="15875">
            <a:solidFill>
              <a:srgbClr val="8FC1FF"/>
            </a:solidFill>
            <a:prstDash val="solid"/>
          </a:ln>
        </p:spPr>
        <p:txBody>
          <a:bodyPr/>
          <a:lstStyle/>
          <a:p>
            <a:endParaRPr lang="en-GB"/>
          </a:p>
        </p:txBody>
      </p:sp>
      <p:pic>
        <p:nvPicPr>
          <p:cNvPr id="12" name="Image 1" descr="icon"/>
          <p:cNvPicPr>
            <a:picLocks noChangeAspect="1"/>
          </p:cNvPicPr>
          <p:nvPr/>
        </p:nvPicPr>
        <p:blipFill>
          <a:blip r:embed="rId4"/>
          <a:stretch>
            <a:fillRect/>
          </a:stretch>
        </p:blipFill>
        <p:spPr>
          <a:xfrm>
            <a:off x="3933749" y="2196389"/>
            <a:ext cx="362102" cy="362102"/>
          </a:xfrm>
          <a:prstGeom prst="rect">
            <a:avLst/>
          </a:prstGeom>
        </p:spPr>
      </p:pic>
      <p:sp>
        <p:nvSpPr>
          <p:cNvPr id="13" name="Text 8"/>
          <p:cNvSpPr txBox="1"/>
          <p:nvPr/>
        </p:nvSpPr>
        <p:spPr>
          <a:xfrm>
            <a:off x="3703320" y="2926080"/>
            <a:ext cx="1874520" cy="365760"/>
          </a:xfrm>
          <a:prstGeom prst="rect">
            <a:avLst/>
          </a:prstGeom>
          <a:noFill/>
          <a:ln/>
        </p:spPr>
        <p:txBody>
          <a:bodyPr wrap="square" lIns="0" tIns="0" rIns="0" bIns="0" rtlCol="0" anchor="t"/>
          <a:lstStyle/>
          <a:p>
            <a:pPr marL="0" indent="0">
              <a:buNone/>
            </a:pPr>
            <a:r>
              <a:rPr lang="en-US" sz="1500" b="1" kern="0" spc="200" dirty="0">
                <a:solidFill>
                  <a:srgbClr val="8FC1FF"/>
                </a:solidFill>
                <a:latin typeface="Calibri" pitchFamily="34" charset="0"/>
                <a:ea typeface="Calibri" pitchFamily="34" charset="-122"/>
                <a:cs typeface="Calibri" pitchFamily="34" charset="-120"/>
              </a:rPr>
              <a:t>VERIFY</a:t>
            </a:r>
            <a:endParaRPr lang="en-US" sz="1500" dirty="0"/>
          </a:p>
        </p:txBody>
      </p:sp>
      <p:sp>
        <p:nvSpPr>
          <p:cNvPr id="14" name="Text 9"/>
          <p:cNvSpPr txBox="1"/>
          <p:nvPr/>
        </p:nvSpPr>
        <p:spPr>
          <a:xfrm>
            <a:off x="370332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verify_candidate: a deterministic tool checks every API claim</a:t>
            </a:r>
            <a:endParaRPr lang="en-US" sz="1400" dirty="0"/>
          </a:p>
        </p:txBody>
      </p:sp>
      <p:sp>
        <p:nvSpPr>
          <p:cNvPr id="15" name="Arrow"/>
          <p:cNvSpPr/>
          <p:nvPr/>
        </p:nvSpPr>
        <p:spPr>
          <a:xfrm>
            <a:off x="591616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16" name="Card"/>
          <p:cNvSpPr/>
          <p:nvPr/>
        </p:nvSpPr>
        <p:spPr>
          <a:xfrm>
            <a:off x="6309360" y="1737360"/>
            <a:ext cx="2423160" cy="2651760"/>
          </a:xfrm>
          <a:prstGeom prst="roundRect">
            <a:avLst>
              <a:gd name="adj" fmla="val 4528"/>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7" name="IconCircle"/>
          <p:cNvSpPr/>
          <p:nvPr/>
        </p:nvSpPr>
        <p:spPr>
          <a:xfrm>
            <a:off x="6583680" y="1965960"/>
            <a:ext cx="822960" cy="82296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8" name="Image 2" descr="icon"/>
          <p:cNvPicPr>
            <a:picLocks noChangeAspect="1"/>
          </p:cNvPicPr>
          <p:nvPr/>
        </p:nvPicPr>
        <p:blipFill>
          <a:blip r:embed="rId5"/>
          <a:stretch>
            <a:fillRect/>
          </a:stretch>
        </p:blipFill>
        <p:spPr>
          <a:xfrm>
            <a:off x="6814109" y="2196389"/>
            <a:ext cx="362102" cy="362102"/>
          </a:xfrm>
          <a:prstGeom prst="rect">
            <a:avLst/>
          </a:prstGeom>
        </p:spPr>
      </p:pic>
      <p:sp>
        <p:nvSpPr>
          <p:cNvPr id="19" name="Text 13"/>
          <p:cNvSpPr txBox="1"/>
          <p:nvPr/>
        </p:nvSpPr>
        <p:spPr>
          <a:xfrm>
            <a:off x="6583680" y="2926080"/>
            <a:ext cx="1874520" cy="365760"/>
          </a:xfrm>
          <a:prstGeom prst="rect">
            <a:avLst/>
          </a:prstGeom>
          <a:noFill/>
          <a:ln/>
        </p:spPr>
        <p:txBody>
          <a:bodyPr wrap="square" lIns="0" tIns="0" rIns="0" bIns="0" rtlCol="0" anchor="t"/>
          <a:lstStyle/>
          <a:p>
            <a:pPr marL="0" indent="0">
              <a:buNone/>
            </a:pPr>
            <a:r>
              <a:rPr lang="en-US" sz="1500" b="1" kern="0" spc="200" dirty="0">
                <a:solidFill>
                  <a:srgbClr val="F7E23B"/>
                </a:solidFill>
                <a:latin typeface="Calibri" pitchFamily="34" charset="0"/>
                <a:ea typeface="Calibri" pitchFamily="34" charset="-122"/>
                <a:cs typeface="Calibri" pitchFamily="34" charset="-120"/>
              </a:rPr>
              <a:t>DECIDE</a:t>
            </a:r>
            <a:endParaRPr lang="en-US" sz="1500" dirty="0"/>
          </a:p>
        </p:txBody>
      </p:sp>
      <p:sp>
        <p:nvSpPr>
          <p:cNvPr id="20" name="Text 14"/>
          <p:cNvSpPr txBox="1"/>
          <p:nvPr/>
        </p:nvSpPr>
        <p:spPr>
          <a:xfrm>
            <a:off x="658368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Policy: deliver, flag, correct once, or withhold</a:t>
            </a:r>
            <a:endParaRPr lang="en-US" sz="1400" dirty="0"/>
          </a:p>
        </p:txBody>
      </p:sp>
      <p:sp>
        <p:nvSpPr>
          <p:cNvPr id="21" name="Arrow"/>
          <p:cNvSpPr/>
          <p:nvPr/>
        </p:nvSpPr>
        <p:spPr>
          <a:xfrm>
            <a:off x="879652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22" name="Card"/>
          <p:cNvSpPr/>
          <p:nvPr/>
        </p:nvSpPr>
        <p:spPr>
          <a:xfrm>
            <a:off x="9189720" y="1737360"/>
            <a:ext cx="2423160" cy="2651760"/>
          </a:xfrm>
          <a:prstGeom prst="roundRect">
            <a:avLst>
              <a:gd name="adj" fmla="val 4528"/>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23" name="IconCircle"/>
          <p:cNvSpPr/>
          <p:nvPr/>
        </p:nvSpPr>
        <p:spPr>
          <a:xfrm>
            <a:off x="9464040" y="1965960"/>
            <a:ext cx="822960" cy="822960"/>
          </a:xfrm>
          <a:prstGeom prst="ellipse">
            <a:avLst/>
          </a:prstGeom>
          <a:solidFill>
            <a:srgbClr val="3D95E8">
              <a:alpha val="20000"/>
            </a:srgbClr>
          </a:solidFill>
          <a:ln w="15875">
            <a:solidFill>
              <a:srgbClr val="3D95E8"/>
            </a:solidFill>
            <a:prstDash val="solid"/>
          </a:ln>
        </p:spPr>
        <p:txBody>
          <a:bodyPr/>
          <a:lstStyle/>
          <a:p>
            <a:endParaRPr lang="en-GB"/>
          </a:p>
        </p:txBody>
      </p:sp>
      <p:pic>
        <p:nvPicPr>
          <p:cNvPr id="24" name="Image 3" descr="icon"/>
          <p:cNvPicPr>
            <a:picLocks noChangeAspect="1"/>
          </p:cNvPicPr>
          <p:nvPr/>
        </p:nvPicPr>
        <p:blipFill>
          <a:blip r:embed="rId6"/>
          <a:stretch>
            <a:fillRect/>
          </a:stretch>
        </p:blipFill>
        <p:spPr>
          <a:xfrm>
            <a:off x="9694469" y="2196389"/>
            <a:ext cx="362102" cy="362102"/>
          </a:xfrm>
          <a:prstGeom prst="rect">
            <a:avLst/>
          </a:prstGeom>
        </p:spPr>
      </p:pic>
      <p:sp>
        <p:nvSpPr>
          <p:cNvPr id="25" name="Text 18"/>
          <p:cNvSpPr txBox="1"/>
          <p:nvPr/>
        </p:nvSpPr>
        <p:spPr>
          <a:xfrm>
            <a:off x="9464040" y="2926080"/>
            <a:ext cx="1874520" cy="365760"/>
          </a:xfrm>
          <a:prstGeom prst="rect">
            <a:avLst/>
          </a:prstGeom>
          <a:noFill/>
          <a:ln/>
        </p:spPr>
        <p:txBody>
          <a:bodyPr wrap="square" lIns="0" tIns="0" rIns="0" bIns="0" rtlCol="0" anchor="t"/>
          <a:lstStyle/>
          <a:p>
            <a:pPr marL="0" indent="0">
              <a:buNone/>
            </a:pPr>
            <a:r>
              <a:rPr lang="en-US" sz="1500" b="1" kern="0" spc="200" dirty="0">
                <a:solidFill>
                  <a:srgbClr val="3D95E8"/>
                </a:solidFill>
                <a:latin typeface="Calibri" pitchFamily="34" charset="0"/>
                <a:ea typeface="Calibri" pitchFamily="34" charset="-122"/>
                <a:cs typeface="Calibri" pitchFamily="34" charset="-120"/>
              </a:rPr>
              <a:t>USER</a:t>
            </a:r>
            <a:endParaRPr lang="en-US" sz="1500" dirty="0"/>
          </a:p>
        </p:txBody>
      </p:sp>
      <p:sp>
        <p:nvSpPr>
          <p:cNvPr id="26" name="Text 19"/>
          <p:cNvSpPr txBox="1"/>
          <p:nvPr/>
        </p:nvSpPr>
        <p:spPr>
          <a:xfrm>
            <a:off x="946404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Only verified code reaches the user</a:t>
            </a:r>
            <a:endParaRPr lang="en-US" sz="1400" dirty="0"/>
          </a:p>
        </p:txBody>
      </p:sp>
      <p:sp>
        <p:nvSpPr>
          <p:cNvPr id="27" name="Text 20"/>
          <p:cNvSpPr txBox="1"/>
          <p:nvPr/>
        </p:nvSpPr>
        <p:spPr>
          <a:xfrm>
            <a:off x="548640" y="4709160"/>
            <a:ext cx="11064240" cy="4572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Why a tool, not a judge model?  A model used as a judge can itself hallucinate. A contract check cannot.</a:t>
            </a:r>
            <a:endParaRPr lang="en-US" sz="1800" dirty="0"/>
          </a:p>
        </p:txBody>
      </p:sp>
      <p:sp>
        <p:nvSpPr>
          <p:cNvPr id="28" name="Text 21"/>
          <p:cNvSpPr txBox="1"/>
          <p:nvPr/>
        </p:nvSpPr>
        <p:spPr>
          <a:xfrm>
            <a:off x="548640" y="5257800"/>
            <a:ext cx="3566160" cy="502920"/>
          </a:xfrm>
          <a:prstGeom prst="rect">
            <a:avLst/>
          </a:prstGeom>
          <a:noFill/>
          <a:ln/>
        </p:spPr>
        <p:txBody>
          <a:bodyPr wrap="square" lIns="0" tIns="0" rIns="0" bIns="0" rtlCol="0" anchor="t"/>
          <a:lstStyle/>
          <a:p>
            <a:pPr marL="0" indent="0">
              <a:buNone/>
            </a:pPr>
            <a:r>
              <a:rPr lang="en-US" sz="2600" b="1" dirty="0">
                <a:solidFill>
                  <a:srgbClr val="3D95E8"/>
                </a:solidFill>
                <a:latin typeface="Cambria" pitchFamily="34" charset="0"/>
                <a:ea typeface="Cambria" pitchFamily="34" charset="-122"/>
                <a:cs typeface="Cambria" pitchFamily="34" charset="-120"/>
              </a:rPr>
              <a:t>1,000 / 1,000</a:t>
            </a:r>
            <a:endParaRPr lang="en-US" sz="2600" dirty="0"/>
          </a:p>
        </p:txBody>
      </p:sp>
      <p:sp>
        <p:nvSpPr>
          <p:cNvPr id="29" name="Text 22"/>
          <p:cNvSpPr txBox="1"/>
          <p:nvPr/>
        </p:nvSpPr>
        <p:spPr>
          <a:xfrm>
            <a:off x="54864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reference solutions accepted, no false contradictions</a:t>
            </a:r>
            <a:endParaRPr lang="en-US" sz="1300" dirty="0"/>
          </a:p>
        </p:txBody>
      </p:sp>
      <p:sp>
        <p:nvSpPr>
          <p:cNvPr id="30" name="Text 23"/>
          <p:cNvSpPr txBox="1"/>
          <p:nvPr/>
        </p:nvSpPr>
        <p:spPr>
          <a:xfrm>
            <a:off x="4297680" y="5257800"/>
            <a:ext cx="3566160" cy="502920"/>
          </a:xfrm>
          <a:prstGeom prst="rect">
            <a:avLst/>
          </a:prstGeom>
          <a:noFill/>
          <a:ln/>
        </p:spPr>
        <p:txBody>
          <a:bodyPr wrap="square" lIns="0" tIns="0" rIns="0" bIns="0" rtlCol="0" anchor="t"/>
          <a:lstStyle/>
          <a:p>
            <a:pPr marL="0" indent="0">
              <a:buNone/>
            </a:pPr>
            <a:r>
              <a:rPr lang="en-US" sz="2600" b="1" dirty="0">
                <a:solidFill>
                  <a:srgbClr val="FF5A4F"/>
                </a:solidFill>
                <a:latin typeface="Cambria" pitchFamily="34" charset="0"/>
                <a:ea typeface="Cambria" pitchFamily="34" charset="-122"/>
                <a:cs typeface="Cambria" pitchFamily="34" charset="-120"/>
              </a:rPr>
              <a:t>3,000 / 3,000</a:t>
            </a:r>
            <a:endParaRPr lang="en-US" sz="2600" dirty="0"/>
          </a:p>
        </p:txBody>
      </p:sp>
      <p:sp>
        <p:nvSpPr>
          <p:cNvPr id="31" name="Text 24"/>
          <p:cNvSpPr txBox="1"/>
          <p:nvPr/>
        </p:nvSpPr>
        <p:spPr>
          <a:xfrm>
            <a:off x="429768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deliberately broken versions caught</a:t>
            </a:r>
            <a:endParaRPr lang="en-US" sz="1300" dirty="0"/>
          </a:p>
        </p:txBody>
      </p:sp>
      <p:sp>
        <p:nvSpPr>
          <p:cNvPr id="32" name="Text 25"/>
          <p:cNvSpPr txBox="1"/>
          <p:nvPr/>
        </p:nvSpPr>
        <p:spPr>
          <a:xfrm>
            <a:off x="8046720" y="5257800"/>
            <a:ext cx="3566160" cy="502920"/>
          </a:xfrm>
          <a:prstGeom prst="rect">
            <a:avLst/>
          </a:prstGeom>
          <a:noFill/>
          <a:ln/>
        </p:spPr>
        <p:txBody>
          <a:bodyPr wrap="square" lIns="0" tIns="0" rIns="0" bIns="0" rtlCol="0" anchor="t"/>
          <a:lstStyle/>
          <a:p>
            <a:pPr marL="0" indent="0">
              <a:buNone/>
            </a:pPr>
            <a:r>
              <a:rPr lang="en-US" sz="2600" b="1" dirty="0">
                <a:solidFill>
                  <a:srgbClr val="8FC1FF"/>
                </a:solidFill>
                <a:latin typeface="Cambria" pitchFamily="34" charset="0"/>
                <a:ea typeface="Cambria" pitchFamily="34" charset="-122"/>
                <a:cs typeface="Cambria" pitchFamily="34" charset="-120"/>
              </a:rPr>
              <a:t>0 lines</a:t>
            </a:r>
            <a:endParaRPr lang="en-US" sz="2600" dirty="0"/>
          </a:p>
        </p:txBody>
      </p:sp>
      <p:sp>
        <p:nvSpPr>
          <p:cNvPr id="33" name="Text 26"/>
          <p:cNvSpPr txBox="1"/>
          <p:nvPr/>
        </p:nvSpPr>
        <p:spPr>
          <a:xfrm>
            <a:off x="804672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of code shared with the independent evaluator</a:t>
            </a:r>
            <a:endParaRPr lang="en-US" sz="13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Six layers, one frozen source of truth</a:t>
            </a:r>
            <a:endParaRPr lang="en-US" sz="3400" dirty="0"/>
          </a:p>
        </p:txBody>
      </p:sp>
      <p:sp>
        <p:nvSpPr>
          <p:cNvPr id="4" name="Card"/>
          <p:cNvSpPr/>
          <p:nvPr/>
        </p:nvSpPr>
        <p:spPr>
          <a:xfrm>
            <a:off x="548640" y="14630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L1</a:t>
            </a:r>
            <a:endParaRPr lang="en-US" sz="3000" dirty="0"/>
          </a:p>
        </p:txBody>
      </p:sp>
      <p:pic>
        <p:nvPicPr>
          <p:cNvPr id="6" name="Image 0" descr="icon"/>
          <p:cNvPicPr>
            <a:picLocks noChangeAspect="1"/>
          </p:cNvPicPr>
          <p:nvPr/>
        </p:nvPicPr>
        <p:blipFill>
          <a:blip r:embed="rId3"/>
          <a:stretch>
            <a:fillRect/>
          </a:stretch>
        </p:blipFill>
        <p:spPr>
          <a:xfrm>
            <a:off x="3337560" y="1691640"/>
            <a:ext cx="457200" cy="457200"/>
          </a:xfrm>
          <a:prstGeom prst="rect">
            <a:avLst/>
          </a:prstGeom>
        </p:spPr>
      </p:pic>
      <p:sp>
        <p:nvSpPr>
          <p:cNvPr id="7" name="Text 3"/>
          <p:cNvSpPr txBox="1"/>
          <p:nvPr/>
        </p:nvSpPr>
        <p:spPr>
          <a:xfrm>
            <a:off x="82296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Imports exist</a:t>
            </a:r>
            <a:endParaRPr lang="en-US" sz="1700" dirty="0"/>
          </a:p>
        </p:txBody>
      </p:sp>
      <p:sp>
        <p:nvSpPr>
          <p:cNvPr id="8" name="Text 4"/>
          <p:cNvSpPr txBox="1"/>
          <p:nvPr/>
        </p:nvSpPr>
        <p:spPr>
          <a:xfrm>
            <a:off x="822960" y="25603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3</a:t>
            </a:r>
            <a:endParaRPr lang="en-US" sz="1200" dirty="0"/>
          </a:p>
        </p:txBody>
      </p:sp>
      <p:sp>
        <p:nvSpPr>
          <p:cNvPr id="9" name="Card"/>
          <p:cNvSpPr/>
          <p:nvPr/>
        </p:nvSpPr>
        <p:spPr>
          <a:xfrm>
            <a:off x="4297680" y="14630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457200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L2</a:t>
            </a:r>
            <a:endParaRPr lang="en-US" sz="3000" dirty="0"/>
          </a:p>
        </p:txBody>
      </p:sp>
      <p:pic>
        <p:nvPicPr>
          <p:cNvPr id="11" name="Image 1" descr="icon"/>
          <p:cNvPicPr>
            <a:picLocks noChangeAspect="1"/>
          </p:cNvPicPr>
          <p:nvPr/>
        </p:nvPicPr>
        <p:blipFill>
          <a:blip r:embed="rId4"/>
          <a:stretch>
            <a:fillRect/>
          </a:stretch>
        </p:blipFill>
        <p:spPr>
          <a:xfrm>
            <a:off x="7086600" y="1691640"/>
            <a:ext cx="457200" cy="457200"/>
          </a:xfrm>
          <a:prstGeom prst="rect">
            <a:avLst/>
          </a:prstGeom>
        </p:spPr>
      </p:pic>
      <p:sp>
        <p:nvSpPr>
          <p:cNvPr id="12" name="Text 7"/>
          <p:cNvSpPr txBox="1"/>
          <p:nvPr/>
        </p:nvSpPr>
        <p:spPr>
          <a:xfrm>
            <a:off x="457200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Pyright type check</a:t>
            </a:r>
            <a:endParaRPr lang="en-US" sz="1700" dirty="0"/>
          </a:p>
        </p:txBody>
      </p:sp>
      <p:sp>
        <p:nvSpPr>
          <p:cNvPr id="13" name="Text 8"/>
          <p:cNvSpPr txBox="1"/>
          <p:nvPr/>
        </p:nvSpPr>
        <p:spPr>
          <a:xfrm>
            <a:off x="4572000" y="25603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3</a:t>
            </a:r>
            <a:endParaRPr lang="en-US" sz="1200" dirty="0"/>
          </a:p>
        </p:txBody>
      </p:sp>
      <p:sp>
        <p:nvSpPr>
          <p:cNvPr id="14" name="Card"/>
          <p:cNvSpPr/>
          <p:nvPr/>
        </p:nvSpPr>
        <p:spPr>
          <a:xfrm>
            <a:off x="8046720" y="1463040"/>
            <a:ext cx="3566160" cy="1417320"/>
          </a:xfrm>
          <a:prstGeom prst="roundRect">
            <a:avLst>
              <a:gd name="adj" fmla="val 7742"/>
            </a:avLst>
          </a:prstGeom>
          <a:solidFill>
            <a:srgbClr val="1E3A66"/>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832104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L3</a:t>
            </a:r>
            <a:endParaRPr lang="en-US" sz="3000" dirty="0"/>
          </a:p>
        </p:txBody>
      </p:sp>
      <p:pic>
        <p:nvPicPr>
          <p:cNvPr id="16" name="Image 2" descr="icon"/>
          <p:cNvPicPr>
            <a:picLocks noChangeAspect="1"/>
          </p:cNvPicPr>
          <p:nvPr/>
        </p:nvPicPr>
        <p:blipFill>
          <a:blip r:embed="rId5"/>
          <a:stretch>
            <a:fillRect/>
          </a:stretch>
        </p:blipFill>
        <p:spPr>
          <a:xfrm>
            <a:off x="10835640" y="1691640"/>
            <a:ext cx="457200" cy="457200"/>
          </a:xfrm>
          <a:prstGeom prst="rect">
            <a:avLst/>
          </a:prstGeom>
        </p:spPr>
      </p:pic>
      <p:sp>
        <p:nvSpPr>
          <p:cNvPr id="17" name="Text 11"/>
          <p:cNvSpPr txBox="1"/>
          <p:nvPr/>
        </p:nvSpPr>
        <p:spPr>
          <a:xfrm>
            <a:off x="832104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Host, path, method vs spec</a:t>
            </a:r>
            <a:endParaRPr lang="en-US" sz="1700" dirty="0"/>
          </a:p>
        </p:txBody>
      </p:sp>
      <p:sp>
        <p:nvSpPr>
          <p:cNvPr id="18" name="Text 12"/>
          <p:cNvSpPr txBox="1"/>
          <p:nvPr/>
        </p:nvSpPr>
        <p:spPr>
          <a:xfrm>
            <a:off x="8321040" y="2560320"/>
            <a:ext cx="3017520" cy="274320"/>
          </a:xfrm>
          <a:prstGeom prst="rect">
            <a:avLst/>
          </a:prstGeom>
          <a:noFill/>
          <a:ln/>
        </p:spPr>
        <p:txBody>
          <a:bodyPr wrap="square" lIns="0" tIns="0" rIns="0" bIns="0" rtlCol="0" anchor="t"/>
          <a:lstStyle/>
          <a:p>
            <a:pPr marL="0" indent="0">
              <a:buNone/>
            </a:pPr>
            <a:r>
              <a:rPr lang="en-US" sz="1200" b="1" dirty="0">
                <a:solidFill>
                  <a:srgbClr val="8FC1FF"/>
                </a:solidFill>
                <a:latin typeface="Calibri" pitchFamily="34" charset="0"/>
                <a:ea typeface="Calibri" pitchFamily="34" charset="-122"/>
                <a:cs typeface="Calibri" pitchFamily="34" charset="-120"/>
              </a:rPr>
              <a:t>weight 4  ·  most important</a:t>
            </a:r>
            <a:endParaRPr lang="en-US" sz="1200" dirty="0"/>
          </a:p>
        </p:txBody>
      </p:sp>
      <p:sp>
        <p:nvSpPr>
          <p:cNvPr id="19" name="Card"/>
          <p:cNvSpPr/>
          <p:nvPr/>
        </p:nvSpPr>
        <p:spPr>
          <a:xfrm>
            <a:off x="54864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0" name="Text 14"/>
          <p:cNvSpPr txBox="1"/>
          <p:nvPr/>
        </p:nvSpPr>
        <p:spPr>
          <a:xfrm>
            <a:off x="82296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L4</a:t>
            </a:r>
            <a:endParaRPr lang="en-US" sz="3000" dirty="0"/>
          </a:p>
        </p:txBody>
      </p:sp>
      <p:pic>
        <p:nvPicPr>
          <p:cNvPr id="21" name="Image 3" descr="icon"/>
          <p:cNvPicPr>
            <a:picLocks noChangeAspect="1"/>
          </p:cNvPicPr>
          <p:nvPr/>
        </p:nvPicPr>
        <p:blipFill>
          <a:blip r:embed="rId6"/>
          <a:stretch>
            <a:fillRect/>
          </a:stretch>
        </p:blipFill>
        <p:spPr>
          <a:xfrm>
            <a:off x="3337560" y="3291840"/>
            <a:ext cx="457200" cy="457200"/>
          </a:xfrm>
          <a:prstGeom prst="rect">
            <a:avLst/>
          </a:prstGeom>
        </p:spPr>
      </p:pic>
      <p:sp>
        <p:nvSpPr>
          <p:cNvPr id="22" name="Text 15"/>
          <p:cNvSpPr txBox="1"/>
          <p:nvPr/>
        </p:nvSpPr>
        <p:spPr>
          <a:xfrm>
            <a:off x="82296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Request parameters</a:t>
            </a:r>
            <a:endParaRPr lang="en-US" sz="1700" dirty="0"/>
          </a:p>
        </p:txBody>
      </p:sp>
      <p:sp>
        <p:nvSpPr>
          <p:cNvPr id="23" name="Text 16"/>
          <p:cNvSpPr txBox="1"/>
          <p:nvPr/>
        </p:nvSpPr>
        <p:spPr>
          <a:xfrm>
            <a:off x="82296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2</a:t>
            </a:r>
            <a:endParaRPr lang="en-US" sz="1200" dirty="0"/>
          </a:p>
        </p:txBody>
      </p:sp>
      <p:sp>
        <p:nvSpPr>
          <p:cNvPr id="24" name="Card"/>
          <p:cNvSpPr/>
          <p:nvPr/>
        </p:nvSpPr>
        <p:spPr>
          <a:xfrm>
            <a:off x="429768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5" name="Text 18"/>
          <p:cNvSpPr txBox="1"/>
          <p:nvPr/>
        </p:nvSpPr>
        <p:spPr>
          <a:xfrm>
            <a:off x="457200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L5</a:t>
            </a:r>
            <a:endParaRPr lang="en-US" sz="3000" dirty="0"/>
          </a:p>
        </p:txBody>
      </p:sp>
      <p:pic>
        <p:nvPicPr>
          <p:cNvPr id="26" name="Image 4" descr="icon"/>
          <p:cNvPicPr>
            <a:picLocks noChangeAspect="1"/>
          </p:cNvPicPr>
          <p:nvPr/>
        </p:nvPicPr>
        <p:blipFill>
          <a:blip r:embed="rId7"/>
          <a:stretch>
            <a:fillRect/>
          </a:stretch>
        </p:blipFill>
        <p:spPr>
          <a:xfrm>
            <a:off x="7086600" y="3291840"/>
            <a:ext cx="457200" cy="457200"/>
          </a:xfrm>
          <a:prstGeom prst="rect">
            <a:avLst/>
          </a:prstGeom>
        </p:spPr>
      </p:pic>
      <p:sp>
        <p:nvSpPr>
          <p:cNvPr id="27" name="Text 19"/>
          <p:cNvSpPr txBox="1"/>
          <p:nvPr/>
        </p:nvSpPr>
        <p:spPr>
          <a:xfrm>
            <a:off x="457200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Response fields read</a:t>
            </a:r>
            <a:endParaRPr lang="en-US" sz="1700" dirty="0"/>
          </a:p>
        </p:txBody>
      </p:sp>
      <p:sp>
        <p:nvSpPr>
          <p:cNvPr id="28" name="Text 20"/>
          <p:cNvSpPr txBox="1"/>
          <p:nvPr/>
        </p:nvSpPr>
        <p:spPr>
          <a:xfrm>
            <a:off x="457200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1</a:t>
            </a:r>
            <a:endParaRPr lang="en-US" sz="1200" dirty="0"/>
          </a:p>
        </p:txBody>
      </p:sp>
      <p:sp>
        <p:nvSpPr>
          <p:cNvPr id="29" name="Card"/>
          <p:cNvSpPr/>
          <p:nvPr/>
        </p:nvSpPr>
        <p:spPr>
          <a:xfrm>
            <a:off x="804672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0" name="Text 22"/>
          <p:cNvSpPr txBox="1"/>
          <p:nvPr/>
        </p:nvSpPr>
        <p:spPr>
          <a:xfrm>
            <a:off x="832104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L6</a:t>
            </a:r>
            <a:endParaRPr lang="en-US" sz="3000" dirty="0"/>
          </a:p>
        </p:txBody>
      </p:sp>
      <p:pic>
        <p:nvPicPr>
          <p:cNvPr id="31" name="Image 5" descr="icon"/>
          <p:cNvPicPr>
            <a:picLocks noChangeAspect="1"/>
          </p:cNvPicPr>
          <p:nvPr/>
        </p:nvPicPr>
        <p:blipFill>
          <a:blip r:embed="rId8"/>
          <a:stretch>
            <a:fillRect/>
          </a:stretch>
        </p:blipFill>
        <p:spPr>
          <a:xfrm>
            <a:off x="10835640" y="3291840"/>
            <a:ext cx="457200" cy="457200"/>
          </a:xfrm>
          <a:prstGeom prst="rect">
            <a:avLst/>
          </a:prstGeom>
        </p:spPr>
      </p:pic>
      <p:sp>
        <p:nvSpPr>
          <p:cNvPr id="32" name="Text 23"/>
          <p:cNvSpPr txBox="1"/>
          <p:nvPr/>
        </p:nvSpPr>
        <p:spPr>
          <a:xfrm>
            <a:off x="832104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Authentication</a:t>
            </a:r>
            <a:endParaRPr lang="en-US" sz="1700" dirty="0"/>
          </a:p>
        </p:txBody>
      </p:sp>
      <p:sp>
        <p:nvSpPr>
          <p:cNvPr id="33" name="Text 24"/>
          <p:cNvSpPr txBox="1"/>
          <p:nvPr/>
        </p:nvSpPr>
        <p:spPr>
          <a:xfrm>
            <a:off x="832104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2</a:t>
            </a:r>
            <a:endParaRPr lang="en-US" sz="1200" dirty="0"/>
          </a:p>
        </p:txBody>
      </p:sp>
      <p:sp>
        <p:nvSpPr>
          <p:cNvPr id="34" name="Card"/>
          <p:cNvSpPr/>
          <p:nvPr/>
        </p:nvSpPr>
        <p:spPr>
          <a:xfrm>
            <a:off x="548640" y="4709160"/>
            <a:ext cx="11064240" cy="1417320"/>
          </a:xfrm>
          <a:prstGeom prst="roundRect">
            <a:avLst>
              <a:gd name="adj" fmla="val 7742"/>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35" name="Text 26"/>
          <p:cNvSpPr txBox="1"/>
          <p:nvPr/>
        </p:nvSpPr>
        <p:spPr>
          <a:xfrm>
            <a:off x="868680" y="4846320"/>
            <a:ext cx="2011680" cy="640080"/>
          </a:xfrm>
          <a:prstGeom prst="rect">
            <a:avLst/>
          </a:prstGeom>
          <a:noFill/>
          <a:ln/>
        </p:spPr>
        <p:txBody>
          <a:bodyPr wrap="square" lIns="0" tIns="0" rIns="0" bIns="0" rtlCol="0" anchor="t"/>
          <a:lstStyle/>
          <a:p>
            <a:pPr marL="0" indent="0">
              <a:buNone/>
            </a:pPr>
            <a:r>
              <a:rPr lang="en-US" sz="3400" b="1" dirty="0">
                <a:solidFill>
                  <a:srgbClr val="F7E23B"/>
                </a:solidFill>
                <a:latin typeface="Cambria" pitchFamily="34" charset="0"/>
                <a:ea typeface="Cambria" pitchFamily="34" charset="-122"/>
                <a:cs typeface="Cambria" pitchFamily="34" charset="-120"/>
              </a:rPr>
              <a:t>EWCS</a:t>
            </a:r>
            <a:endParaRPr lang="en-US" sz="3400" dirty="0"/>
          </a:p>
        </p:txBody>
      </p:sp>
      <p:sp>
        <p:nvSpPr>
          <p:cNvPr id="36" name="Text 27"/>
          <p:cNvSpPr txBox="1"/>
          <p:nvPr/>
        </p:nvSpPr>
        <p:spPr>
          <a:xfrm>
            <a:off x="868680" y="5440680"/>
            <a:ext cx="292608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Evidence-Weighted Confidence Score</a:t>
            </a:r>
            <a:endParaRPr lang="en-US" sz="1300" dirty="0"/>
          </a:p>
        </p:txBody>
      </p:sp>
      <p:sp>
        <p:nvSpPr>
          <p:cNvPr id="37" name="Text 28"/>
          <p:cNvSpPr txBox="1"/>
          <p:nvPr/>
        </p:nvSpPr>
        <p:spPr>
          <a:xfrm>
            <a:off x="4023360" y="4709160"/>
            <a:ext cx="7406640" cy="14173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The share of verification weight supported by positive evidence, discounted for weaker evidence (e.g. specs we wrote ourselves). </a:t>
            </a:r>
            <a:r>
              <a:rPr lang="en-US" sz="1700" b="1" dirty="0">
                <a:solidFill>
                  <a:srgbClr val="F7E23B"/>
                </a:solidFill>
                <a:latin typeface="Calibri" pitchFamily="34" charset="0"/>
                <a:ea typeface="Calibri" pitchFamily="34" charset="-122"/>
                <a:cs typeface="Calibri" pitchFamily="34" charset="-120"/>
              </a:rPr>
              <a:t>It measures evidence coverage. It is not a probability of correctness.</a:t>
            </a:r>
            <a:endParaRPr lang="en-US" sz="17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How the confidence score is built</a:t>
            </a:r>
            <a:endParaRPr lang="en-US" sz="3400" dirty="0"/>
          </a:p>
        </p:txBody>
      </p:sp>
      <p:sp>
        <p:nvSpPr>
          <p:cNvPr id="4" name="Card"/>
          <p:cNvSpPr/>
          <p:nvPr/>
        </p:nvSpPr>
        <p:spPr>
          <a:xfrm>
            <a:off x="548640" y="1371600"/>
            <a:ext cx="11064240" cy="1920240"/>
          </a:xfrm>
          <a:prstGeom prst="roundRect">
            <a:avLst>
              <a:gd name="adj" fmla="val 5714"/>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4114800" y="1783080"/>
            <a:ext cx="1371600" cy="548640"/>
          </a:xfrm>
          <a:prstGeom prst="rect">
            <a:avLst/>
          </a:prstGeom>
          <a:noFill/>
          <a:ln/>
        </p:spPr>
        <p:txBody>
          <a:bodyPr wrap="none" lIns="0" tIns="0" rIns="0" bIns="0" rtlCol="0" anchor="t"/>
          <a:lstStyle/>
          <a:p>
            <a:pPr marL="0" indent="0">
              <a:buNone/>
            </a:pPr>
            <a:r>
              <a:rPr lang="en-US" sz="3000" b="1" i="1" dirty="0">
                <a:solidFill>
                  <a:srgbClr val="F7E23B"/>
                </a:solidFill>
                <a:latin typeface="Cambria" pitchFamily="34" charset="0"/>
                <a:ea typeface="Cambria" pitchFamily="34" charset="-122"/>
                <a:cs typeface="Cambria" pitchFamily="34" charset="-120"/>
              </a:rPr>
              <a:t>EWCS</a:t>
            </a:r>
            <a:endParaRPr lang="en-US" sz="3000" dirty="0"/>
          </a:p>
        </p:txBody>
      </p:sp>
      <p:sp>
        <p:nvSpPr>
          <p:cNvPr id="6" name="Text 3"/>
          <p:cNvSpPr txBox="1"/>
          <p:nvPr/>
        </p:nvSpPr>
        <p:spPr>
          <a:xfrm>
            <a:off x="5440680" y="1783080"/>
            <a:ext cx="1371600" cy="548640"/>
          </a:xfrm>
          <a:prstGeom prst="rect">
            <a:avLst/>
          </a:prstGeom>
          <a:noFill/>
          <a:ln/>
        </p:spPr>
        <p:txBody>
          <a:bodyPr wrap="none" lIns="0" tIns="0" rIns="0" bIns="0" rtlCol="0" anchor="t"/>
          <a:lstStyle/>
          <a:p>
            <a:pPr marL="0" indent="0">
              <a:buNone/>
            </a:pPr>
            <a:r>
              <a:rPr lang="en-US" sz="3000" dirty="0">
                <a:solidFill>
                  <a:srgbClr val="F7E23B"/>
                </a:solidFill>
                <a:latin typeface="Cambria" pitchFamily="34" charset="0"/>
                <a:ea typeface="Cambria" pitchFamily="34" charset="-122"/>
                <a:cs typeface="Cambria" pitchFamily="34" charset="-120"/>
              </a:rPr>
              <a:t>=</a:t>
            </a:r>
            <a:endParaRPr lang="en-US" sz="3000" dirty="0"/>
          </a:p>
        </p:txBody>
      </p:sp>
      <p:sp>
        <p:nvSpPr>
          <p:cNvPr id="7" name="Text 4"/>
          <p:cNvSpPr txBox="1"/>
          <p:nvPr/>
        </p:nvSpPr>
        <p:spPr>
          <a:xfrm>
            <a:off x="6172200"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Σ</a:t>
            </a:r>
            <a:endParaRPr lang="en-US" sz="2600" dirty="0"/>
          </a:p>
        </p:txBody>
      </p:sp>
      <p:sp>
        <p:nvSpPr>
          <p:cNvPr id="8" name="Text 5"/>
          <p:cNvSpPr txBox="1"/>
          <p:nvPr/>
        </p:nvSpPr>
        <p:spPr>
          <a:xfrm>
            <a:off x="6464808"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a:t>
            </a:r>
            <a:endParaRPr lang="en-US" sz="1400" dirty="0"/>
          </a:p>
        </p:txBody>
      </p:sp>
      <p:sp>
        <p:nvSpPr>
          <p:cNvPr id="9" name="Text 6"/>
          <p:cNvSpPr txBox="1"/>
          <p:nvPr/>
        </p:nvSpPr>
        <p:spPr>
          <a:xfrm>
            <a:off x="6922008"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w</a:t>
            </a:r>
            <a:endParaRPr lang="en-US" sz="2600" dirty="0"/>
          </a:p>
        </p:txBody>
      </p:sp>
      <p:sp>
        <p:nvSpPr>
          <p:cNvPr id="10" name="Text 7"/>
          <p:cNvSpPr txBox="1"/>
          <p:nvPr/>
        </p:nvSpPr>
        <p:spPr>
          <a:xfrm>
            <a:off x="7168896"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1" name="Text 8"/>
          <p:cNvSpPr txBox="1"/>
          <p:nvPr/>
        </p:nvSpPr>
        <p:spPr>
          <a:xfrm>
            <a:off x="7287768"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a:t>
            </a:r>
            <a:endParaRPr lang="en-US" sz="2600" dirty="0"/>
          </a:p>
        </p:txBody>
      </p:sp>
      <p:sp>
        <p:nvSpPr>
          <p:cNvPr id="12" name="Text 9"/>
          <p:cNvSpPr txBox="1"/>
          <p:nvPr/>
        </p:nvSpPr>
        <p:spPr>
          <a:xfrm>
            <a:off x="7470648"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t</a:t>
            </a:r>
            <a:endParaRPr lang="en-US" sz="2600" dirty="0"/>
          </a:p>
        </p:txBody>
      </p:sp>
      <p:sp>
        <p:nvSpPr>
          <p:cNvPr id="13" name="Text 10"/>
          <p:cNvSpPr txBox="1"/>
          <p:nvPr/>
        </p:nvSpPr>
        <p:spPr>
          <a:xfrm>
            <a:off x="7607808"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4" name="Text 11"/>
          <p:cNvSpPr txBox="1"/>
          <p:nvPr/>
        </p:nvSpPr>
        <p:spPr>
          <a:xfrm>
            <a:off x="7726680"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a:t>
            </a:r>
            <a:endParaRPr lang="en-US" sz="2600" dirty="0"/>
          </a:p>
        </p:txBody>
      </p:sp>
      <p:sp>
        <p:nvSpPr>
          <p:cNvPr id="15" name="Text 12"/>
          <p:cNvSpPr txBox="1"/>
          <p:nvPr/>
        </p:nvSpPr>
        <p:spPr>
          <a:xfrm>
            <a:off x="7909560"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c</a:t>
            </a:r>
            <a:endParaRPr lang="en-US" sz="2600" dirty="0"/>
          </a:p>
        </p:txBody>
      </p:sp>
      <p:sp>
        <p:nvSpPr>
          <p:cNvPr id="16" name="Text 13"/>
          <p:cNvSpPr txBox="1"/>
          <p:nvPr/>
        </p:nvSpPr>
        <p:spPr>
          <a:xfrm>
            <a:off x="8092440"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7" name="FractionBar"/>
          <p:cNvSpPr/>
          <p:nvPr/>
        </p:nvSpPr>
        <p:spPr>
          <a:xfrm>
            <a:off x="6035040" y="2212848"/>
            <a:ext cx="2286000" cy="0"/>
          </a:xfrm>
          <a:prstGeom prst="line">
            <a:avLst/>
          </a:prstGeom>
          <a:noFill/>
          <a:ln w="22225">
            <a:solidFill>
              <a:srgbClr val="F7E23B"/>
            </a:solidFill>
            <a:prstDash val="solid"/>
          </a:ln>
        </p:spPr>
        <p:txBody>
          <a:bodyPr/>
          <a:lstStyle/>
          <a:p>
            <a:endParaRPr lang="en-GB"/>
          </a:p>
        </p:txBody>
      </p:sp>
      <p:sp>
        <p:nvSpPr>
          <p:cNvPr id="18" name="Text 15"/>
          <p:cNvSpPr txBox="1"/>
          <p:nvPr/>
        </p:nvSpPr>
        <p:spPr>
          <a:xfrm>
            <a:off x="6629400" y="228600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Σ</a:t>
            </a:r>
            <a:endParaRPr lang="en-US" sz="2600" dirty="0"/>
          </a:p>
        </p:txBody>
      </p:sp>
      <p:sp>
        <p:nvSpPr>
          <p:cNvPr id="19" name="Text 16"/>
          <p:cNvSpPr txBox="1"/>
          <p:nvPr/>
        </p:nvSpPr>
        <p:spPr>
          <a:xfrm>
            <a:off x="6922008" y="246888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a:t>
            </a:r>
            <a:endParaRPr lang="en-US" sz="1400" dirty="0"/>
          </a:p>
        </p:txBody>
      </p:sp>
      <p:sp>
        <p:nvSpPr>
          <p:cNvPr id="20" name="Text 17"/>
          <p:cNvSpPr txBox="1"/>
          <p:nvPr/>
        </p:nvSpPr>
        <p:spPr>
          <a:xfrm>
            <a:off x="7379208" y="228600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w</a:t>
            </a:r>
            <a:endParaRPr lang="en-US" sz="2600" dirty="0"/>
          </a:p>
        </p:txBody>
      </p:sp>
      <p:sp>
        <p:nvSpPr>
          <p:cNvPr id="21" name="Text 18"/>
          <p:cNvSpPr txBox="1"/>
          <p:nvPr/>
        </p:nvSpPr>
        <p:spPr>
          <a:xfrm>
            <a:off x="7626096" y="246888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22" name="Text 19"/>
          <p:cNvSpPr txBox="1"/>
          <p:nvPr/>
        </p:nvSpPr>
        <p:spPr>
          <a:xfrm>
            <a:off x="822960" y="2926080"/>
            <a:ext cx="10515600" cy="274320"/>
          </a:xfrm>
          <a:prstGeom prst="rect">
            <a:avLst/>
          </a:prstGeom>
          <a:noFill/>
          <a:ln/>
        </p:spPr>
        <p:txBody>
          <a:bodyPr wrap="square" lIns="0" tIns="0" rIns="0" bIns="0" rtlCol="0" anchor="t"/>
          <a:lstStyle/>
          <a:p>
            <a:pPr marL="0" indent="0" algn="ctr">
              <a:buNone/>
            </a:pPr>
            <a:r>
              <a:rPr lang="en-US" sz="1400" dirty="0">
                <a:solidFill>
                  <a:srgbClr val="9FB2CC"/>
                </a:solidFill>
                <a:latin typeface="Calibri" pitchFamily="34" charset="0"/>
                <a:ea typeface="Calibri" pitchFamily="34" charset="-122"/>
                <a:cs typeface="Calibri" pitchFamily="34" charset="-120"/>
              </a:rPr>
              <a:t>A is the set of applicable layers</a:t>
            </a:r>
            <a:endParaRPr lang="en-US" sz="1400" dirty="0"/>
          </a:p>
        </p:txBody>
      </p:sp>
      <p:sp>
        <p:nvSpPr>
          <p:cNvPr id="23" name="Card"/>
          <p:cNvSpPr/>
          <p:nvPr/>
        </p:nvSpPr>
        <p:spPr>
          <a:xfrm>
            <a:off x="548640" y="3474720"/>
            <a:ext cx="3621024" cy="1188720"/>
          </a:xfrm>
          <a:prstGeom prst="roundRect">
            <a:avLst>
              <a:gd name="adj" fmla="val 923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24" name="Text 21"/>
          <p:cNvSpPr txBox="1"/>
          <p:nvPr/>
        </p:nvSpPr>
        <p:spPr>
          <a:xfrm>
            <a:off x="822960" y="3547872"/>
            <a:ext cx="109728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w</a:t>
            </a:r>
            <a:endParaRPr lang="en-US" sz="3000" dirty="0"/>
          </a:p>
        </p:txBody>
      </p:sp>
      <p:sp>
        <p:nvSpPr>
          <p:cNvPr id="25" name="Text 22"/>
          <p:cNvSpPr txBox="1"/>
          <p:nvPr/>
        </p:nvSpPr>
        <p:spPr>
          <a:xfrm>
            <a:off x="1554480"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Layer weight</a:t>
            </a:r>
            <a:endParaRPr lang="en-US" sz="1700" dirty="0"/>
          </a:p>
        </p:txBody>
      </p:sp>
      <p:sp>
        <p:nvSpPr>
          <p:cNvPr id="26" name="Text 23"/>
          <p:cNvSpPr txBox="1"/>
          <p:nvPr/>
        </p:nvSpPr>
        <p:spPr>
          <a:xfrm>
            <a:off x="822960"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Rank-sum weights 3, 3, 4, 2, 1, 2 for layers 1 to 6</a:t>
            </a:r>
            <a:endParaRPr lang="en-US" sz="1400" dirty="0"/>
          </a:p>
        </p:txBody>
      </p:sp>
      <p:sp>
        <p:nvSpPr>
          <p:cNvPr id="27" name="Card"/>
          <p:cNvSpPr/>
          <p:nvPr/>
        </p:nvSpPr>
        <p:spPr>
          <a:xfrm>
            <a:off x="4270248" y="3474720"/>
            <a:ext cx="3621024" cy="1188720"/>
          </a:xfrm>
          <a:prstGeom prst="roundRect">
            <a:avLst>
              <a:gd name="adj" fmla="val 923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28" name="Text 25"/>
          <p:cNvSpPr txBox="1"/>
          <p:nvPr/>
        </p:nvSpPr>
        <p:spPr>
          <a:xfrm>
            <a:off x="4544568" y="3547872"/>
            <a:ext cx="1097280" cy="548640"/>
          </a:xfrm>
          <a:prstGeom prst="rect">
            <a:avLst/>
          </a:prstGeom>
          <a:noFill/>
          <a:ln/>
        </p:spPr>
        <p:txBody>
          <a:bodyPr wrap="square" lIns="0" tIns="0" rIns="0" bIns="0" rtlCol="0" anchor="t"/>
          <a:lstStyle/>
          <a:p>
            <a:pPr marL="0" indent="0">
              <a:buNone/>
            </a:pPr>
            <a:r>
              <a:rPr lang="en-US" sz="3000" b="1" dirty="0">
                <a:solidFill>
                  <a:srgbClr val="3D95E8"/>
                </a:solidFill>
                <a:latin typeface="Cambria" pitchFamily="34" charset="0"/>
                <a:ea typeface="Cambria" pitchFamily="34" charset="-122"/>
                <a:cs typeface="Cambria" pitchFamily="34" charset="-120"/>
              </a:rPr>
              <a:t>t</a:t>
            </a:r>
            <a:endParaRPr lang="en-US" sz="3000" dirty="0"/>
          </a:p>
        </p:txBody>
      </p:sp>
      <p:sp>
        <p:nvSpPr>
          <p:cNvPr id="29" name="Text 26"/>
          <p:cNvSpPr txBox="1"/>
          <p:nvPr/>
        </p:nvSpPr>
        <p:spPr>
          <a:xfrm>
            <a:off x="5276088"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Evidence tier factor</a:t>
            </a:r>
            <a:endParaRPr lang="en-US" sz="1700" dirty="0"/>
          </a:p>
        </p:txBody>
      </p:sp>
      <p:sp>
        <p:nvSpPr>
          <p:cNvPr id="30" name="Text 27"/>
          <p:cNvSpPr txBox="1"/>
          <p:nvPr/>
        </p:nvSpPr>
        <p:spPr>
          <a:xfrm>
            <a:off x="4544568"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Stronger evidence counts for more (see below)</a:t>
            </a:r>
            <a:endParaRPr lang="en-US" sz="1400" dirty="0"/>
          </a:p>
        </p:txBody>
      </p:sp>
      <p:sp>
        <p:nvSpPr>
          <p:cNvPr id="31" name="Card"/>
          <p:cNvSpPr/>
          <p:nvPr/>
        </p:nvSpPr>
        <p:spPr>
          <a:xfrm>
            <a:off x="7991856" y="3474720"/>
            <a:ext cx="3621024" cy="1188720"/>
          </a:xfrm>
          <a:prstGeom prst="roundRect">
            <a:avLst>
              <a:gd name="adj" fmla="val 923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32" name="Text 29"/>
          <p:cNvSpPr txBox="1"/>
          <p:nvPr/>
        </p:nvSpPr>
        <p:spPr>
          <a:xfrm>
            <a:off x="8266176" y="3547872"/>
            <a:ext cx="1097280" cy="548640"/>
          </a:xfrm>
          <a:prstGeom prst="rect">
            <a:avLst/>
          </a:prstGeom>
          <a:noFill/>
          <a:ln/>
        </p:spPr>
        <p:txBody>
          <a:bodyPr wrap="square" lIns="0" tIns="0" rIns="0" bIns="0" rtlCol="0" anchor="t"/>
          <a:lstStyle/>
          <a:p>
            <a:pPr marL="0" indent="0">
              <a:buNone/>
            </a:pPr>
            <a:r>
              <a:rPr lang="en-US" sz="3000" b="1" dirty="0">
                <a:solidFill>
                  <a:srgbClr val="7F9CC4"/>
                </a:solidFill>
                <a:latin typeface="Cambria" pitchFamily="34" charset="0"/>
                <a:ea typeface="Cambria" pitchFamily="34" charset="-122"/>
                <a:cs typeface="Cambria" pitchFamily="34" charset="-120"/>
              </a:rPr>
              <a:t>c</a:t>
            </a:r>
            <a:endParaRPr lang="en-US" sz="3000" dirty="0"/>
          </a:p>
        </p:txBody>
      </p:sp>
      <p:sp>
        <p:nvSpPr>
          <p:cNvPr id="33" name="Text 30"/>
          <p:cNvSpPr txBox="1"/>
          <p:nvPr/>
        </p:nvSpPr>
        <p:spPr>
          <a:xfrm>
            <a:off x="8997696"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Check result</a:t>
            </a:r>
            <a:endParaRPr lang="en-US" sz="1700" dirty="0"/>
          </a:p>
        </p:txBody>
      </p:sp>
      <p:sp>
        <p:nvSpPr>
          <p:cNvPr id="34" name="Text 31"/>
          <p:cNvSpPr txBox="1"/>
          <p:nvPr/>
        </p:nvSpPr>
        <p:spPr>
          <a:xfrm>
            <a:off x="8266176"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1 when the layer is verified correct, otherwise 0</a:t>
            </a:r>
            <a:endParaRPr lang="en-US" sz="1400" dirty="0"/>
          </a:p>
        </p:txBody>
      </p:sp>
      <p:sp>
        <p:nvSpPr>
          <p:cNvPr id="35" name="Card"/>
          <p:cNvSpPr/>
          <p:nvPr/>
        </p:nvSpPr>
        <p:spPr>
          <a:xfrm>
            <a:off x="548640"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6" name="Text 33"/>
          <p:cNvSpPr txBox="1"/>
          <p:nvPr/>
        </p:nvSpPr>
        <p:spPr>
          <a:xfrm>
            <a:off x="777240"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1.00</a:t>
            </a:r>
            <a:endParaRPr lang="en-US" sz="2800" dirty="0"/>
          </a:p>
        </p:txBody>
      </p:sp>
      <p:sp>
        <p:nvSpPr>
          <p:cNvPr id="37" name="Text 34"/>
          <p:cNvSpPr txBox="1"/>
          <p:nvPr/>
        </p:nvSpPr>
        <p:spPr>
          <a:xfrm>
            <a:off x="1783080"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Provider specification</a:t>
            </a:r>
            <a:endParaRPr lang="en-US" sz="1400" dirty="0"/>
          </a:p>
        </p:txBody>
      </p:sp>
      <p:sp>
        <p:nvSpPr>
          <p:cNvPr id="38" name="Card"/>
          <p:cNvSpPr/>
          <p:nvPr/>
        </p:nvSpPr>
        <p:spPr>
          <a:xfrm>
            <a:off x="3346704"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9" name="Text 36"/>
          <p:cNvSpPr txBox="1"/>
          <p:nvPr/>
        </p:nvSpPr>
        <p:spPr>
          <a:xfrm>
            <a:off x="3575304"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0.80</a:t>
            </a:r>
            <a:endParaRPr lang="en-US" sz="2800" dirty="0"/>
          </a:p>
        </p:txBody>
      </p:sp>
      <p:sp>
        <p:nvSpPr>
          <p:cNvPr id="40" name="Text 37"/>
          <p:cNvSpPr txBox="1"/>
          <p:nvPr/>
        </p:nvSpPr>
        <p:spPr>
          <a:xfrm>
            <a:off x="4581144"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Curated specification or registry</a:t>
            </a:r>
            <a:endParaRPr lang="en-US" sz="1400" dirty="0"/>
          </a:p>
        </p:txBody>
      </p:sp>
      <p:sp>
        <p:nvSpPr>
          <p:cNvPr id="41" name="Card"/>
          <p:cNvSpPr/>
          <p:nvPr/>
        </p:nvSpPr>
        <p:spPr>
          <a:xfrm>
            <a:off x="6144768"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42" name="Text 39"/>
          <p:cNvSpPr txBox="1"/>
          <p:nvPr/>
        </p:nvSpPr>
        <p:spPr>
          <a:xfrm>
            <a:off x="6373368"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0.50</a:t>
            </a:r>
            <a:endParaRPr lang="en-US" sz="2800" dirty="0"/>
          </a:p>
        </p:txBody>
      </p:sp>
      <p:sp>
        <p:nvSpPr>
          <p:cNvPr id="43" name="Text 40"/>
          <p:cNvSpPr txBox="1"/>
          <p:nvPr/>
        </p:nvSpPr>
        <p:spPr>
          <a:xfrm>
            <a:off x="7379208"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Clean type check</a:t>
            </a:r>
            <a:endParaRPr lang="en-US" sz="1400" dirty="0"/>
          </a:p>
        </p:txBody>
      </p:sp>
      <p:sp>
        <p:nvSpPr>
          <p:cNvPr id="44" name="Card"/>
          <p:cNvSpPr/>
          <p:nvPr/>
        </p:nvSpPr>
        <p:spPr>
          <a:xfrm>
            <a:off x="8942832"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45" name="Text 42"/>
          <p:cNvSpPr txBox="1"/>
          <p:nvPr/>
        </p:nvSpPr>
        <p:spPr>
          <a:xfrm>
            <a:off x="9171432"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0.00</a:t>
            </a:r>
            <a:endParaRPr lang="en-US" sz="2800" dirty="0"/>
          </a:p>
        </p:txBody>
      </p:sp>
      <p:sp>
        <p:nvSpPr>
          <p:cNvPr id="46" name="Text 43"/>
          <p:cNvSpPr txBox="1"/>
          <p:nvPr/>
        </p:nvSpPr>
        <p:spPr>
          <a:xfrm>
            <a:off x="10177272"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No evidence</a:t>
            </a:r>
            <a:endParaRPr lang="en-US" sz="1400" dirty="0"/>
          </a:p>
        </p:txBody>
      </p:sp>
      <p:sp>
        <p:nvSpPr>
          <p:cNvPr id="47" name="Text 44"/>
          <p:cNvSpPr txBox="1"/>
          <p:nvPr/>
        </p:nvSpPr>
        <p:spPr>
          <a:xfrm>
            <a:off x="548640" y="5806440"/>
            <a:ext cx="11064240" cy="411480"/>
          </a:xfrm>
          <a:prstGeom prst="rect">
            <a:avLst/>
          </a:prstGeom>
          <a:noFill/>
          <a:ln/>
        </p:spPr>
        <p:txBody>
          <a:bodyPr wrap="square" lIns="0" tIns="0" rIns="0" bIns="0" rtlCol="0" anchor="t"/>
          <a:lstStyle/>
          <a:p>
            <a:pPr marL="0" indent="0">
              <a:buNone/>
            </a:pPr>
            <a:r>
              <a:rPr lang="en-US" sz="1700" b="1" dirty="0">
                <a:solidFill>
                  <a:srgbClr val="F7E23B"/>
                </a:solidFill>
                <a:latin typeface="Calibri" pitchFamily="34" charset="0"/>
                <a:ea typeface="Calibri" pitchFamily="34" charset="-122"/>
                <a:cs typeface="Calibri" pitchFamily="34" charset="-120"/>
              </a:rPr>
              <a:t>The score measures evidence coverage. It is not a probability that the code is correct.</a:t>
            </a:r>
            <a:endParaRPr lang="en-US" sz="17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10</a:t>
            </a:fld>
            <a:endParaRPr lang="en-US"/>
          </a:p>
        </p:txBody>
      </p:sp>
    </p:spTree>
    <p:extLst>
      <p:ext uri="{BB962C8B-B14F-4D97-AF65-F5344CB8AC3E}">
        <p14:creationId xmlns:p14="http://schemas.microsoft.com/office/powerpoint/2010/main" val="2427643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Three rules, in order</a:t>
            </a:r>
            <a:endParaRPr lang="en-US" sz="3400" dirty="0"/>
          </a:p>
        </p:txBody>
      </p:sp>
      <p:sp>
        <p:nvSpPr>
          <p:cNvPr id="4" name="Card"/>
          <p:cNvSpPr/>
          <p:nvPr/>
        </p:nvSpPr>
        <p:spPr>
          <a:xfrm>
            <a:off x="548640" y="1508760"/>
            <a:ext cx="3566160" cy="3657600"/>
          </a:xfrm>
          <a:prstGeom prst="roundRect">
            <a:avLst>
              <a:gd name="adj" fmla="val 3077"/>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1097280" cy="1005840"/>
          </a:xfrm>
          <a:prstGeom prst="rect">
            <a:avLst/>
          </a:prstGeom>
          <a:noFill/>
          <a:ln/>
        </p:spPr>
        <p:txBody>
          <a:bodyPr wrap="square" lIns="0" tIns="0" rIns="0" bIns="0" rtlCol="0" anchor="t"/>
          <a:lstStyle/>
          <a:p>
            <a:pPr marL="0" indent="0">
              <a:buNone/>
            </a:pPr>
            <a:r>
              <a:rPr lang="en-US" sz="7200" b="1" dirty="0">
                <a:solidFill>
                  <a:srgbClr val="FF5A4F"/>
                </a:solidFill>
                <a:latin typeface="Cambria" pitchFamily="34" charset="0"/>
                <a:ea typeface="Cambria" pitchFamily="34" charset="-122"/>
                <a:cs typeface="Cambria" pitchFamily="34" charset="-120"/>
              </a:rPr>
              <a:t>1</a:t>
            </a:r>
            <a:endParaRPr lang="en-US" sz="7200" dirty="0"/>
          </a:p>
        </p:txBody>
      </p:sp>
      <p:pic>
        <p:nvPicPr>
          <p:cNvPr id="6" name="Image 0" descr="icon"/>
          <p:cNvPicPr>
            <a:picLocks noChangeAspect="1"/>
          </p:cNvPicPr>
          <p:nvPr/>
        </p:nvPicPr>
        <p:blipFill>
          <a:blip r:embed="rId3"/>
          <a:stretch>
            <a:fillRect/>
          </a:stretch>
        </p:blipFill>
        <p:spPr>
          <a:xfrm>
            <a:off x="3246120" y="1874520"/>
            <a:ext cx="548640" cy="548640"/>
          </a:xfrm>
          <a:prstGeom prst="rect">
            <a:avLst/>
          </a:prstGeom>
        </p:spPr>
      </p:pic>
      <p:sp>
        <p:nvSpPr>
          <p:cNvPr id="7" name="Text 3"/>
          <p:cNvSpPr txBox="1"/>
          <p:nvPr/>
        </p:nvSpPr>
        <p:spPr>
          <a:xfrm>
            <a:off x="822960" y="2834640"/>
            <a:ext cx="3017520" cy="365760"/>
          </a:xfrm>
          <a:prstGeom prst="rect">
            <a:avLst/>
          </a:prstGeom>
          <a:noFill/>
          <a:ln/>
        </p:spPr>
        <p:txBody>
          <a:bodyPr wrap="square" lIns="0" tIns="0" rIns="0" bIns="0" rtlCol="0" anchor="t"/>
          <a:lstStyle/>
          <a:p>
            <a:pPr marL="0" indent="0">
              <a:buNone/>
            </a:pPr>
            <a:r>
              <a:rPr lang="en-US" sz="1500" b="1" kern="0" spc="200" dirty="0">
                <a:solidFill>
                  <a:srgbClr val="FF5A4F"/>
                </a:solidFill>
                <a:latin typeface="Calibri" pitchFamily="34" charset="0"/>
                <a:ea typeface="Calibri" pitchFamily="34" charset="-122"/>
                <a:cs typeface="Calibri" pitchFamily="34" charset="-120"/>
              </a:rPr>
              <a:t>SAFETY CONSTRAINT</a:t>
            </a:r>
            <a:endParaRPr lang="en-US" sz="1500" dirty="0"/>
          </a:p>
        </p:txBody>
      </p:sp>
      <p:sp>
        <p:nvSpPr>
          <p:cNvPr id="8" name="Text 4"/>
          <p:cNvSpPr txBox="1"/>
          <p:nvPr/>
        </p:nvSpPr>
        <p:spPr>
          <a:xfrm>
            <a:off x="82296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Any layer verified incorrect: never released. One correction allowed on the first attempt, then abstain.</a:t>
            </a:r>
            <a:endParaRPr lang="en-US" sz="1500" dirty="0"/>
          </a:p>
        </p:txBody>
      </p:sp>
      <p:sp>
        <p:nvSpPr>
          <p:cNvPr id="9" name="Card"/>
          <p:cNvSpPr/>
          <p:nvPr/>
        </p:nvSpPr>
        <p:spPr>
          <a:xfrm>
            <a:off x="4297680" y="1508760"/>
            <a:ext cx="3566160" cy="3657600"/>
          </a:xfrm>
          <a:prstGeom prst="roundRect">
            <a:avLst>
              <a:gd name="adj" fmla="val 3077"/>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4572000" y="1645920"/>
            <a:ext cx="1097280" cy="1005840"/>
          </a:xfrm>
          <a:prstGeom prst="rect">
            <a:avLst/>
          </a:prstGeom>
          <a:noFill/>
          <a:ln/>
        </p:spPr>
        <p:txBody>
          <a:bodyPr wrap="square" lIns="0" tIns="0" rIns="0" bIns="0" rtlCol="0" anchor="t"/>
          <a:lstStyle/>
          <a:p>
            <a:pPr marL="0" indent="0">
              <a:buNone/>
            </a:pPr>
            <a:r>
              <a:rPr lang="en-US" sz="7200" b="1" dirty="0">
                <a:solidFill>
                  <a:srgbClr val="F7E23B"/>
                </a:solidFill>
                <a:latin typeface="Cambria" pitchFamily="34" charset="0"/>
                <a:ea typeface="Cambria" pitchFamily="34" charset="-122"/>
                <a:cs typeface="Cambria" pitchFamily="34" charset="-120"/>
              </a:rPr>
              <a:t>2</a:t>
            </a:r>
            <a:endParaRPr lang="en-US" sz="7200" dirty="0"/>
          </a:p>
        </p:txBody>
      </p:sp>
      <p:pic>
        <p:nvPicPr>
          <p:cNvPr id="11" name="Image 1" descr="icon"/>
          <p:cNvPicPr>
            <a:picLocks noChangeAspect="1"/>
          </p:cNvPicPr>
          <p:nvPr/>
        </p:nvPicPr>
        <p:blipFill>
          <a:blip r:embed="rId4"/>
          <a:stretch>
            <a:fillRect/>
          </a:stretch>
        </p:blipFill>
        <p:spPr>
          <a:xfrm>
            <a:off x="6995160" y="1874520"/>
            <a:ext cx="548640" cy="548640"/>
          </a:xfrm>
          <a:prstGeom prst="rect">
            <a:avLst/>
          </a:prstGeom>
        </p:spPr>
      </p:pic>
      <p:sp>
        <p:nvSpPr>
          <p:cNvPr id="12" name="Text 7"/>
          <p:cNvSpPr txBox="1"/>
          <p:nvPr/>
        </p:nvSpPr>
        <p:spPr>
          <a:xfrm>
            <a:off x="4572000" y="2834640"/>
            <a:ext cx="3017520" cy="365760"/>
          </a:xfrm>
          <a:prstGeom prst="rect">
            <a:avLst/>
          </a:prstGeom>
          <a:noFill/>
          <a:ln/>
        </p:spPr>
        <p:txBody>
          <a:bodyPr wrap="square" lIns="0" tIns="0" rIns="0" bIns="0" rtlCol="0" anchor="t"/>
          <a:lstStyle/>
          <a:p>
            <a:pPr marL="0" indent="0">
              <a:buNone/>
            </a:pPr>
            <a:r>
              <a:rPr lang="en-US" sz="1500" b="1" kern="0" spc="200" dirty="0">
                <a:solidFill>
                  <a:srgbClr val="F7E23B"/>
                </a:solidFill>
                <a:latin typeface="Calibri" pitchFamily="34" charset="0"/>
                <a:ea typeface="Calibri" pitchFamily="34" charset="-122"/>
                <a:cs typeface="Calibri" pitchFamily="34" charset="-120"/>
              </a:rPr>
              <a:t>UNCERTAINTY GATE</a:t>
            </a:r>
            <a:endParaRPr lang="en-US" sz="1500" dirty="0"/>
          </a:p>
        </p:txBody>
      </p:sp>
      <p:sp>
        <p:nvSpPr>
          <p:cNvPr id="13" name="Text 8"/>
          <p:cNvSpPr txBox="1"/>
          <p:nvPr/>
        </p:nvSpPr>
        <p:spPr>
          <a:xfrm>
            <a:off x="457200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Any layer cannot be verified: abstain. No spec for the host called means nothing is verified.</a:t>
            </a:r>
            <a:endParaRPr lang="en-US" sz="1500" dirty="0"/>
          </a:p>
        </p:txBody>
      </p:sp>
      <p:sp>
        <p:nvSpPr>
          <p:cNvPr id="14" name="Card"/>
          <p:cNvSpPr/>
          <p:nvPr/>
        </p:nvSpPr>
        <p:spPr>
          <a:xfrm>
            <a:off x="8046720" y="1508760"/>
            <a:ext cx="3566160" cy="3657600"/>
          </a:xfrm>
          <a:prstGeom prst="roundRect">
            <a:avLst>
              <a:gd name="adj" fmla="val 3077"/>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8321040" y="1645920"/>
            <a:ext cx="1097280" cy="1005840"/>
          </a:xfrm>
          <a:prstGeom prst="rect">
            <a:avLst/>
          </a:prstGeom>
          <a:noFill/>
          <a:ln/>
        </p:spPr>
        <p:txBody>
          <a:bodyPr wrap="square" lIns="0" tIns="0" rIns="0" bIns="0" rtlCol="0" anchor="t"/>
          <a:lstStyle/>
          <a:p>
            <a:pPr marL="0" indent="0">
              <a:buNone/>
            </a:pPr>
            <a:r>
              <a:rPr lang="en-US" sz="7200" b="1" dirty="0">
                <a:solidFill>
                  <a:srgbClr val="3D95E8"/>
                </a:solidFill>
                <a:latin typeface="Cambria" pitchFamily="34" charset="0"/>
                <a:ea typeface="Cambria" pitchFamily="34" charset="-122"/>
                <a:cs typeface="Cambria" pitchFamily="34" charset="-120"/>
              </a:rPr>
              <a:t>3</a:t>
            </a:r>
            <a:endParaRPr lang="en-US" sz="7200" dirty="0"/>
          </a:p>
        </p:txBody>
      </p:sp>
      <p:pic>
        <p:nvPicPr>
          <p:cNvPr id="16" name="Image 2" descr="icon"/>
          <p:cNvPicPr>
            <a:picLocks noChangeAspect="1"/>
          </p:cNvPicPr>
          <p:nvPr/>
        </p:nvPicPr>
        <p:blipFill>
          <a:blip r:embed="rId5"/>
          <a:stretch>
            <a:fillRect/>
          </a:stretch>
        </p:blipFill>
        <p:spPr>
          <a:xfrm>
            <a:off x="10744200" y="1874520"/>
            <a:ext cx="548640" cy="548640"/>
          </a:xfrm>
          <a:prstGeom prst="rect">
            <a:avLst/>
          </a:prstGeom>
        </p:spPr>
      </p:pic>
      <p:sp>
        <p:nvSpPr>
          <p:cNvPr id="17" name="Text 11"/>
          <p:cNvSpPr txBox="1"/>
          <p:nvPr/>
        </p:nvSpPr>
        <p:spPr>
          <a:xfrm>
            <a:off x="8321040" y="2834640"/>
            <a:ext cx="3017520" cy="365760"/>
          </a:xfrm>
          <a:prstGeom prst="rect">
            <a:avLst/>
          </a:prstGeom>
          <a:noFill/>
          <a:ln/>
        </p:spPr>
        <p:txBody>
          <a:bodyPr wrap="square" lIns="0" tIns="0" rIns="0" bIns="0" rtlCol="0" anchor="t"/>
          <a:lstStyle/>
          <a:p>
            <a:pPr marL="0" indent="0">
              <a:buNone/>
            </a:pPr>
            <a:r>
              <a:rPr lang="en-US" sz="1500" b="1" kern="0" spc="200" dirty="0">
                <a:solidFill>
                  <a:srgbClr val="3D95E8"/>
                </a:solidFill>
                <a:latin typeface="Calibri" pitchFamily="34" charset="0"/>
                <a:ea typeface="Calibri" pitchFamily="34" charset="-122"/>
                <a:cs typeface="Calibri" pitchFamily="34" charset="-120"/>
              </a:rPr>
              <a:t>THE SCORE</a:t>
            </a:r>
            <a:endParaRPr lang="en-US" sz="1500" dirty="0"/>
          </a:p>
        </p:txBody>
      </p:sp>
      <p:sp>
        <p:nvSpPr>
          <p:cNvPr id="18" name="Text 12"/>
          <p:cNvSpPr txBox="1"/>
          <p:nvPr/>
        </p:nvSpPr>
        <p:spPr>
          <a:xfrm>
            <a:off x="832104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Only now does EWCS matter: 0.85 or more delivers; 0.60 to 0.85 delivers with a flag. Below 0.60 abstains, but passing the hard rules already implies at least 0.65.</a:t>
            </a:r>
            <a:endParaRPr lang="en-US" sz="1500" dirty="0"/>
          </a:p>
        </p:txBody>
      </p:sp>
      <p:sp>
        <p:nvSpPr>
          <p:cNvPr id="19" name="Card"/>
          <p:cNvSpPr/>
          <p:nvPr/>
        </p:nvSpPr>
        <p:spPr>
          <a:xfrm>
            <a:off x="548640" y="5394960"/>
            <a:ext cx="11064240" cy="777240"/>
          </a:xfrm>
          <a:prstGeom prst="roundRect">
            <a:avLst>
              <a:gd name="adj" fmla="val 14118"/>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20" name="Text 14"/>
          <p:cNvSpPr txBox="1"/>
          <p:nvPr/>
        </p:nvSpPr>
        <p:spPr>
          <a:xfrm>
            <a:off x="822960" y="5394960"/>
            <a:ext cx="10515600" cy="777240"/>
          </a:xfrm>
          <a:prstGeom prst="rect">
            <a:avLst/>
          </a:prstGeom>
          <a:noFill/>
          <a:ln/>
        </p:spPr>
        <p:txBody>
          <a:bodyPr wrap="square" lIns="0" tIns="0" rIns="0" bIns="0" rtlCol="0" anchor="ctr"/>
          <a:lstStyle/>
          <a:p>
            <a:pPr marL="0" indent="0">
              <a:buNone/>
            </a:pPr>
            <a:r>
              <a:rPr lang="en-US" sz="1900" b="1" dirty="0">
                <a:solidFill>
                  <a:srgbClr val="8FC1FF"/>
                </a:solidFill>
                <a:latin typeface="Calibri" pitchFamily="34" charset="0"/>
                <a:ea typeface="Calibri" pitchFamily="34" charset="-122"/>
                <a:cs typeface="Calibri" pitchFamily="34" charset="-120"/>
              </a:rPr>
              <a:t>Hard verification rules decide what is released. The score only decides whether it carries a flag.</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verifier was tested first</a:t>
            </a:r>
            <a:endParaRPr lang="en-US" sz="3400" dirty="0"/>
          </a:p>
        </p:txBody>
      </p:sp>
      <p:sp>
        <p:nvSpPr>
          <p:cNvPr id="4" name="Card"/>
          <p:cNvSpPr/>
          <p:nvPr/>
        </p:nvSpPr>
        <p:spPr>
          <a:xfrm>
            <a:off x="548640" y="1463040"/>
            <a:ext cx="3566160" cy="2057400"/>
          </a:xfrm>
          <a:prstGeom prst="roundRect">
            <a:avLst>
              <a:gd name="adj" fmla="val 5333"/>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554480"/>
            <a:ext cx="3017520" cy="1097280"/>
          </a:xfrm>
          <a:prstGeom prst="rect">
            <a:avLst/>
          </a:prstGeom>
          <a:noFill/>
          <a:ln/>
        </p:spPr>
        <p:txBody>
          <a:bodyPr wrap="square" lIns="0" tIns="0" rIns="0" bIns="0" rtlCol="0" anchor="t"/>
          <a:lstStyle/>
          <a:p>
            <a:pPr marL="0" indent="0">
              <a:buNone/>
            </a:pPr>
            <a:r>
              <a:rPr lang="en-US" sz="7200" b="1" dirty="0">
                <a:solidFill>
                  <a:srgbClr val="3D95E8"/>
                </a:solidFill>
                <a:latin typeface="Cambria" pitchFamily="34" charset="0"/>
                <a:ea typeface="Cambria" pitchFamily="34" charset="-122"/>
                <a:cs typeface="Cambria" pitchFamily="34" charset="-120"/>
              </a:rPr>
              <a:t>0</a:t>
            </a:r>
            <a:endParaRPr lang="en-US" sz="7200" dirty="0"/>
          </a:p>
        </p:txBody>
      </p:sp>
      <p:sp>
        <p:nvSpPr>
          <p:cNvPr id="6" name="Text 3"/>
          <p:cNvSpPr txBox="1"/>
          <p:nvPr/>
        </p:nvSpPr>
        <p:spPr>
          <a:xfrm>
            <a:off x="822960" y="2697480"/>
            <a:ext cx="3108960" cy="73152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false contradictions on 1,000 reference solutions</a:t>
            </a:r>
            <a:endParaRPr lang="en-US" sz="1500" dirty="0"/>
          </a:p>
        </p:txBody>
      </p:sp>
      <p:sp>
        <p:nvSpPr>
          <p:cNvPr id="7" name="Card"/>
          <p:cNvSpPr/>
          <p:nvPr/>
        </p:nvSpPr>
        <p:spPr>
          <a:xfrm>
            <a:off x="548640" y="3703320"/>
            <a:ext cx="3566160" cy="2057400"/>
          </a:xfrm>
          <a:prstGeom prst="roundRect">
            <a:avLst>
              <a:gd name="adj" fmla="val 5333"/>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822960" y="3794760"/>
            <a:ext cx="3017520" cy="1097280"/>
          </a:xfrm>
          <a:prstGeom prst="rect">
            <a:avLst/>
          </a:prstGeom>
          <a:noFill/>
          <a:ln/>
        </p:spPr>
        <p:txBody>
          <a:bodyPr wrap="square" lIns="0" tIns="0" rIns="0" bIns="0" rtlCol="0" anchor="t"/>
          <a:lstStyle/>
          <a:p>
            <a:pPr marL="0" indent="0">
              <a:buNone/>
            </a:pPr>
            <a:r>
              <a:rPr lang="en-US" sz="6000" b="1" dirty="0">
                <a:solidFill>
                  <a:srgbClr val="FF5A4F"/>
                </a:solidFill>
                <a:latin typeface="Cambria" pitchFamily="34" charset="0"/>
                <a:ea typeface="Cambria" pitchFamily="34" charset="-122"/>
                <a:cs typeface="Cambria" pitchFamily="34" charset="-120"/>
              </a:rPr>
              <a:t>3,000</a:t>
            </a:r>
            <a:endParaRPr lang="en-US" sz="6000" dirty="0"/>
          </a:p>
        </p:txBody>
      </p:sp>
      <p:sp>
        <p:nvSpPr>
          <p:cNvPr id="9" name="Text 6"/>
          <p:cNvSpPr txBox="1"/>
          <p:nvPr/>
        </p:nvSpPr>
        <p:spPr>
          <a:xfrm>
            <a:off x="822960" y="4937760"/>
            <a:ext cx="3108960" cy="73152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deliberately broken programs, all blocked from release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389120" y="1463040"/>
          <a:ext cx="7223760" cy="2743200"/>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68580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Known-invalid change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Programs</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Invented path</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contradicted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Undeclared method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contradicted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Wrong host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withheld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bl>
          </a:graphicData>
        </a:graphic>
      </p:graphicFrame>
      <p:sp>
        <p:nvSpPr>
          <p:cNvPr id="11" name="Card"/>
          <p:cNvSpPr/>
          <p:nvPr/>
        </p:nvSpPr>
        <p:spPr>
          <a:xfrm>
            <a:off x="4389120" y="4434840"/>
            <a:ext cx="7223760" cy="1325880"/>
          </a:xfrm>
          <a:prstGeom prst="roundRect">
            <a:avLst>
              <a:gd name="adj" fmla="val 8276"/>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2" name="Text 8"/>
          <p:cNvSpPr txBox="1"/>
          <p:nvPr/>
        </p:nvSpPr>
        <p:spPr>
          <a:xfrm>
            <a:off x="4663440" y="4434840"/>
            <a:ext cx="6675120" cy="1325880"/>
          </a:xfrm>
          <a:prstGeom prst="rect">
            <a:avLst/>
          </a:prstGeom>
          <a:noFill/>
          <a:ln/>
        </p:spPr>
        <p:txBody>
          <a:bodyPr wrap="square" lIns="0" tIns="0" rIns="0" bIns="0" rtlCol="0" anchor="ctr"/>
          <a:lstStyle/>
          <a:p>
            <a:pPr marL="0" indent="0">
              <a:buNone/>
            </a:pPr>
            <a:r>
              <a:rPr lang="en-US" sz="1600" b="1" dirty="0">
                <a:solidFill>
                  <a:srgbClr val="8FC1FF"/>
                </a:solidFill>
                <a:latin typeface="Calibri" pitchFamily="34" charset="0"/>
                <a:ea typeface="Calibri" pitchFamily="34" charset="-122"/>
                <a:cs typeface="Calibri" pitchFamily="34" charset="-120"/>
              </a:rPr>
              <a:t>Valid references: </a:t>
            </a:r>
            <a:r>
              <a:rPr lang="en-US" sz="1600" dirty="0">
                <a:solidFill>
                  <a:srgbClr val="F2F5FA"/>
                </a:solidFill>
                <a:latin typeface="Calibri" pitchFamily="34" charset="0"/>
                <a:ea typeface="Calibri" pitchFamily="34" charset="-122"/>
                <a:cs typeface="Calibri" pitchFamily="34" charset="-120"/>
              </a:rPr>
              <a:t>987 delivered or flagged (99 without a flag, 888 flagged); 13 abstained because of documented evidence limits.</a:t>
            </a:r>
            <a:endParaRPr lang="en-US" sz="1600" dirty="0"/>
          </a:p>
        </p:txBody>
      </p:sp>
      <p:sp>
        <p:nvSpPr>
          <p:cNvPr id="3" name="Text 9"/>
          <p:cNvSpPr txBox="1"/>
          <p:nvPr/>
        </p:nvSpPr>
        <p:spPr>
          <a:xfrm>
            <a:off x="548640" y="5943600"/>
            <a:ext cx="11064240" cy="365760"/>
          </a:xfrm>
          <a:prstGeom prst="rect">
            <a:avLst/>
          </a:prstGeom>
          <a:noFill/>
          <a:ln/>
        </p:spPr>
        <p:txBody>
          <a:bodyPr wrap="square" lIns="0" tIns="0" rIns="0" bIns="0" rtlCol="0" anchor="t"/>
          <a:lstStyle/>
          <a:p>
            <a:pPr marL="0" indent="0">
              <a:buNone/>
            </a:pPr>
            <a:r>
              <a:rPr lang="en-US" sz="1400" i="1" dirty="0">
                <a:solidFill>
                  <a:srgbClr val="9FB2CC"/>
                </a:solidFill>
                <a:latin typeface="Calibri" pitchFamily="34" charset="0"/>
                <a:ea typeface="Calibri" pitchFamily="34" charset="-122"/>
                <a:cs typeface="Calibri" pitchFamily="34" charset="-120"/>
              </a:rPr>
              <a:t>This is validation of the apparatus, not the primary experiment.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 paired experiment with an independent Marker</a:t>
            </a:r>
            <a:endParaRPr lang="en-US" sz="3400" dirty="0"/>
          </a:p>
        </p:txBody>
      </p:sp>
      <p:sp>
        <p:nvSpPr>
          <p:cNvPr id="4" name="Card"/>
          <p:cNvSpPr/>
          <p:nvPr/>
        </p:nvSpPr>
        <p:spPr>
          <a:xfrm>
            <a:off x="548640" y="2331720"/>
            <a:ext cx="2377440" cy="1371600"/>
          </a:xfrm>
          <a:prstGeom prst="roundRect">
            <a:avLst>
              <a:gd name="adj" fmla="val 8000"/>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731520" y="2423160"/>
            <a:ext cx="2011680" cy="685800"/>
          </a:xfrm>
          <a:prstGeom prst="rect">
            <a:avLst/>
          </a:prstGeom>
          <a:noFill/>
          <a:ln/>
        </p:spPr>
        <p:txBody>
          <a:bodyPr wrap="square" lIns="0" tIns="0" rIns="0" bIns="0" rtlCol="0" anchor="b"/>
          <a:lstStyle/>
          <a:p>
            <a:pPr marL="0" indent="0">
              <a:buNone/>
            </a:pPr>
            <a:r>
              <a:rPr lang="en-US" sz="1700" b="1" dirty="0">
                <a:solidFill>
                  <a:srgbClr val="8FC1FF"/>
                </a:solidFill>
                <a:latin typeface="Calibri" pitchFamily="34" charset="0"/>
                <a:ea typeface="Calibri" pitchFamily="34" charset="-122"/>
                <a:cs typeface="Calibri" pitchFamily="34" charset="-120"/>
              </a:rPr>
              <a:t>990 tasks</a:t>
            </a:r>
            <a:endParaRPr lang="en-US" sz="1700" dirty="0"/>
          </a:p>
        </p:txBody>
      </p:sp>
      <p:sp>
        <p:nvSpPr>
          <p:cNvPr id="6" name="Text 3"/>
          <p:cNvSpPr txBox="1"/>
          <p:nvPr/>
        </p:nvSpPr>
        <p:spPr>
          <a:xfrm>
            <a:off x="731520" y="3086100"/>
            <a:ext cx="201168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pilot of 10 excluded; 141 operation families</a:t>
            </a:r>
            <a:endParaRPr lang="en-US" sz="1300" dirty="0"/>
          </a:p>
        </p:txBody>
      </p:sp>
      <p:sp>
        <p:nvSpPr>
          <p:cNvPr id="7" name="Card"/>
          <p:cNvSpPr/>
          <p:nvPr/>
        </p:nvSpPr>
        <p:spPr>
          <a:xfrm>
            <a:off x="3749040" y="1600200"/>
            <a:ext cx="2834640" cy="1234440"/>
          </a:xfrm>
          <a:prstGeom prst="roundRect">
            <a:avLst>
              <a:gd name="adj" fmla="val 8889"/>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3931920" y="1691640"/>
            <a:ext cx="2468880" cy="617220"/>
          </a:xfrm>
          <a:prstGeom prst="rect">
            <a:avLst/>
          </a:prstGeom>
          <a:noFill/>
          <a:ln/>
        </p:spPr>
        <p:txBody>
          <a:bodyPr wrap="square" lIns="0" tIns="0" rIns="0" bIns="0" rtlCol="0" anchor="b"/>
          <a:lstStyle/>
          <a:p>
            <a:pPr marL="0" indent="0">
              <a:buNone/>
            </a:pPr>
            <a:r>
              <a:rPr lang="en-US" sz="1700" b="1" dirty="0">
                <a:solidFill>
                  <a:srgbClr val="FF5A4F"/>
                </a:solidFill>
                <a:latin typeface="Calibri" pitchFamily="34" charset="0"/>
                <a:ea typeface="Calibri" pitchFamily="34" charset="-122"/>
                <a:cs typeface="Calibri" pitchFamily="34" charset="-120"/>
              </a:rPr>
              <a:t>Baseline</a:t>
            </a:r>
            <a:endParaRPr lang="en-US" sz="1700" dirty="0"/>
          </a:p>
        </p:txBody>
      </p:sp>
      <p:sp>
        <p:nvSpPr>
          <p:cNvPr id="9" name="Text 6"/>
          <p:cNvSpPr txBox="1"/>
          <p:nvPr/>
        </p:nvSpPr>
        <p:spPr>
          <a:xfrm>
            <a:off x="3931920" y="2279142"/>
            <a:ext cx="2468880" cy="493776"/>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same model, minimal prompt</a:t>
            </a:r>
            <a:endParaRPr lang="en-US" sz="1300" dirty="0"/>
          </a:p>
        </p:txBody>
      </p:sp>
      <p:sp>
        <p:nvSpPr>
          <p:cNvPr id="10" name="Card"/>
          <p:cNvSpPr/>
          <p:nvPr/>
        </p:nvSpPr>
        <p:spPr>
          <a:xfrm>
            <a:off x="3749040" y="3200400"/>
            <a:ext cx="2834640" cy="1234440"/>
          </a:xfrm>
          <a:prstGeom prst="roundRect">
            <a:avLst>
              <a:gd name="adj" fmla="val 8889"/>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8"/>
          <p:cNvSpPr txBox="1"/>
          <p:nvPr/>
        </p:nvSpPr>
        <p:spPr>
          <a:xfrm>
            <a:off x="3931920" y="3291840"/>
            <a:ext cx="2468880" cy="617220"/>
          </a:xfrm>
          <a:prstGeom prst="rect">
            <a:avLst/>
          </a:prstGeom>
          <a:noFill/>
          <a:ln/>
        </p:spPr>
        <p:txBody>
          <a:bodyPr wrap="square" lIns="0" tIns="0" rIns="0" bIns="0" rtlCol="0" anchor="b"/>
          <a:lstStyle/>
          <a:p>
            <a:pPr marL="0" indent="0">
              <a:buNone/>
            </a:pPr>
            <a:r>
              <a:rPr lang="en-US" sz="1700" b="1" dirty="0">
                <a:solidFill>
                  <a:srgbClr val="3D95E8"/>
                </a:solidFill>
                <a:latin typeface="Calibri" pitchFamily="34" charset="0"/>
                <a:ea typeface="Calibri" pitchFamily="34" charset="-122"/>
                <a:cs typeface="Calibri" pitchFamily="34" charset="-120"/>
              </a:rPr>
              <a:t>Confident Agent</a:t>
            </a:r>
            <a:endParaRPr lang="en-US" sz="1700" dirty="0"/>
          </a:p>
        </p:txBody>
      </p:sp>
      <p:sp>
        <p:nvSpPr>
          <p:cNvPr id="12" name="Text 9"/>
          <p:cNvSpPr txBox="1"/>
          <p:nvPr/>
        </p:nvSpPr>
        <p:spPr>
          <a:xfrm>
            <a:off x="3931920" y="3879342"/>
            <a:ext cx="2468880" cy="493776"/>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same model, verify + correct + abstain</a:t>
            </a:r>
            <a:endParaRPr lang="en-US" sz="1300" dirty="0"/>
          </a:p>
        </p:txBody>
      </p:sp>
      <p:sp>
        <p:nvSpPr>
          <p:cNvPr id="13" name="Card"/>
          <p:cNvSpPr/>
          <p:nvPr/>
        </p:nvSpPr>
        <p:spPr>
          <a:xfrm>
            <a:off x="7406640" y="2331720"/>
            <a:ext cx="2194560" cy="1371600"/>
          </a:xfrm>
          <a:prstGeom prst="roundRect">
            <a:avLst>
              <a:gd name="adj" fmla="val 8000"/>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14" name="Text 11"/>
          <p:cNvSpPr txBox="1"/>
          <p:nvPr/>
        </p:nvSpPr>
        <p:spPr>
          <a:xfrm>
            <a:off x="7589520" y="2423160"/>
            <a:ext cx="1828800" cy="685800"/>
          </a:xfrm>
          <a:prstGeom prst="rect">
            <a:avLst/>
          </a:prstGeom>
          <a:noFill/>
          <a:ln/>
        </p:spPr>
        <p:txBody>
          <a:bodyPr wrap="square" lIns="0" tIns="0" rIns="0" bIns="0" rtlCol="0" anchor="b"/>
          <a:lstStyle/>
          <a:p>
            <a:pPr marL="0" indent="0">
              <a:buNone/>
            </a:pPr>
            <a:r>
              <a:rPr lang="en-US" sz="1700" b="1" dirty="0">
                <a:solidFill>
                  <a:srgbClr val="7F9CC4"/>
                </a:solidFill>
                <a:latin typeface="Calibri" pitchFamily="34" charset="0"/>
                <a:ea typeface="Calibri" pitchFamily="34" charset="-122"/>
                <a:cs typeface="Calibri" pitchFamily="34" charset="-120"/>
              </a:rPr>
              <a:t>Evaluator</a:t>
            </a:r>
            <a:endParaRPr lang="en-US" sz="1700" dirty="0"/>
          </a:p>
        </p:txBody>
      </p:sp>
      <p:sp>
        <p:nvSpPr>
          <p:cNvPr id="15" name="Text 12"/>
          <p:cNvSpPr txBox="1"/>
          <p:nvPr/>
        </p:nvSpPr>
        <p:spPr>
          <a:xfrm>
            <a:off x="7589520" y="3086100"/>
            <a:ext cx="182880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sandbox records the request without contacting the live API</a:t>
            </a:r>
            <a:endParaRPr lang="en-US" sz="1300" dirty="0"/>
          </a:p>
        </p:txBody>
      </p:sp>
      <p:sp>
        <p:nvSpPr>
          <p:cNvPr id="16" name="Card"/>
          <p:cNvSpPr/>
          <p:nvPr/>
        </p:nvSpPr>
        <p:spPr>
          <a:xfrm>
            <a:off x="10058400" y="2331720"/>
            <a:ext cx="1554480" cy="1371600"/>
          </a:xfrm>
          <a:prstGeom prst="roundRect">
            <a:avLst>
              <a:gd name="adj" fmla="val 8000"/>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7" name="Text 14"/>
          <p:cNvSpPr txBox="1"/>
          <p:nvPr/>
        </p:nvSpPr>
        <p:spPr>
          <a:xfrm>
            <a:off x="10241280" y="2423160"/>
            <a:ext cx="1188720" cy="685800"/>
          </a:xfrm>
          <a:prstGeom prst="rect">
            <a:avLst/>
          </a:prstGeom>
          <a:noFill/>
          <a:ln/>
        </p:spPr>
        <p:txBody>
          <a:bodyPr wrap="square" lIns="0" tIns="0" rIns="0" bIns="0" rtlCol="0" anchor="b"/>
          <a:lstStyle/>
          <a:p>
            <a:pPr marL="0" indent="0">
              <a:buNone/>
            </a:pPr>
            <a:r>
              <a:rPr lang="en-US" sz="1700" b="1" dirty="0">
                <a:solidFill>
                  <a:srgbClr val="F7E23B"/>
                </a:solidFill>
                <a:latin typeface="Calibri" pitchFamily="34" charset="0"/>
                <a:ea typeface="Calibri" pitchFamily="34" charset="-122"/>
                <a:cs typeface="Calibri" pitchFamily="34" charset="-120"/>
              </a:rPr>
              <a:t>Answer key</a:t>
            </a:r>
            <a:endParaRPr lang="en-US" sz="1700" dirty="0"/>
          </a:p>
        </p:txBody>
      </p:sp>
      <p:sp>
        <p:nvSpPr>
          <p:cNvPr id="18" name="Text 15"/>
          <p:cNvSpPr txBox="1"/>
          <p:nvPr/>
        </p:nvSpPr>
        <p:spPr>
          <a:xfrm>
            <a:off x="10241280" y="3086100"/>
            <a:ext cx="118872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evaluator only</a:t>
            </a:r>
            <a:endParaRPr lang="en-US" sz="1300" dirty="0"/>
          </a:p>
        </p:txBody>
      </p:sp>
      <p:sp>
        <p:nvSpPr>
          <p:cNvPr id="19" name="Arrow"/>
          <p:cNvSpPr/>
          <p:nvPr/>
        </p:nvSpPr>
        <p:spPr>
          <a:xfrm>
            <a:off x="3017520" y="2788920"/>
            <a:ext cx="685800" cy="320040"/>
          </a:xfrm>
          <a:prstGeom prst="rightArrow">
            <a:avLst/>
          </a:prstGeom>
          <a:solidFill>
            <a:srgbClr val="8FC1FF"/>
          </a:solidFill>
          <a:ln w="12700">
            <a:solidFill>
              <a:srgbClr val="8FC1FF"/>
            </a:solidFill>
            <a:prstDash val="solid"/>
          </a:ln>
        </p:spPr>
        <p:txBody>
          <a:bodyPr/>
          <a:lstStyle/>
          <a:p>
            <a:endParaRPr lang="en-GB"/>
          </a:p>
        </p:txBody>
      </p:sp>
      <p:sp>
        <p:nvSpPr>
          <p:cNvPr id="20" name="Arrow"/>
          <p:cNvSpPr/>
          <p:nvPr/>
        </p:nvSpPr>
        <p:spPr>
          <a:xfrm>
            <a:off x="6675120" y="2331720"/>
            <a:ext cx="640080" cy="320040"/>
          </a:xfrm>
          <a:prstGeom prst="rightArrow">
            <a:avLst/>
          </a:prstGeom>
          <a:solidFill>
            <a:srgbClr val="9FB2CC"/>
          </a:solidFill>
          <a:ln w="12700">
            <a:solidFill>
              <a:srgbClr val="9FB2CC"/>
            </a:solidFill>
            <a:prstDash val="solid"/>
          </a:ln>
        </p:spPr>
        <p:txBody>
          <a:bodyPr/>
          <a:lstStyle/>
          <a:p>
            <a:endParaRPr lang="en-GB"/>
          </a:p>
        </p:txBody>
      </p:sp>
      <p:sp>
        <p:nvSpPr>
          <p:cNvPr id="21" name="Arrow"/>
          <p:cNvSpPr/>
          <p:nvPr/>
        </p:nvSpPr>
        <p:spPr>
          <a:xfrm>
            <a:off x="6675120" y="3566160"/>
            <a:ext cx="640080" cy="320040"/>
          </a:xfrm>
          <a:prstGeom prst="rightArrow">
            <a:avLst/>
          </a:prstGeom>
          <a:solidFill>
            <a:srgbClr val="9FB2CC"/>
          </a:solidFill>
          <a:ln w="12700">
            <a:solidFill>
              <a:srgbClr val="9FB2CC"/>
            </a:solidFill>
            <a:prstDash val="solid"/>
          </a:ln>
        </p:spPr>
        <p:txBody>
          <a:bodyPr/>
          <a:lstStyle/>
          <a:p>
            <a:endParaRPr lang="en-GB"/>
          </a:p>
        </p:txBody>
      </p:sp>
      <p:sp>
        <p:nvSpPr>
          <p:cNvPr id="22" name="Arrow"/>
          <p:cNvSpPr/>
          <p:nvPr/>
        </p:nvSpPr>
        <p:spPr>
          <a:xfrm>
            <a:off x="9646920" y="2788920"/>
            <a:ext cx="365760" cy="320040"/>
          </a:xfrm>
          <a:prstGeom prst="leftArrow">
            <a:avLst/>
          </a:prstGeom>
          <a:solidFill>
            <a:srgbClr val="F7E23B"/>
          </a:solidFill>
          <a:ln w="12700">
            <a:solidFill>
              <a:srgbClr val="F7E23B"/>
            </a:solidFill>
            <a:prstDash val="solid"/>
          </a:ln>
        </p:spPr>
        <p:txBody>
          <a:bodyPr/>
          <a:lstStyle/>
          <a:p>
            <a:endParaRPr lang="en-GB"/>
          </a:p>
        </p:txBody>
      </p:sp>
      <p:sp>
        <p:nvSpPr>
          <p:cNvPr id="23" name="Text 20"/>
          <p:cNvSpPr txBox="1"/>
          <p:nvPr/>
        </p:nvSpPr>
        <p:spPr>
          <a:xfrm>
            <a:off x="548640" y="4754880"/>
            <a:ext cx="3566160" cy="640080"/>
          </a:xfrm>
          <a:prstGeom prst="rect">
            <a:avLst/>
          </a:prstGeom>
          <a:noFill/>
          <a:ln/>
        </p:spPr>
        <p:txBody>
          <a:bodyPr wrap="square" lIns="0" tIns="0" rIns="0" bIns="0" rtlCol="0" anchor="t"/>
          <a:lstStyle/>
          <a:p>
            <a:pPr marL="0" indent="0">
              <a:buNone/>
            </a:pPr>
            <a:r>
              <a:rPr lang="en-US" sz="3800" b="1" dirty="0">
                <a:solidFill>
                  <a:srgbClr val="8FC1FF"/>
                </a:solidFill>
                <a:latin typeface="Cambria" pitchFamily="34" charset="0"/>
                <a:ea typeface="Cambria" pitchFamily="34" charset="-122"/>
                <a:cs typeface="Cambria" pitchFamily="34" charset="-120"/>
              </a:rPr>
              <a:t>3</a:t>
            </a:r>
            <a:endParaRPr lang="en-US" sz="3800" dirty="0"/>
          </a:p>
        </p:txBody>
      </p:sp>
      <p:sp>
        <p:nvSpPr>
          <p:cNvPr id="24" name="Text 21"/>
          <p:cNvSpPr txBox="1"/>
          <p:nvPr/>
        </p:nvSpPr>
        <p:spPr>
          <a:xfrm>
            <a:off x="54864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quantizations: Q4_K_M, Q6_K, Q8_0</a:t>
            </a:r>
            <a:endParaRPr lang="en-US" sz="1400" dirty="0"/>
          </a:p>
        </p:txBody>
      </p:sp>
      <p:sp>
        <p:nvSpPr>
          <p:cNvPr id="25" name="Text 22"/>
          <p:cNvSpPr txBox="1"/>
          <p:nvPr/>
        </p:nvSpPr>
        <p:spPr>
          <a:xfrm>
            <a:off x="4297680" y="4754880"/>
            <a:ext cx="3566160" cy="640080"/>
          </a:xfrm>
          <a:prstGeom prst="rect">
            <a:avLst/>
          </a:prstGeom>
          <a:noFill/>
          <a:ln/>
        </p:spPr>
        <p:txBody>
          <a:bodyPr wrap="square" lIns="0" tIns="0" rIns="0" bIns="0" rtlCol="0" anchor="t"/>
          <a:lstStyle/>
          <a:p>
            <a:pPr marL="0" indent="0">
              <a:buNone/>
            </a:pPr>
            <a:r>
              <a:rPr lang="en-US" sz="3800" b="1" dirty="0">
                <a:solidFill>
                  <a:srgbClr val="3D95E8"/>
                </a:solidFill>
                <a:latin typeface="Cambria" pitchFamily="34" charset="0"/>
                <a:ea typeface="Cambria" pitchFamily="34" charset="-122"/>
                <a:cs typeface="Cambria" pitchFamily="34" charset="-120"/>
              </a:rPr>
              <a:t>2,970</a:t>
            </a:r>
            <a:endParaRPr lang="en-US" sz="3800" dirty="0"/>
          </a:p>
        </p:txBody>
      </p:sp>
      <p:sp>
        <p:nvSpPr>
          <p:cNvPr id="26" name="Text 23"/>
          <p:cNvSpPr txBox="1"/>
          <p:nvPr/>
        </p:nvSpPr>
        <p:spPr>
          <a:xfrm>
            <a:off x="429768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task pairs, repeating the same tasks</a:t>
            </a:r>
            <a:endParaRPr lang="en-US" sz="1400" dirty="0"/>
          </a:p>
        </p:txBody>
      </p:sp>
      <p:sp>
        <p:nvSpPr>
          <p:cNvPr id="27" name="Text 24"/>
          <p:cNvSpPr txBox="1"/>
          <p:nvPr/>
        </p:nvSpPr>
        <p:spPr>
          <a:xfrm>
            <a:off x="8046720" y="4754880"/>
            <a:ext cx="3566160" cy="640080"/>
          </a:xfrm>
          <a:prstGeom prst="rect">
            <a:avLst/>
          </a:prstGeom>
          <a:noFill/>
          <a:ln/>
        </p:spPr>
        <p:txBody>
          <a:bodyPr wrap="square" lIns="0" tIns="0" rIns="0" bIns="0" rtlCol="0" anchor="t"/>
          <a:lstStyle/>
          <a:p>
            <a:pPr marL="0" indent="0">
              <a:buNone/>
            </a:pPr>
            <a:r>
              <a:rPr lang="en-US" sz="3800" b="1" dirty="0">
                <a:solidFill>
                  <a:srgbClr val="F7E23B"/>
                </a:solidFill>
                <a:latin typeface="Cambria" pitchFamily="34" charset="0"/>
                <a:ea typeface="Cambria" pitchFamily="34" charset="-122"/>
                <a:cs typeface="Cambria" pitchFamily="34" charset="-120"/>
              </a:rPr>
              <a:t>27 Sep</a:t>
            </a:r>
            <a:endParaRPr lang="en-US" sz="3800" dirty="0"/>
          </a:p>
        </p:txBody>
      </p:sp>
      <p:sp>
        <p:nvSpPr>
          <p:cNvPr id="28" name="Text 25"/>
          <p:cNvSpPr txBox="1"/>
          <p:nvPr/>
        </p:nvSpPr>
        <p:spPr>
          <a:xfrm>
            <a:off x="804672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evaluation plan fixed before main runs</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Hallucinations reaching the user: ~53% down to ~2%</a:t>
            </a:r>
            <a:endParaRPr lang="en-US" sz="3400" dirty="0"/>
          </a:p>
        </p:txBody>
      </p:sp>
      <p:sp>
        <p:nvSpPr>
          <p:cNvPr id="4" name="Card"/>
          <p:cNvSpPr/>
          <p:nvPr/>
        </p:nvSpPr>
        <p:spPr>
          <a:xfrm>
            <a:off x="548640" y="1463040"/>
            <a:ext cx="5486400" cy="3931920"/>
          </a:xfrm>
          <a:prstGeom prst="roundRect">
            <a:avLst>
              <a:gd name="adj" fmla="val 2791"/>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Card"/>
          <p:cNvSpPr/>
          <p:nvPr/>
        </p:nvSpPr>
        <p:spPr>
          <a:xfrm>
            <a:off x="6172200" y="1463040"/>
            <a:ext cx="5440680" cy="3931920"/>
          </a:xfrm>
          <a:prstGeom prst="roundRect">
            <a:avLst>
              <a:gd name="adj" fmla="val 2791"/>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6" name="Chart 0"/>
          <p:cNvGraphicFramePr/>
          <p:nvPr/>
        </p:nvGraphicFramePr>
        <p:xfrm>
          <a:off x="640080" y="1508760"/>
          <a:ext cx="530352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263640" y="1508760"/>
          <a:ext cx="525780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8" name="Card"/>
          <p:cNvSpPr/>
          <p:nvPr/>
        </p:nvSpPr>
        <p:spPr>
          <a:xfrm>
            <a:off x="548640" y="5577840"/>
            <a:ext cx="11064240" cy="640080"/>
          </a:xfrm>
          <a:prstGeom prst="roundRect">
            <a:avLst>
              <a:gd name="adj" fmla="val 17143"/>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9" name="Text 4"/>
          <p:cNvSpPr txBox="1"/>
          <p:nvPr/>
        </p:nvSpPr>
        <p:spPr>
          <a:xfrm>
            <a:off x="822960" y="5577840"/>
            <a:ext cx="10515600" cy="640080"/>
          </a:xfrm>
          <a:prstGeom prst="rect">
            <a:avLst/>
          </a:prstGeom>
          <a:noFill/>
          <a:ln/>
        </p:spPr>
        <p:txBody>
          <a:bodyPr wrap="square" lIns="0" tIns="0" rIns="0" bIns="0" rtlCol="0" anchor="ctr"/>
          <a:lstStyle/>
          <a:p>
            <a:pPr marL="0" indent="0">
              <a:buNone/>
            </a:pPr>
            <a:r>
              <a:rPr lang="en-US" sz="1800" b="1" dirty="0">
                <a:solidFill>
                  <a:srgbClr val="F7E23B"/>
                </a:solidFill>
                <a:latin typeface="Calibri" pitchFamily="34" charset="0"/>
                <a:ea typeface="Calibri" pitchFamily="34" charset="-122"/>
                <a:cs typeface="Calibri" pitchFamily="34" charset="-120"/>
              </a:rPr>
              <a:t>The price: </a:t>
            </a:r>
            <a:r>
              <a:rPr lang="en-US" sz="1800" dirty="0">
                <a:solidFill>
                  <a:srgbClr val="F2F5FA"/>
                </a:solidFill>
                <a:latin typeface="Calibri" pitchFamily="34" charset="0"/>
                <a:ea typeface="Calibri" pitchFamily="34" charset="-122"/>
                <a:cs typeface="Calibri" pitchFamily="34" charset="-120"/>
              </a:rPr>
              <a:t>the agent shows no code at all for 38 to 40% of tasks.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Where the protection comes from</a:t>
            </a:r>
            <a:endParaRPr lang="en-US" sz="3400" dirty="0"/>
          </a:p>
        </p:txBody>
      </p:sp>
      <p:sp>
        <p:nvSpPr>
          <p:cNvPr id="4" name="Card"/>
          <p:cNvSpPr/>
          <p:nvPr/>
        </p:nvSpPr>
        <p:spPr>
          <a:xfrm>
            <a:off x="548640" y="1463040"/>
            <a:ext cx="566928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640080" y="1554480"/>
          <a:ext cx="5486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6492240" y="146304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6720840" y="1463040"/>
            <a:ext cx="1828800" cy="960120"/>
          </a:xfrm>
          <a:prstGeom prst="rect">
            <a:avLst/>
          </a:prstGeom>
          <a:noFill/>
          <a:ln/>
        </p:spPr>
        <p:txBody>
          <a:bodyPr wrap="square" lIns="0" tIns="0" rIns="0" bIns="0" rtlCol="0" anchor="ctr"/>
          <a:lstStyle/>
          <a:p>
            <a:pPr marL="0" indent="0">
              <a:buNone/>
            </a:pPr>
            <a:r>
              <a:rPr lang="en-US" sz="3800" b="1" dirty="0">
                <a:solidFill>
                  <a:srgbClr val="8FC1FF"/>
                </a:solidFill>
                <a:latin typeface="Cambria" pitchFamily="34" charset="0"/>
                <a:ea typeface="Cambria" pitchFamily="34" charset="-122"/>
                <a:cs typeface="Cambria" pitchFamily="34" charset="-120"/>
              </a:rPr>
              <a:t>1,001</a:t>
            </a:r>
            <a:endParaRPr lang="en-US" sz="3800" dirty="0"/>
          </a:p>
        </p:txBody>
      </p:sp>
      <p:sp>
        <p:nvSpPr>
          <p:cNvPr id="8" name="Text 4"/>
          <p:cNvSpPr txBox="1"/>
          <p:nvPr/>
        </p:nvSpPr>
        <p:spPr>
          <a:xfrm>
            <a:off x="8549640" y="146304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withheld by the agent</a:t>
            </a:r>
            <a:endParaRPr lang="en-US" sz="1700" dirty="0"/>
          </a:p>
        </p:txBody>
      </p:sp>
      <p:sp>
        <p:nvSpPr>
          <p:cNvPr id="9" name="Card"/>
          <p:cNvSpPr/>
          <p:nvPr/>
        </p:nvSpPr>
        <p:spPr>
          <a:xfrm>
            <a:off x="6492240" y="256032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6720840" y="2560320"/>
            <a:ext cx="1828800" cy="960120"/>
          </a:xfrm>
          <a:prstGeom prst="rect">
            <a:avLst/>
          </a:prstGeom>
          <a:noFill/>
          <a:ln/>
        </p:spPr>
        <p:txBody>
          <a:bodyPr wrap="square" lIns="0" tIns="0" rIns="0" bIns="0" rtlCol="0" anchor="ctr"/>
          <a:lstStyle/>
          <a:p>
            <a:pPr marL="0" indent="0">
              <a:buNone/>
            </a:pPr>
            <a:r>
              <a:rPr lang="en-US" sz="3800" b="1" dirty="0">
                <a:solidFill>
                  <a:srgbClr val="3D95E8"/>
                </a:solidFill>
                <a:latin typeface="Cambria" pitchFamily="34" charset="0"/>
                <a:ea typeface="Cambria" pitchFamily="34" charset="-122"/>
                <a:cs typeface="Cambria" pitchFamily="34" charset="-120"/>
              </a:rPr>
              <a:t>427</a:t>
            </a:r>
            <a:endParaRPr lang="en-US" sz="3800" dirty="0"/>
          </a:p>
        </p:txBody>
      </p:sp>
      <p:sp>
        <p:nvSpPr>
          <p:cNvPr id="11" name="Text 7"/>
          <p:cNvSpPr txBox="1"/>
          <p:nvPr/>
        </p:nvSpPr>
        <p:spPr>
          <a:xfrm>
            <a:off x="8549640" y="256032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repaired into correct code</a:t>
            </a:r>
            <a:endParaRPr lang="en-US" sz="1700" dirty="0"/>
          </a:p>
        </p:txBody>
      </p:sp>
      <p:sp>
        <p:nvSpPr>
          <p:cNvPr id="12" name="Card"/>
          <p:cNvSpPr/>
          <p:nvPr/>
        </p:nvSpPr>
        <p:spPr>
          <a:xfrm>
            <a:off x="6492240" y="365760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Text 9"/>
          <p:cNvSpPr txBox="1"/>
          <p:nvPr/>
        </p:nvSpPr>
        <p:spPr>
          <a:xfrm>
            <a:off x="6720840" y="3657600"/>
            <a:ext cx="1828800" cy="960120"/>
          </a:xfrm>
          <a:prstGeom prst="rect">
            <a:avLst/>
          </a:prstGeom>
          <a:noFill/>
          <a:ln/>
        </p:spPr>
        <p:txBody>
          <a:bodyPr wrap="square" lIns="0" tIns="0" rIns="0" bIns="0" rtlCol="0" anchor="ctr"/>
          <a:lstStyle/>
          <a:p>
            <a:pPr marL="0" indent="0">
              <a:buNone/>
            </a:pPr>
            <a:r>
              <a:rPr lang="en-US" sz="3800" b="1" dirty="0">
                <a:solidFill>
                  <a:srgbClr val="FF5A4F"/>
                </a:solidFill>
                <a:latin typeface="Cambria" pitchFamily="34" charset="0"/>
                <a:ea typeface="Cambria" pitchFamily="34" charset="-122"/>
                <a:cs typeface="Cambria" pitchFamily="34" charset="-120"/>
              </a:rPr>
              <a:t>38</a:t>
            </a:r>
            <a:endParaRPr lang="en-US" sz="3800" dirty="0"/>
          </a:p>
        </p:txBody>
      </p:sp>
      <p:sp>
        <p:nvSpPr>
          <p:cNvPr id="14" name="Text 10"/>
          <p:cNvSpPr txBox="1"/>
          <p:nvPr/>
        </p:nvSpPr>
        <p:spPr>
          <a:xfrm>
            <a:off x="8549640" y="365760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still reached the user</a:t>
            </a:r>
            <a:endParaRPr lang="en-US" sz="1700" dirty="0"/>
          </a:p>
        </p:txBody>
      </p:sp>
      <p:sp>
        <p:nvSpPr>
          <p:cNvPr id="15" name="Text 11"/>
          <p:cNvSpPr txBox="1"/>
          <p:nvPr/>
        </p:nvSpPr>
        <p:spPr>
          <a:xfrm>
            <a:off x="6492240" y="4892040"/>
            <a:ext cx="5120640" cy="1097280"/>
          </a:xfrm>
          <a:prstGeom prst="rect">
            <a:avLst/>
          </a:prstGeom>
          <a:noFill/>
          <a:ln/>
        </p:spPr>
        <p:txBody>
          <a:bodyPr wrap="square" lIns="0" tIns="0" rIns="0" bIns="0" rtlCol="0" anchor="t"/>
          <a:lstStyle/>
          <a:p>
            <a:pPr marL="0" indent="0">
              <a:buNone/>
            </a:pPr>
            <a:r>
              <a:rPr lang="en-US" sz="1900" b="1" dirty="0">
                <a:solidFill>
                  <a:srgbClr val="8FC1FF"/>
                </a:solidFill>
                <a:latin typeface="Calibri" pitchFamily="34" charset="0"/>
                <a:ea typeface="Calibri" pitchFamily="34" charset="-122"/>
                <a:cs typeface="Calibri" pitchFamily="34" charset="-120"/>
              </a:rPr>
              <a:t>About two-thirds of the protection is abstention. About one-third is correction.</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Where the reduction happens</a:t>
            </a:r>
            <a:endParaRPr lang="en-US" sz="3400" dirty="0"/>
          </a:p>
        </p:txBody>
      </p:sp>
      <p:sp>
        <p:nvSpPr>
          <p:cNvPr id="4" name="Card"/>
          <p:cNvSpPr/>
          <p:nvPr/>
        </p:nvSpPr>
        <p:spPr>
          <a:xfrm>
            <a:off x="548640" y="1463040"/>
            <a:ext cx="731520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640080" y="1554480"/>
          <a:ext cx="71323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8138160" y="1463040"/>
            <a:ext cx="3474720" cy="2148840"/>
          </a:xfrm>
          <a:prstGeom prst="roundRect">
            <a:avLst>
              <a:gd name="adj" fmla="val 5106"/>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8366760" y="1463040"/>
            <a:ext cx="3017520" cy="2148840"/>
          </a:xfrm>
          <a:prstGeom prst="rect">
            <a:avLst/>
          </a:prstGeom>
          <a:noFill/>
          <a:ln/>
        </p:spPr>
        <p:txBody>
          <a:bodyPr wrap="square" lIns="0" tIns="0" rIns="0" bIns="0" rtlCol="0" anchor="ctr"/>
          <a:lstStyle/>
          <a:p>
            <a:pPr marL="0" indent="0">
              <a:buNone/>
            </a:pPr>
            <a:r>
              <a:rPr lang="en-US" sz="1600" dirty="0">
                <a:solidFill>
                  <a:srgbClr val="F2F5FA"/>
                </a:solidFill>
                <a:latin typeface="Calibri" pitchFamily="34" charset="0"/>
                <a:ea typeface="Calibri" pitchFamily="34" charset="-122"/>
                <a:cs typeface="Calibri" pitchFamily="34" charset="-120"/>
              </a:rPr>
              <a:t>The first candidate comes before any verification feedback, and still hallucinated in 47 to 49% of tasks.</a:t>
            </a:r>
            <a:endParaRPr lang="en-US" sz="1600" dirty="0"/>
          </a:p>
        </p:txBody>
      </p:sp>
      <p:sp>
        <p:nvSpPr>
          <p:cNvPr id="8" name="Card"/>
          <p:cNvSpPr/>
          <p:nvPr/>
        </p:nvSpPr>
        <p:spPr>
          <a:xfrm>
            <a:off x="8138160" y="3749040"/>
            <a:ext cx="3474720" cy="2377440"/>
          </a:xfrm>
          <a:prstGeom prst="roundRect">
            <a:avLst>
              <a:gd name="adj" fmla="val 4615"/>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9" name="Text 5"/>
          <p:cNvSpPr txBox="1"/>
          <p:nvPr/>
        </p:nvSpPr>
        <p:spPr>
          <a:xfrm>
            <a:off x="8366760" y="3749040"/>
            <a:ext cx="3017520" cy="2377440"/>
          </a:xfrm>
          <a:prstGeom prst="rect">
            <a:avLst/>
          </a:prstGeom>
          <a:noFill/>
          <a:ln/>
        </p:spPr>
        <p:txBody>
          <a:bodyPr wrap="square" lIns="0" tIns="0" rIns="0" bIns="0" rtlCol="0" anchor="ctr"/>
          <a:lstStyle/>
          <a:p>
            <a:pPr marL="0" indent="0">
              <a:buNone/>
            </a:pPr>
            <a:r>
              <a:rPr lang="en-US" sz="1600" dirty="0">
                <a:solidFill>
                  <a:srgbClr val="F2F5FA"/>
                </a:solidFill>
                <a:latin typeface="Calibri" pitchFamily="34" charset="0"/>
                <a:ea typeface="Calibri" pitchFamily="34" charset="-122"/>
                <a:cs typeface="Calibri" pitchFamily="34" charset="-120"/>
              </a:rPr>
              <a:t>Counting every unresolved first candidate as class A gives 52.8 to 56.1%. The prompt alone does not explain the reduction.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What the numbers do and don't say</a:t>
            </a:r>
            <a:endParaRPr lang="en-US" sz="3400" dirty="0"/>
          </a:p>
        </p:txBody>
      </p:sp>
      <p:sp>
        <p:nvSpPr>
          <p:cNvPr id="4" name="Card"/>
          <p:cNvSpPr/>
          <p:nvPr/>
        </p:nvSpPr>
        <p:spPr>
          <a:xfrm>
            <a:off x="548640" y="1463040"/>
            <a:ext cx="5120640" cy="4663440"/>
          </a:xfrm>
          <a:prstGeom prst="roundRect">
            <a:avLst>
              <a:gd name="adj" fmla="val 2353"/>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91640"/>
            <a:ext cx="4572000" cy="914400"/>
          </a:xfrm>
          <a:prstGeom prst="rect">
            <a:avLst/>
          </a:prstGeom>
          <a:noFill/>
          <a:ln/>
        </p:spPr>
        <p:txBody>
          <a:bodyPr wrap="square" lIns="0" tIns="0" rIns="0" bIns="0" rtlCol="0" anchor="t"/>
          <a:lstStyle/>
          <a:p>
            <a:pPr marL="0" indent="0">
              <a:buNone/>
            </a:pPr>
            <a:r>
              <a:rPr lang="en-US" sz="5200" b="1" dirty="0">
                <a:solidFill>
                  <a:srgbClr val="FF5A4F"/>
                </a:solidFill>
                <a:latin typeface="Cambria" pitchFamily="34" charset="0"/>
                <a:ea typeface="Cambria" pitchFamily="34" charset="-122"/>
                <a:cs typeface="Cambria" pitchFamily="34" charset="-120"/>
              </a:rPr>
              <a:t>47 to 49%</a:t>
            </a:r>
            <a:endParaRPr lang="en-US" sz="5200" dirty="0"/>
          </a:p>
        </p:txBody>
      </p:sp>
      <p:sp>
        <p:nvSpPr>
          <p:cNvPr id="6" name="Text 3"/>
          <p:cNvSpPr txBox="1"/>
          <p:nvPr/>
        </p:nvSpPr>
        <p:spPr>
          <a:xfrm>
            <a:off x="822960" y="2697480"/>
            <a:ext cx="4572000" cy="128016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of the agent's first candidates still hallucinated, written under our prompt but before any verification.</a:t>
            </a:r>
            <a:endParaRPr lang="en-US" sz="1700" dirty="0"/>
          </a:p>
        </p:txBody>
      </p:sp>
      <p:sp>
        <p:nvSpPr>
          <p:cNvPr id="7" name="Text 4"/>
          <p:cNvSpPr txBox="1"/>
          <p:nvPr/>
        </p:nvSpPr>
        <p:spPr>
          <a:xfrm>
            <a:off x="822960" y="4023360"/>
            <a:ext cx="4572000" cy="1920240"/>
          </a:xfrm>
          <a:prstGeom prst="rect">
            <a:avLst/>
          </a:prstGeom>
          <a:noFill/>
          <a:ln/>
        </p:spPr>
        <p:txBody>
          <a:bodyPr wrap="square" lIns="0" tIns="0" rIns="0" bIns="0" rtlCol="0" anchor="t"/>
          <a:lstStyle/>
          <a:p>
            <a:pPr marL="0" indent="0">
              <a:buNone/>
            </a:pPr>
            <a:r>
              <a:rPr lang="en-US" sz="1500" dirty="0">
                <a:solidFill>
                  <a:srgbClr val="9FB2CC"/>
                </a:solidFill>
                <a:latin typeface="Calibri" pitchFamily="34" charset="0"/>
                <a:ea typeface="Calibri" pitchFamily="34" charset="-122"/>
                <a:cs typeface="Calibri" pitchFamily="34" charset="-120"/>
              </a:rPr>
              <a:t>The reduction happens at verification and release. The intervention is a package; we did not test each part alone.</a:t>
            </a:r>
            <a:endParaRPr lang="en-US" sz="1500" dirty="0"/>
          </a:p>
        </p:txBody>
      </p:sp>
      <p:sp>
        <p:nvSpPr>
          <p:cNvPr id="8" name="Card"/>
          <p:cNvSpPr/>
          <p:nvPr/>
        </p:nvSpPr>
        <p:spPr>
          <a:xfrm>
            <a:off x="5897880" y="14630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9" name="Image 0" descr="icon"/>
          <p:cNvPicPr>
            <a:picLocks noChangeAspect="1"/>
          </p:cNvPicPr>
          <p:nvPr/>
        </p:nvPicPr>
        <p:blipFill>
          <a:blip r:embed="rId3"/>
          <a:stretch>
            <a:fillRect/>
          </a:stretch>
        </p:blipFill>
        <p:spPr>
          <a:xfrm>
            <a:off x="6172200" y="1920240"/>
            <a:ext cx="502920" cy="502920"/>
          </a:xfrm>
          <a:prstGeom prst="rect">
            <a:avLst/>
          </a:prstGeom>
        </p:spPr>
      </p:pic>
      <p:sp>
        <p:nvSpPr>
          <p:cNvPr id="10" name="Text 6"/>
          <p:cNvSpPr txBox="1"/>
          <p:nvPr/>
        </p:nvSpPr>
        <p:spPr>
          <a:xfrm>
            <a:off x="6903720" y="16002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REST Countries</a:t>
            </a:r>
            <a:endParaRPr lang="en-US" sz="1800" dirty="0"/>
          </a:p>
        </p:txBody>
      </p:sp>
      <p:sp>
        <p:nvSpPr>
          <p:cNvPr id="11" name="Text 7"/>
          <p:cNvSpPr txBox="1"/>
          <p:nvPr/>
        </p:nvSpPr>
        <p:spPr>
          <a:xfrm>
            <a:off x="6903720" y="20574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Delivered nothing for almost every task. Safe, not useful.</a:t>
            </a:r>
            <a:endParaRPr lang="en-US" sz="1400" dirty="0"/>
          </a:p>
        </p:txBody>
      </p:sp>
      <p:sp>
        <p:nvSpPr>
          <p:cNvPr id="12" name="Card"/>
          <p:cNvSpPr/>
          <p:nvPr/>
        </p:nvSpPr>
        <p:spPr>
          <a:xfrm>
            <a:off x="5897880" y="30632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3" name="Image 1" descr="icon"/>
          <p:cNvPicPr>
            <a:picLocks noChangeAspect="1"/>
          </p:cNvPicPr>
          <p:nvPr/>
        </p:nvPicPr>
        <p:blipFill>
          <a:blip r:embed="rId4"/>
          <a:stretch>
            <a:fillRect/>
          </a:stretch>
        </p:blipFill>
        <p:spPr>
          <a:xfrm>
            <a:off x="6172200" y="3520440"/>
            <a:ext cx="502920" cy="502920"/>
          </a:xfrm>
          <a:prstGeom prst="rect">
            <a:avLst/>
          </a:prstGeom>
        </p:spPr>
      </p:pic>
      <p:sp>
        <p:nvSpPr>
          <p:cNvPr id="14" name="Text 9"/>
          <p:cNvSpPr txBox="1"/>
          <p:nvPr/>
        </p:nvSpPr>
        <p:spPr>
          <a:xfrm>
            <a:off x="6903720" y="32004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Petstore bodies</a:t>
            </a:r>
            <a:endParaRPr lang="en-US" sz="1800" dirty="0"/>
          </a:p>
        </p:txBody>
      </p:sp>
      <p:sp>
        <p:nvSpPr>
          <p:cNvPr id="15" name="Text 10"/>
          <p:cNvSpPr txBox="1"/>
          <p:nvPr/>
        </p:nvSpPr>
        <p:spPr>
          <a:xfrm>
            <a:off x="6903720" y="36576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57 of 59 delivered hallucinations are Petstore tasks, mainly wrong runtime value types.</a:t>
            </a:r>
            <a:endParaRPr lang="en-US" sz="1400" dirty="0"/>
          </a:p>
        </p:txBody>
      </p:sp>
      <p:sp>
        <p:nvSpPr>
          <p:cNvPr id="16" name="Card"/>
          <p:cNvSpPr/>
          <p:nvPr/>
        </p:nvSpPr>
        <p:spPr>
          <a:xfrm>
            <a:off x="5897880" y="46634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7" name="Image 2" descr="icon"/>
          <p:cNvPicPr>
            <a:picLocks noChangeAspect="1"/>
          </p:cNvPicPr>
          <p:nvPr/>
        </p:nvPicPr>
        <p:blipFill>
          <a:blip r:embed="rId5"/>
          <a:stretch>
            <a:fillRect/>
          </a:stretch>
        </p:blipFill>
        <p:spPr>
          <a:xfrm>
            <a:off x="6172200" y="5120640"/>
            <a:ext cx="502920" cy="502920"/>
          </a:xfrm>
          <a:prstGeom prst="rect">
            <a:avLst/>
          </a:prstGeom>
        </p:spPr>
      </p:pic>
      <p:sp>
        <p:nvSpPr>
          <p:cNvPr id="18" name="Text 12"/>
          <p:cNvSpPr txBox="1"/>
          <p:nvPr/>
        </p:nvSpPr>
        <p:spPr>
          <a:xfrm>
            <a:off x="6903720" y="48006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Verified is not done</a:t>
            </a:r>
            <a:endParaRPr lang="en-US" sz="1800" dirty="0"/>
          </a:p>
        </p:txBody>
      </p:sp>
      <p:sp>
        <p:nvSpPr>
          <p:cNvPr id="19" name="Text 13"/>
          <p:cNvSpPr txBox="1"/>
          <p:nvPr/>
        </p:nvSpPr>
        <p:spPr>
          <a:xfrm>
            <a:off x="6903720" y="52578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Only 10.3 to 11.3% of agent tasks met every check, and task-fidelity errors rose from 193 to 238.</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paired effect, run by run</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3108960"/>
        </p:xfrm>
        <a:graphic>
          <a:graphicData uri="http://schemas.openxmlformats.org/drawingml/2006/table">
            <a:tbl>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77724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Reduction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95% family interval</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Q4_K_M</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50.2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34.6 to 63.2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Q6_K</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48.5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32.7 to 62.1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Q8_0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53.1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37.9 to 65.7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548640" y="4709160"/>
            <a:ext cx="6766560" cy="73152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Intervals resample the 141 operation families. Tests are run separately on 990 task pairs per run.</a:t>
            </a:r>
            <a:endParaRPr lang="en-US" sz="1400" dirty="0"/>
          </a:p>
        </p:txBody>
      </p:sp>
      <p:sp>
        <p:nvSpPr>
          <p:cNvPr id="6" name="Card"/>
          <p:cNvSpPr/>
          <p:nvPr/>
        </p:nvSpPr>
        <p:spPr>
          <a:xfrm>
            <a:off x="7589520" y="1463040"/>
            <a:ext cx="4023360" cy="2103120"/>
          </a:xfrm>
          <a:prstGeom prst="roundRect">
            <a:avLst>
              <a:gd name="adj" fmla="val 5217"/>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7863840" y="1554480"/>
            <a:ext cx="3566160" cy="1005840"/>
          </a:xfrm>
          <a:prstGeom prst="rect">
            <a:avLst/>
          </a:prstGeom>
          <a:noFill/>
          <a:ln/>
        </p:spPr>
        <p:txBody>
          <a:bodyPr wrap="square" lIns="0" tIns="0" rIns="0" bIns="0" rtlCol="0" anchor="t"/>
          <a:lstStyle/>
          <a:p>
            <a:pPr marL="0" indent="0">
              <a:buNone/>
            </a:pPr>
            <a:r>
              <a:rPr lang="en-US" sz="4000" b="1" dirty="0">
                <a:solidFill>
                  <a:srgbClr val="8FC1FF"/>
                </a:solidFill>
                <a:latin typeface="Cambria" pitchFamily="34" charset="0"/>
                <a:ea typeface="Cambria" pitchFamily="34" charset="-122"/>
                <a:cs typeface="Cambria" pitchFamily="34" charset="-120"/>
              </a:rPr>
              <a:t>p &lt; 10⁻¹²⁹</a:t>
            </a:r>
            <a:endParaRPr lang="en-US" sz="4000" dirty="0"/>
          </a:p>
        </p:txBody>
      </p:sp>
      <p:sp>
        <p:nvSpPr>
          <p:cNvPr id="8" name="Text 4"/>
          <p:cNvSpPr txBox="1"/>
          <p:nvPr/>
        </p:nvSpPr>
        <p:spPr>
          <a:xfrm>
            <a:off x="7863840" y="2606040"/>
            <a:ext cx="3566160" cy="8229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Exact McNemar test, Holm-adjusted, in every run</a:t>
            </a:r>
            <a:endParaRPr lang="en-US" sz="1500" dirty="0"/>
          </a:p>
        </p:txBody>
      </p:sp>
      <p:sp>
        <p:nvSpPr>
          <p:cNvPr id="9" name="Card"/>
          <p:cNvSpPr/>
          <p:nvPr/>
        </p:nvSpPr>
        <p:spPr>
          <a:xfrm>
            <a:off x="7589520" y="3749040"/>
            <a:ext cx="4023360" cy="2377440"/>
          </a:xfrm>
          <a:prstGeom prst="roundRect">
            <a:avLst>
              <a:gd name="adj" fmla="val 4615"/>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7863840" y="3840480"/>
            <a:ext cx="3566160" cy="822960"/>
          </a:xfrm>
          <a:prstGeom prst="rect">
            <a:avLst/>
          </a:prstGeom>
          <a:noFill/>
          <a:ln/>
        </p:spPr>
        <p:txBody>
          <a:bodyPr wrap="square" lIns="0" tIns="0" rIns="0" bIns="0" rtlCol="0" anchor="t"/>
          <a:lstStyle/>
          <a:p>
            <a:pPr marL="0" indent="0">
              <a:buNone/>
            </a:pPr>
            <a:r>
              <a:rPr lang="en-US" sz="2400" b="1" dirty="0">
                <a:solidFill>
                  <a:srgbClr val="3D95E8"/>
                </a:solidFill>
                <a:latin typeface="Cambria" pitchFamily="34" charset="0"/>
                <a:ea typeface="Cambria" pitchFamily="34" charset="-122"/>
                <a:cs typeface="Cambria" pitchFamily="34" charset="-120"/>
              </a:rPr>
              <a:t>H1 and H2 supported</a:t>
            </a:r>
            <a:endParaRPr lang="en-US" sz="2400" dirty="0"/>
          </a:p>
        </p:txBody>
      </p:sp>
      <p:sp>
        <p:nvSpPr>
          <p:cNvPr id="11" name="Text 7"/>
          <p:cNvSpPr txBox="1"/>
          <p:nvPr/>
        </p:nvSpPr>
        <p:spPr>
          <a:xfrm>
            <a:off x="7863840" y="4709160"/>
            <a:ext cx="3566160" cy="12801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Hallucinations fall in every run, and correct code rises by 13.5 to 26.0 percentage points.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Hard rules, not the score, set the release</a:t>
            </a:r>
            <a:endParaRPr lang="en-US" sz="3400" dirty="0"/>
          </a:p>
        </p:txBody>
      </p:sp>
      <p:sp>
        <p:nvSpPr>
          <p:cNvPr id="4" name="Card"/>
          <p:cNvSpPr/>
          <p:nvPr/>
        </p:nvSpPr>
        <p:spPr>
          <a:xfrm>
            <a:off x="548640" y="14630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554480"/>
            <a:ext cx="5120640" cy="731520"/>
          </a:xfrm>
          <a:prstGeom prst="rect">
            <a:avLst/>
          </a:prstGeom>
          <a:noFill/>
          <a:ln/>
        </p:spPr>
        <p:txBody>
          <a:bodyPr wrap="square" lIns="0" tIns="0" rIns="0" bIns="0" rtlCol="0" anchor="t"/>
          <a:lstStyle/>
          <a:p>
            <a:pPr marL="0" indent="0">
              <a:buNone/>
            </a:pPr>
            <a:r>
              <a:rPr lang="en-US" sz="3600" b="1" dirty="0">
                <a:solidFill>
                  <a:srgbClr val="8FC1FF"/>
                </a:solidFill>
                <a:latin typeface="Cambria" pitchFamily="34" charset="0"/>
                <a:ea typeface="Cambria" pitchFamily="34" charset="-122"/>
                <a:cs typeface="Cambria" pitchFamily="34" charset="-120"/>
              </a:rPr>
              <a:t>p &lt; 10⁻¹²⁹</a:t>
            </a:r>
            <a:endParaRPr lang="en-US" sz="3600" dirty="0"/>
          </a:p>
        </p:txBody>
      </p:sp>
      <p:sp>
        <p:nvSpPr>
          <p:cNvPr id="6" name="Text 3"/>
          <p:cNvSpPr txBox="1"/>
          <p:nvPr/>
        </p:nvSpPr>
        <p:spPr>
          <a:xfrm>
            <a:off x="822960" y="22860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exact McNemar, Holm-adjusted, every run. H1 supported</a:t>
            </a:r>
            <a:endParaRPr lang="en-US" sz="1400" dirty="0"/>
          </a:p>
        </p:txBody>
      </p:sp>
      <p:sp>
        <p:nvSpPr>
          <p:cNvPr id="7" name="Card"/>
          <p:cNvSpPr/>
          <p:nvPr/>
        </p:nvSpPr>
        <p:spPr>
          <a:xfrm>
            <a:off x="548640" y="30632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822960" y="3154680"/>
            <a:ext cx="5120640" cy="731520"/>
          </a:xfrm>
          <a:prstGeom prst="rect">
            <a:avLst/>
          </a:prstGeom>
          <a:noFill/>
          <a:ln/>
        </p:spPr>
        <p:txBody>
          <a:bodyPr wrap="square" lIns="0" tIns="0" rIns="0" bIns="0" rtlCol="0" anchor="t"/>
          <a:lstStyle/>
          <a:p>
            <a:pPr marL="0" indent="0">
              <a:buNone/>
            </a:pPr>
            <a:r>
              <a:rPr lang="en-US" sz="3600" b="1" dirty="0">
                <a:solidFill>
                  <a:srgbClr val="3D95E8"/>
                </a:solidFill>
                <a:latin typeface="Cambria" pitchFamily="34" charset="0"/>
                <a:ea typeface="Cambria" pitchFamily="34" charset="-122"/>
                <a:cs typeface="Cambria" pitchFamily="34" charset="-120"/>
              </a:rPr>
              <a:t>+13 to +26</a:t>
            </a:r>
            <a:endParaRPr lang="en-US" sz="3600" dirty="0"/>
          </a:p>
        </p:txBody>
      </p:sp>
      <p:sp>
        <p:nvSpPr>
          <p:cNvPr id="9" name="Text 6"/>
          <p:cNvSpPr txBox="1"/>
          <p:nvPr/>
        </p:nvSpPr>
        <p:spPr>
          <a:xfrm>
            <a:off x="822960" y="38862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percentage points more correct code. H2 supported</a:t>
            </a:r>
            <a:endParaRPr lang="en-US" sz="1400" dirty="0"/>
          </a:p>
        </p:txBody>
      </p:sp>
      <p:sp>
        <p:nvSpPr>
          <p:cNvPr id="10" name="Card"/>
          <p:cNvSpPr/>
          <p:nvPr/>
        </p:nvSpPr>
        <p:spPr>
          <a:xfrm>
            <a:off x="548640" y="46634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8"/>
          <p:cNvSpPr txBox="1"/>
          <p:nvPr/>
        </p:nvSpPr>
        <p:spPr>
          <a:xfrm>
            <a:off x="822960" y="4754880"/>
            <a:ext cx="5120640" cy="731520"/>
          </a:xfrm>
          <a:prstGeom prst="rect">
            <a:avLst/>
          </a:prstGeom>
          <a:noFill/>
          <a:ln/>
        </p:spPr>
        <p:txBody>
          <a:bodyPr wrap="square" lIns="0" tIns="0" rIns="0" bIns="0" rtlCol="0" anchor="t"/>
          <a:lstStyle/>
          <a:p>
            <a:pPr marL="0" indent="0">
              <a:buNone/>
            </a:pPr>
            <a:r>
              <a:rPr lang="en-US" sz="3600" b="1" dirty="0">
                <a:solidFill>
                  <a:srgbClr val="7F9CC4"/>
                </a:solidFill>
                <a:latin typeface="Cambria" pitchFamily="34" charset="0"/>
                <a:ea typeface="Cambria" pitchFamily="34" charset="-122"/>
                <a:cs typeface="Cambria" pitchFamily="34" charset="-120"/>
              </a:rPr>
              <a:t>AUC 0.93 to 0.94</a:t>
            </a:r>
            <a:endParaRPr lang="en-US" sz="3600" dirty="0"/>
          </a:p>
        </p:txBody>
      </p:sp>
      <p:sp>
        <p:nvSpPr>
          <p:cNvPr id="12" name="Text 9"/>
          <p:cNvSpPr txBox="1"/>
          <p:nvPr/>
        </p:nvSpPr>
        <p:spPr>
          <a:xfrm>
            <a:off x="822960" y="54864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EWCS separates correct from hallucinated. H3 supported</a:t>
            </a:r>
            <a:endParaRPr lang="en-US" sz="1400" dirty="0"/>
          </a:p>
        </p:txBody>
      </p:sp>
      <p:sp>
        <p:nvSpPr>
          <p:cNvPr id="13" name="Card"/>
          <p:cNvSpPr/>
          <p:nvPr/>
        </p:nvSpPr>
        <p:spPr>
          <a:xfrm>
            <a:off x="6492240" y="1463040"/>
            <a:ext cx="512064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14" name="Chart 0"/>
          <p:cNvGraphicFramePr/>
          <p:nvPr/>
        </p:nvGraphicFramePr>
        <p:xfrm>
          <a:off x="6583680" y="155448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1"/>
          <p:cNvSpPr txBox="1"/>
          <p:nvPr/>
        </p:nvSpPr>
        <p:spPr>
          <a:xfrm>
            <a:off x="6766560" y="4937760"/>
            <a:ext cx="4663440" cy="1097280"/>
          </a:xfrm>
          <a:prstGeom prst="rect">
            <a:avLst/>
          </a:prstGeom>
          <a:noFill/>
          <a:ln/>
        </p:spPr>
        <p:txBody>
          <a:bodyPr wrap="square" lIns="0" tIns="0" rIns="0" bIns="0" rtlCol="0" anchor="t"/>
          <a:lstStyle/>
          <a:p>
            <a:pPr marL="0" indent="0">
              <a:buNone/>
            </a:pPr>
            <a:r>
              <a:rPr lang="en-US" sz="1500" b="1" dirty="0">
                <a:solidFill>
                  <a:srgbClr val="F2F5FA"/>
                </a:solidFill>
                <a:latin typeface="Calibri" pitchFamily="34" charset="0"/>
                <a:ea typeface="Calibri" pitchFamily="34" charset="-122"/>
                <a:cs typeface="Calibri" pitchFamily="34" charset="-120"/>
              </a:rPr>
              <a:t>Under all five planned schemes: 1,146 task-runs withheld and 59 hallucinations delivered. Removing the uncertainty gate adds 165 more hallucinations.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FD78F0-690B-433B-BDEA-8E7B10C763EC}"/>
              </a:ext>
            </a:extLst>
          </p:cNvPr>
          <p:cNvSpPr>
            <a:spLocks noGrp="1"/>
          </p:cNvSpPr>
          <p:nvPr>
            <p:ph type="title" idx="100" hasCustomPrompt="1"/>
          </p:nvPr>
        </p:nvSpPr>
        <p:spPr>
          <a:xfrm>
            <a:off x="548640" y="365760"/>
            <a:ext cx="11064240" cy="868680"/>
          </a:xfrm>
          <a:prstGeom prst="rect">
            <a:avLst/>
          </a:prstGeom>
          <a:noFill/>
        </p:spPr>
        <p:txBody>
          <a:bodyPr wrap="square" lIns="0" tIns="0" rIns="0" bIns="0" anchor="ctr"/>
          <a:lstStyle/>
          <a:p>
            <a:pPr marL="0" indent="0" algn="l">
              <a:buNone/>
            </a:pPr>
            <a:r>
              <a:rPr sz="3400" b="1">
                <a:solidFill>
                  <a:srgbClr val="F2F5FA"/>
                </a:solidFill>
                <a:latin typeface="Cambria"/>
                <a:ea typeface="Cambria"/>
                <a:cs typeface="Cambria"/>
              </a:rPr>
              <a:t>Cost of Intervention: per prompt</a:t>
            </a:r>
            <a:endParaRPr sz="3400"/>
          </a:p>
        </p:txBody>
      </p:sp>
      <p:sp>
        <p:nvSpPr>
          <p:cNvPr id="25" name="Slide Number Placeholder 0">
            <a:extLst>
              <a:ext uri="{FF2B5EF4-FFF2-40B4-BE49-F238E27FC236}">
                <a16:creationId xmlns:a16="http://schemas.microsoft.com/office/drawing/2014/main" id="{9D9CF153-9532-4894-8EBE-C81F98A94CDB}"/>
              </a:ext>
            </a:extLst>
          </p:cNvPr>
          <p:cNvSpPr>
            <a:spLocks noGrp="1"/>
          </p:cNvSpPr>
          <p:nvPr>
            <p:ph type="sldNum" idx="4294967295"/>
          </p:nvPr>
        </p:nvSpPr>
        <p:spPr>
          <a:xfrm>
            <a:off x="11155680" y="6400800"/>
            <a:ext cx="548640" cy="274320"/>
          </a:xfrm>
          <a:prstGeom prst="rect">
            <a:avLst/>
          </a:prstGeom>
        </p:spPr>
        <p:txBody>
          <a:bodyPr/>
          <a:lstStyle>
            <a:lvl1pPr>
              <a:buNone/>
              <a:defRPr sz="1000">
                <a:solidFill>
                  <a:srgbClr val="9FB2CC"/>
                </a:solidFill>
                <a:latin typeface="Calibri"/>
                <a:ea typeface="Calibri"/>
                <a:cs typeface="Calibri"/>
              </a:defRPr>
            </a:lvl1pPr>
          </a:lstStyle>
          <a:p>
            <a:pPr algn="l">
              <a:buNone/>
            </a:pPr>
            <a:fld id="{844E025A-983C-6D44-79C6-4612AACD43FC}" type="slidenum">
              <a:rPr b="0"/>
              <a:t>20</a:t>
            </a:fld>
            <a:endParaRPr/>
          </a:p>
        </p:txBody>
      </p:sp>
      <p:sp>
        <p:nvSpPr>
          <p:cNvPr id="26" name="cost-text-1">
            <a:extLst>
              <a:ext uri="{FF2B5EF4-FFF2-40B4-BE49-F238E27FC236}">
                <a16:creationId xmlns:a16="http://schemas.microsoft.com/office/drawing/2014/main" id="{834C7386-90F2-4678-AF14-A8C67A3E028A}"/>
              </a:ext>
            </a:extLst>
          </p:cNvPr>
          <p:cNvSpPr>
            <a:spLocks noGrp="1"/>
          </p:cNvSpPr>
          <p:nvPr/>
        </p:nvSpPr>
        <p:spPr>
          <a:xfrm>
            <a:off x="548640" y="1123950"/>
            <a:ext cx="11064240" cy="266700"/>
          </a:xfrm>
          <a:prstGeom prst="rect">
            <a:avLst/>
          </a:prstGeom>
          <a:noFill/>
          <a:ln w="0">
            <a:noFill/>
            <a:prstDash val="solid"/>
          </a:ln>
        </p:spPr>
        <p:txBody>
          <a:bodyPr wrap="square" lIns="0" tIns="0" rIns="0" bIns="0" anchor="ctr">
            <a:noAutofit/>
          </a:bodyPr>
          <a:lstStyle>
            <a:defPPr>
              <a:defRPr sz="1500" b="0">
                <a:solidFill>
                  <a:srgbClr val="9FB2CC"/>
                </a:solidFill>
                <a:latin typeface="Calibri"/>
                <a:ea typeface="Calibri"/>
                <a:cs typeface="Calibri"/>
              </a:defRPr>
            </a:defPPr>
            <a:lvl1pPr>
              <a:defRPr sz="1500" b="0">
                <a:solidFill>
                  <a:srgbClr val="9FB2CC"/>
                </a:solidFill>
                <a:latin typeface="Calibri"/>
                <a:ea typeface="Calibri"/>
                <a:cs typeface="Calibri"/>
              </a:defRPr>
            </a:lvl1pPr>
            <a:lvl2pPr>
              <a:defRPr sz="1500" b="0">
                <a:solidFill>
                  <a:srgbClr val="9FB2CC"/>
                </a:solidFill>
                <a:latin typeface="Calibri"/>
                <a:ea typeface="Calibri"/>
                <a:cs typeface="Calibri"/>
              </a:defRPr>
            </a:lvl2pPr>
            <a:lvl3pPr>
              <a:defRPr sz="1500" b="0">
                <a:solidFill>
                  <a:srgbClr val="9FB2CC"/>
                </a:solidFill>
                <a:latin typeface="Calibri"/>
                <a:ea typeface="Calibri"/>
                <a:cs typeface="Calibri"/>
              </a:defRPr>
            </a:lvl3pPr>
            <a:lvl4pPr>
              <a:defRPr sz="1500" b="0">
                <a:solidFill>
                  <a:srgbClr val="9FB2CC"/>
                </a:solidFill>
                <a:latin typeface="Calibri"/>
                <a:ea typeface="Calibri"/>
                <a:cs typeface="Calibri"/>
              </a:defRPr>
            </a:lvl4pPr>
            <a:lvl5pPr>
              <a:defRPr sz="1500" b="0">
                <a:solidFill>
                  <a:srgbClr val="9FB2CC"/>
                </a:solidFill>
                <a:latin typeface="Calibri"/>
                <a:ea typeface="Calibri"/>
                <a:cs typeface="Calibri"/>
              </a:defRPr>
            </a:lvl5pPr>
            <a:lvl6pPr>
              <a:defRPr sz="1500" b="0">
                <a:solidFill>
                  <a:srgbClr val="9FB2CC"/>
                </a:solidFill>
                <a:latin typeface="Calibri"/>
                <a:ea typeface="Calibri"/>
                <a:cs typeface="Calibri"/>
              </a:defRPr>
            </a:lvl6pPr>
            <a:lvl7pPr>
              <a:defRPr sz="1500" b="0">
                <a:solidFill>
                  <a:srgbClr val="9FB2CC"/>
                </a:solidFill>
                <a:latin typeface="Calibri"/>
                <a:ea typeface="Calibri"/>
                <a:cs typeface="Calibri"/>
              </a:defRPr>
            </a:lvl7pPr>
            <a:lvl8pPr>
              <a:defRPr sz="1500" b="0">
                <a:solidFill>
                  <a:srgbClr val="9FB2CC"/>
                </a:solidFill>
                <a:latin typeface="Calibri"/>
                <a:ea typeface="Calibri"/>
                <a:cs typeface="Calibri"/>
              </a:defRPr>
            </a:lvl8pPr>
            <a:lvl9pPr>
              <a:defRPr sz="1500" b="0">
                <a:solidFill>
                  <a:srgbClr val="9FB2CC"/>
                </a:solidFill>
                <a:latin typeface="Calibri"/>
                <a:ea typeface="Calibri"/>
                <a:cs typeface="Calibri"/>
              </a:defRPr>
            </a:lvl9pPr>
          </a:lstStyle>
          <a:p>
            <a:pPr>
              <a:defRPr sz="1500" b="0">
                <a:solidFill>
                  <a:srgbClr val="9FB2CC"/>
                </a:solidFill>
                <a:latin typeface="Calibri"/>
                <a:ea typeface="Calibri"/>
                <a:cs typeface="Calibri"/>
              </a:defRPr>
            </a:pPr>
            <a:r>
              <a:rPr sz="1500" b="0">
                <a:solidFill>
                  <a:srgbClr val="9FB2CC"/>
                </a:solidFill>
                <a:latin typeface="Calibri"/>
                <a:ea typeface="Calibri"/>
                <a:cs typeface="Calibri"/>
              </a:rPr>
              <a:t>Mean per prompt, 990 scored tasks per quantization; pilot excluded</a:t>
            </a:r>
          </a:p>
        </p:txBody>
      </p:sp>
      <p:sp>
        <p:nvSpPr>
          <p:cNvPr id="27" name="cost-chart-frame-2">
            <a:extLst>
              <a:ext uri="{FF2B5EF4-FFF2-40B4-BE49-F238E27FC236}">
                <a16:creationId xmlns:a16="http://schemas.microsoft.com/office/drawing/2014/main" id="{3068F6F0-D1F6-46C6-A843-ACAA1A343EA2}"/>
              </a:ext>
            </a:extLst>
          </p:cNvPr>
          <p:cNvSpPr>
            <a:spLocks noGrp="1"/>
          </p:cNvSpPr>
          <p:nvPr/>
        </p:nvSpPr>
        <p:spPr>
          <a:xfrm>
            <a:off x="54864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28" name="Chart">
            <a:extLst>
              <a:ext uri="{FF2B5EF4-FFF2-40B4-BE49-F238E27FC236}">
                <a16:creationId xmlns:a16="http://schemas.microsoft.com/office/drawing/2014/main" id="{9EA2EAC9-26CE-49DF-8AEA-3FCF69DCAFDE}"/>
              </a:ext>
            </a:extLst>
          </p:cNvPr>
          <p:cNvGraphicFramePr/>
          <p:nvPr/>
        </p:nvGraphicFramePr>
        <p:xfrm>
          <a:off x="624840" y="1609725"/>
          <a:ext cx="341376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29" name="cost-text-3">
            <a:extLst>
              <a:ext uri="{FF2B5EF4-FFF2-40B4-BE49-F238E27FC236}">
                <a16:creationId xmlns:a16="http://schemas.microsoft.com/office/drawing/2014/main" id="{E9884D6B-57CC-4825-9166-0F45195F2346}"/>
              </a:ext>
            </a:extLst>
          </p:cNvPr>
          <p:cNvSpPr>
            <a:spLocks noGrp="1"/>
          </p:cNvSpPr>
          <p:nvPr/>
        </p:nvSpPr>
        <p:spPr>
          <a:xfrm>
            <a:off x="720090" y="5124450"/>
            <a:ext cx="3223260" cy="295275"/>
          </a:xfrm>
          <a:prstGeom prst="rect">
            <a:avLst/>
          </a:prstGeom>
          <a:noFill/>
          <a:ln w="0">
            <a:noFill/>
            <a:prstDash val="solid"/>
          </a:ln>
        </p:spPr>
        <p:txBody>
          <a:bodyPr wrap="square" lIns="0" tIns="0" rIns="0" bIns="0" anchor="ctr">
            <a:noAutofit/>
          </a:bodyPr>
          <a:lstStyle>
            <a:defPPr>
              <a:defRPr sz="1725" b="1">
                <a:solidFill>
                  <a:srgbClr val="3D95E8"/>
                </a:solidFill>
                <a:latin typeface="Calibri"/>
                <a:ea typeface="Calibri"/>
                <a:cs typeface="Calibri"/>
              </a:defRPr>
            </a:defPPr>
            <a:lvl1pPr>
              <a:defRPr sz="1725" b="1">
                <a:solidFill>
                  <a:srgbClr val="3D95E8"/>
                </a:solidFill>
                <a:latin typeface="Calibri"/>
                <a:ea typeface="Calibri"/>
                <a:cs typeface="Calibri"/>
              </a:defRPr>
            </a:lvl1pPr>
            <a:lvl2pPr>
              <a:defRPr sz="1725" b="1">
                <a:solidFill>
                  <a:srgbClr val="3D95E8"/>
                </a:solidFill>
                <a:latin typeface="Calibri"/>
                <a:ea typeface="Calibri"/>
                <a:cs typeface="Calibri"/>
              </a:defRPr>
            </a:lvl2pPr>
            <a:lvl3pPr>
              <a:defRPr sz="1725" b="1">
                <a:solidFill>
                  <a:srgbClr val="3D95E8"/>
                </a:solidFill>
                <a:latin typeface="Calibri"/>
                <a:ea typeface="Calibri"/>
                <a:cs typeface="Calibri"/>
              </a:defRPr>
            </a:lvl3pPr>
            <a:lvl4pPr>
              <a:defRPr sz="1725" b="1">
                <a:solidFill>
                  <a:srgbClr val="3D95E8"/>
                </a:solidFill>
                <a:latin typeface="Calibri"/>
                <a:ea typeface="Calibri"/>
                <a:cs typeface="Calibri"/>
              </a:defRPr>
            </a:lvl4pPr>
            <a:lvl5pPr>
              <a:defRPr sz="1725" b="1">
                <a:solidFill>
                  <a:srgbClr val="3D95E8"/>
                </a:solidFill>
                <a:latin typeface="Calibri"/>
                <a:ea typeface="Calibri"/>
                <a:cs typeface="Calibri"/>
              </a:defRPr>
            </a:lvl5pPr>
            <a:lvl6pPr>
              <a:defRPr sz="1725" b="1">
                <a:solidFill>
                  <a:srgbClr val="3D95E8"/>
                </a:solidFill>
                <a:latin typeface="Calibri"/>
                <a:ea typeface="Calibri"/>
                <a:cs typeface="Calibri"/>
              </a:defRPr>
            </a:lvl6pPr>
            <a:lvl7pPr>
              <a:defRPr sz="1725" b="1">
                <a:solidFill>
                  <a:srgbClr val="3D95E8"/>
                </a:solidFill>
                <a:latin typeface="Calibri"/>
                <a:ea typeface="Calibri"/>
                <a:cs typeface="Calibri"/>
              </a:defRPr>
            </a:lvl7pPr>
            <a:lvl8pPr>
              <a:defRPr sz="1725" b="1">
                <a:solidFill>
                  <a:srgbClr val="3D95E8"/>
                </a:solidFill>
                <a:latin typeface="Calibri"/>
                <a:ea typeface="Calibri"/>
                <a:cs typeface="Calibri"/>
              </a:defRPr>
            </a:lvl8pPr>
            <a:lvl9pPr>
              <a:defRPr sz="1725" b="1">
                <a:solidFill>
                  <a:srgbClr val="3D95E8"/>
                </a:solidFill>
                <a:latin typeface="Calibri"/>
                <a:ea typeface="Calibri"/>
                <a:cs typeface="Calibri"/>
              </a:defRPr>
            </a:lvl9pPr>
          </a:lstStyle>
          <a:p>
            <a:pPr>
              <a:defRPr sz="1725" b="1">
                <a:solidFill>
                  <a:srgbClr val="3D95E8"/>
                </a:solidFill>
                <a:latin typeface="Calibri"/>
                <a:ea typeface="Calibri"/>
                <a:cs typeface="Calibri"/>
              </a:defRPr>
            </a:pPr>
            <a:r>
              <a:rPr sz="1725" b="1">
                <a:solidFill>
                  <a:srgbClr val="3D95E8"/>
                </a:solidFill>
                <a:latin typeface="Calibri"/>
                <a:ea typeface="Calibri"/>
                <a:cs typeface="Calibri"/>
              </a:rPr>
              <a:t>6.2–6.6× longer</a:t>
            </a:r>
          </a:p>
        </p:txBody>
      </p:sp>
      <p:sp>
        <p:nvSpPr>
          <p:cNvPr id="30" name="cost-chart-frame-4">
            <a:extLst>
              <a:ext uri="{FF2B5EF4-FFF2-40B4-BE49-F238E27FC236}">
                <a16:creationId xmlns:a16="http://schemas.microsoft.com/office/drawing/2014/main" id="{5C7D2F5B-2B21-4480-905D-1D90E39B1267}"/>
              </a:ext>
            </a:extLst>
          </p:cNvPr>
          <p:cNvSpPr>
            <a:spLocks noGrp="1"/>
          </p:cNvSpPr>
          <p:nvPr/>
        </p:nvSpPr>
        <p:spPr>
          <a:xfrm>
            <a:off x="429768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1" name="Chart">
            <a:extLst>
              <a:ext uri="{FF2B5EF4-FFF2-40B4-BE49-F238E27FC236}">
                <a16:creationId xmlns:a16="http://schemas.microsoft.com/office/drawing/2014/main" id="{664A7D39-47B4-4157-A0F4-F15C2644802E}"/>
              </a:ext>
            </a:extLst>
          </p:cNvPr>
          <p:cNvGraphicFramePr/>
          <p:nvPr/>
        </p:nvGraphicFramePr>
        <p:xfrm>
          <a:off x="4373880" y="1609725"/>
          <a:ext cx="341376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32" name="cost-text-5">
            <a:extLst>
              <a:ext uri="{FF2B5EF4-FFF2-40B4-BE49-F238E27FC236}">
                <a16:creationId xmlns:a16="http://schemas.microsoft.com/office/drawing/2014/main" id="{8A011633-43B6-40EB-A475-53A1992444E1}"/>
              </a:ext>
            </a:extLst>
          </p:cNvPr>
          <p:cNvSpPr>
            <a:spLocks noGrp="1"/>
          </p:cNvSpPr>
          <p:nvPr/>
        </p:nvSpPr>
        <p:spPr>
          <a:xfrm>
            <a:off x="4469130" y="5124450"/>
            <a:ext cx="3223260" cy="295275"/>
          </a:xfrm>
          <a:prstGeom prst="rect">
            <a:avLst/>
          </a:prstGeom>
          <a:noFill/>
          <a:ln w="0">
            <a:noFill/>
            <a:prstDash val="solid"/>
          </a:ln>
        </p:spPr>
        <p:txBody>
          <a:bodyPr wrap="square" lIns="0" tIns="0" rIns="0" bIns="0" anchor="ctr">
            <a:noAutofit/>
          </a:bodyPr>
          <a:lstStyle>
            <a:defPPr>
              <a:defRPr sz="1725" b="1">
                <a:solidFill>
                  <a:srgbClr val="FF5A4F"/>
                </a:solidFill>
                <a:latin typeface="Calibri"/>
                <a:ea typeface="Calibri"/>
                <a:cs typeface="Calibri"/>
              </a:defRPr>
            </a:defPPr>
            <a:lvl1pPr>
              <a:defRPr sz="1725" b="1">
                <a:solidFill>
                  <a:srgbClr val="FF5A4F"/>
                </a:solidFill>
                <a:latin typeface="Calibri"/>
                <a:ea typeface="Calibri"/>
                <a:cs typeface="Calibri"/>
              </a:defRPr>
            </a:lvl1pPr>
            <a:lvl2pPr>
              <a:defRPr sz="1725" b="1">
                <a:solidFill>
                  <a:srgbClr val="FF5A4F"/>
                </a:solidFill>
                <a:latin typeface="Calibri"/>
                <a:ea typeface="Calibri"/>
                <a:cs typeface="Calibri"/>
              </a:defRPr>
            </a:lvl2pPr>
            <a:lvl3pPr>
              <a:defRPr sz="1725" b="1">
                <a:solidFill>
                  <a:srgbClr val="FF5A4F"/>
                </a:solidFill>
                <a:latin typeface="Calibri"/>
                <a:ea typeface="Calibri"/>
                <a:cs typeface="Calibri"/>
              </a:defRPr>
            </a:lvl3pPr>
            <a:lvl4pPr>
              <a:defRPr sz="1725" b="1">
                <a:solidFill>
                  <a:srgbClr val="FF5A4F"/>
                </a:solidFill>
                <a:latin typeface="Calibri"/>
                <a:ea typeface="Calibri"/>
                <a:cs typeface="Calibri"/>
              </a:defRPr>
            </a:lvl4pPr>
            <a:lvl5pPr>
              <a:defRPr sz="1725" b="1">
                <a:solidFill>
                  <a:srgbClr val="FF5A4F"/>
                </a:solidFill>
                <a:latin typeface="Calibri"/>
                <a:ea typeface="Calibri"/>
                <a:cs typeface="Calibri"/>
              </a:defRPr>
            </a:lvl5pPr>
            <a:lvl6pPr>
              <a:defRPr sz="1725" b="1">
                <a:solidFill>
                  <a:srgbClr val="FF5A4F"/>
                </a:solidFill>
                <a:latin typeface="Calibri"/>
                <a:ea typeface="Calibri"/>
                <a:cs typeface="Calibri"/>
              </a:defRPr>
            </a:lvl6pPr>
            <a:lvl7pPr>
              <a:defRPr sz="1725" b="1">
                <a:solidFill>
                  <a:srgbClr val="FF5A4F"/>
                </a:solidFill>
                <a:latin typeface="Calibri"/>
                <a:ea typeface="Calibri"/>
                <a:cs typeface="Calibri"/>
              </a:defRPr>
            </a:lvl7pPr>
            <a:lvl8pPr>
              <a:defRPr sz="1725" b="1">
                <a:solidFill>
                  <a:srgbClr val="FF5A4F"/>
                </a:solidFill>
                <a:latin typeface="Calibri"/>
                <a:ea typeface="Calibri"/>
                <a:cs typeface="Calibri"/>
              </a:defRPr>
            </a:lvl8pPr>
            <a:lvl9pPr>
              <a:defRPr sz="1725" b="1">
                <a:solidFill>
                  <a:srgbClr val="FF5A4F"/>
                </a:solidFill>
                <a:latin typeface="Calibri"/>
                <a:ea typeface="Calibri"/>
                <a:cs typeface="Calibri"/>
              </a:defRPr>
            </a:lvl9pPr>
          </a:lstStyle>
          <a:p>
            <a:pPr>
              <a:defRPr sz="1725" b="1">
                <a:solidFill>
                  <a:srgbClr val="FF5A4F"/>
                </a:solidFill>
                <a:latin typeface="Calibri"/>
                <a:ea typeface="Calibri"/>
                <a:cs typeface="Calibri"/>
              </a:defRPr>
            </a:pPr>
            <a:r>
              <a:rPr sz="1725" b="1">
                <a:solidFill>
                  <a:srgbClr val="FF5A4F"/>
                </a:solidFill>
                <a:latin typeface="Calibri"/>
                <a:ea typeface="Calibri"/>
                <a:cs typeface="Calibri"/>
              </a:rPr>
              <a:t>5.4–6.3× electricity cost</a:t>
            </a:r>
          </a:p>
        </p:txBody>
      </p:sp>
      <p:sp>
        <p:nvSpPr>
          <p:cNvPr id="33" name="cost-chart-frame-6">
            <a:extLst>
              <a:ext uri="{FF2B5EF4-FFF2-40B4-BE49-F238E27FC236}">
                <a16:creationId xmlns:a16="http://schemas.microsoft.com/office/drawing/2014/main" id="{53A737FD-0F01-487D-A54C-67FE60FD394D}"/>
              </a:ext>
            </a:extLst>
          </p:cNvPr>
          <p:cNvSpPr>
            <a:spLocks noGrp="1"/>
          </p:cNvSpPr>
          <p:nvPr/>
        </p:nvSpPr>
        <p:spPr>
          <a:xfrm>
            <a:off x="804672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4" name="Chart">
            <a:extLst>
              <a:ext uri="{FF2B5EF4-FFF2-40B4-BE49-F238E27FC236}">
                <a16:creationId xmlns:a16="http://schemas.microsoft.com/office/drawing/2014/main" id="{29E21C7D-F66D-424E-B79F-6B5ED7D15EAC}"/>
              </a:ext>
            </a:extLst>
          </p:cNvPr>
          <p:cNvGraphicFramePr/>
          <p:nvPr/>
        </p:nvGraphicFramePr>
        <p:xfrm>
          <a:off x="8122920" y="1609725"/>
          <a:ext cx="3413760" cy="3381375"/>
        </p:xfrm>
        <a:graphic>
          <a:graphicData uri="http://schemas.openxmlformats.org/drawingml/2006/chart">
            <c:chart xmlns:c="http://schemas.openxmlformats.org/drawingml/2006/chart" xmlns:r="http://schemas.openxmlformats.org/officeDocument/2006/relationships" r:id="rId5"/>
          </a:graphicData>
        </a:graphic>
      </p:graphicFrame>
      <p:sp>
        <p:nvSpPr>
          <p:cNvPr id="35" name="cost-text-7">
            <a:extLst>
              <a:ext uri="{FF2B5EF4-FFF2-40B4-BE49-F238E27FC236}">
                <a16:creationId xmlns:a16="http://schemas.microsoft.com/office/drawing/2014/main" id="{C112B915-EB74-40D3-9660-D7AF6B6626EA}"/>
              </a:ext>
            </a:extLst>
          </p:cNvPr>
          <p:cNvSpPr>
            <a:spLocks noGrp="1"/>
          </p:cNvSpPr>
          <p:nvPr/>
        </p:nvSpPr>
        <p:spPr>
          <a:xfrm>
            <a:off x="8218170" y="5124450"/>
            <a:ext cx="3223260" cy="295275"/>
          </a:xfrm>
          <a:prstGeom prst="rect">
            <a:avLst/>
          </a:prstGeom>
          <a:noFill/>
          <a:ln w="0">
            <a:noFill/>
            <a:prstDash val="solid"/>
          </a:ln>
        </p:spPr>
        <p:txBody>
          <a:bodyPr wrap="square" lIns="0" tIns="0" rIns="0" bIns="0" anchor="ctr">
            <a:noAutofit/>
          </a:bodyPr>
          <a:lstStyle>
            <a:defPPr>
              <a:defRPr sz="1725" b="1">
                <a:solidFill>
                  <a:srgbClr val="F7E23B"/>
                </a:solidFill>
                <a:latin typeface="Calibri"/>
                <a:ea typeface="Calibri"/>
                <a:cs typeface="Calibri"/>
              </a:defRPr>
            </a:defPPr>
            <a:lvl1pPr>
              <a:defRPr sz="1725" b="1">
                <a:solidFill>
                  <a:srgbClr val="F7E23B"/>
                </a:solidFill>
                <a:latin typeface="Calibri"/>
                <a:ea typeface="Calibri"/>
                <a:cs typeface="Calibri"/>
              </a:defRPr>
            </a:lvl1pPr>
            <a:lvl2pPr>
              <a:defRPr sz="1725" b="1">
                <a:solidFill>
                  <a:srgbClr val="F7E23B"/>
                </a:solidFill>
                <a:latin typeface="Calibri"/>
                <a:ea typeface="Calibri"/>
                <a:cs typeface="Calibri"/>
              </a:defRPr>
            </a:lvl2pPr>
            <a:lvl3pPr>
              <a:defRPr sz="1725" b="1">
                <a:solidFill>
                  <a:srgbClr val="F7E23B"/>
                </a:solidFill>
                <a:latin typeface="Calibri"/>
                <a:ea typeface="Calibri"/>
                <a:cs typeface="Calibri"/>
              </a:defRPr>
            </a:lvl3pPr>
            <a:lvl4pPr>
              <a:defRPr sz="1725" b="1">
                <a:solidFill>
                  <a:srgbClr val="F7E23B"/>
                </a:solidFill>
                <a:latin typeface="Calibri"/>
                <a:ea typeface="Calibri"/>
                <a:cs typeface="Calibri"/>
              </a:defRPr>
            </a:lvl4pPr>
            <a:lvl5pPr>
              <a:defRPr sz="1725" b="1">
                <a:solidFill>
                  <a:srgbClr val="F7E23B"/>
                </a:solidFill>
                <a:latin typeface="Calibri"/>
                <a:ea typeface="Calibri"/>
                <a:cs typeface="Calibri"/>
              </a:defRPr>
            </a:lvl5pPr>
            <a:lvl6pPr>
              <a:defRPr sz="1725" b="1">
                <a:solidFill>
                  <a:srgbClr val="F7E23B"/>
                </a:solidFill>
                <a:latin typeface="Calibri"/>
                <a:ea typeface="Calibri"/>
                <a:cs typeface="Calibri"/>
              </a:defRPr>
            </a:lvl6pPr>
            <a:lvl7pPr>
              <a:defRPr sz="1725" b="1">
                <a:solidFill>
                  <a:srgbClr val="F7E23B"/>
                </a:solidFill>
                <a:latin typeface="Calibri"/>
                <a:ea typeface="Calibri"/>
                <a:cs typeface="Calibri"/>
              </a:defRPr>
            </a:lvl7pPr>
            <a:lvl8pPr>
              <a:defRPr sz="1725" b="1">
                <a:solidFill>
                  <a:srgbClr val="F7E23B"/>
                </a:solidFill>
                <a:latin typeface="Calibri"/>
                <a:ea typeface="Calibri"/>
                <a:cs typeface="Calibri"/>
              </a:defRPr>
            </a:lvl8pPr>
            <a:lvl9pPr>
              <a:defRPr sz="1725" b="1">
                <a:solidFill>
                  <a:srgbClr val="F7E23B"/>
                </a:solidFill>
                <a:latin typeface="Calibri"/>
                <a:ea typeface="Calibri"/>
                <a:cs typeface="Calibri"/>
              </a:defRPr>
            </a:lvl9pPr>
          </a:lstStyle>
          <a:p>
            <a:pPr>
              <a:defRPr sz="1725" b="1">
                <a:solidFill>
                  <a:srgbClr val="F7E23B"/>
                </a:solidFill>
                <a:latin typeface="Calibri"/>
                <a:ea typeface="Calibri"/>
                <a:cs typeface="Calibri"/>
              </a:defRPr>
            </a:pPr>
            <a:r>
              <a:rPr sz="1725" b="1">
                <a:solidFill>
                  <a:srgbClr val="F7E23B"/>
                </a:solidFill>
                <a:latin typeface="Calibri"/>
                <a:ea typeface="Calibri"/>
                <a:cs typeface="Calibri"/>
              </a:rPr>
              <a:t>40–46× more tokens</a:t>
            </a:r>
          </a:p>
        </p:txBody>
      </p:sp>
      <p:sp>
        <p:nvSpPr>
          <p:cNvPr id="36" name="cost-chart-frame-8">
            <a:extLst>
              <a:ext uri="{FF2B5EF4-FFF2-40B4-BE49-F238E27FC236}">
                <a16:creationId xmlns:a16="http://schemas.microsoft.com/office/drawing/2014/main" id="{5FD4181D-77A7-4050-AB1D-90F60E7A3372}"/>
              </a:ext>
            </a:extLst>
          </p:cNvPr>
          <p:cNvSpPr>
            <a:spLocks noGrp="1"/>
          </p:cNvSpPr>
          <p:nvPr/>
        </p:nvSpPr>
        <p:spPr>
          <a:xfrm>
            <a:off x="548640" y="5669280"/>
            <a:ext cx="11064240" cy="502920"/>
          </a:xfrm>
          <a:prstGeom prst="roundRect">
            <a:avLst>
              <a:gd name="adj" fmla="val 22727"/>
            </a:avLst>
          </a:prstGeom>
          <a:solidFill>
            <a:srgbClr val="16294A"/>
          </a:solidFill>
          <a:ln w="9525">
            <a:solidFill>
              <a:srgbClr val="92C4FF"/>
            </a:solidFill>
            <a:prstDash val="solid"/>
          </a:ln>
        </p:spPr>
        <p:txBody>
          <a:bodyPr/>
          <a:lstStyle/>
          <a:p>
            <a:endParaRPr lang="en-GB"/>
          </a:p>
        </p:txBody>
      </p:sp>
      <p:sp>
        <p:nvSpPr>
          <p:cNvPr id="37" name="cost-text-9">
            <a:extLst>
              <a:ext uri="{FF2B5EF4-FFF2-40B4-BE49-F238E27FC236}">
                <a16:creationId xmlns:a16="http://schemas.microsoft.com/office/drawing/2014/main" id="{96C5E872-166C-4848-8801-290638B1A05A}"/>
              </a:ext>
            </a:extLst>
          </p:cNvPr>
          <p:cNvSpPr>
            <a:spLocks noGrp="1"/>
          </p:cNvSpPr>
          <p:nvPr/>
        </p:nvSpPr>
        <p:spPr>
          <a:xfrm>
            <a:off x="733425" y="5715000"/>
            <a:ext cx="10696575" cy="409575"/>
          </a:xfrm>
          <a:prstGeom prst="rect">
            <a:avLst/>
          </a:prstGeom>
          <a:noFill/>
          <a:ln w="0">
            <a:noFill/>
            <a:prstDash val="solid"/>
          </a:ln>
        </p:spPr>
        <p:txBody>
          <a:bodyPr wrap="square" lIns="0" tIns="0" rIns="0" bIns="0" anchor="ctr">
            <a:noAutofit/>
          </a:bodyPr>
          <a:lstStyle>
            <a:defPPr>
              <a:defRPr sz="1350" b="0">
                <a:solidFill>
                  <a:srgbClr val="F2F5FA"/>
                </a:solidFill>
                <a:latin typeface="Calibri"/>
                <a:ea typeface="Calibri"/>
                <a:cs typeface="Calibri"/>
              </a:defRPr>
            </a:defPPr>
            <a:lvl1pPr>
              <a:defRPr sz="1350" b="0">
                <a:solidFill>
                  <a:srgbClr val="F2F5FA"/>
                </a:solidFill>
                <a:latin typeface="Calibri"/>
                <a:ea typeface="Calibri"/>
                <a:cs typeface="Calibri"/>
              </a:defRPr>
            </a:lvl1pPr>
            <a:lvl2pPr>
              <a:defRPr sz="1350" b="0">
                <a:solidFill>
                  <a:srgbClr val="F2F5FA"/>
                </a:solidFill>
                <a:latin typeface="Calibri"/>
                <a:ea typeface="Calibri"/>
                <a:cs typeface="Calibri"/>
              </a:defRPr>
            </a:lvl2pPr>
            <a:lvl3pPr>
              <a:defRPr sz="1350" b="0">
                <a:solidFill>
                  <a:srgbClr val="F2F5FA"/>
                </a:solidFill>
                <a:latin typeface="Calibri"/>
                <a:ea typeface="Calibri"/>
                <a:cs typeface="Calibri"/>
              </a:defRPr>
            </a:lvl3pPr>
            <a:lvl4pPr>
              <a:defRPr sz="1350" b="0">
                <a:solidFill>
                  <a:srgbClr val="F2F5FA"/>
                </a:solidFill>
                <a:latin typeface="Calibri"/>
                <a:ea typeface="Calibri"/>
                <a:cs typeface="Calibri"/>
              </a:defRPr>
            </a:lvl4pPr>
            <a:lvl5pPr>
              <a:defRPr sz="1350" b="0">
                <a:solidFill>
                  <a:srgbClr val="F2F5FA"/>
                </a:solidFill>
                <a:latin typeface="Calibri"/>
                <a:ea typeface="Calibri"/>
                <a:cs typeface="Calibri"/>
              </a:defRPr>
            </a:lvl5pPr>
            <a:lvl6pPr>
              <a:defRPr sz="1350" b="0">
                <a:solidFill>
                  <a:srgbClr val="F2F5FA"/>
                </a:solidFill>
                <a:latin typeface="Calibri"/>
                <a:ea typeface="Calibri"/>
                <a:cs typeface="Calibri"/>
              </a:defRPr>
            </a:lvl6pPr>
            <a:lvl7pPr>
              <a:defRPr sz="1350" b="0">
                <a:solidFill>
                  <a:srgbClr val="F2F5FA"/>
                </a:solidFill>
                <a:latin typeface="Calibri"/>
                <a:ea typeface="Calibri"/>
                <a:cs typeface="Calibri"/>
              </a:defRPr>
            </a:lvl7pPr>
            <a:lvl8pPr>
              <a:defRPr sz="1350" b="0">
                <a:solidFill>
                  <a:srgbClr val="F2F5FA"/>
                </a:solidFill>
                <a:latin typeface="Calibri"/>
                <a:ea typeface="Calibri"/>
                <a:cs typeface="Calibri"/>
              </a:defRPr>
            </a:lvl8pPr>
            <a:lvl9pPr>
              <a:defRPr sz="1350" b="0">
                <a:solidFill>
                  <a:srgbClr val="F2F5FA"/>
                </a:solidFill>
                <a:latin typeface="Calibri"/>
                <a:ea typeface="Calibri"/>
                <a:cs typeface="Calibri"/>
              </a:defRPr>
            </a:lvl9pPr>
          </a:lstStyle>
          <a:p>
            <a:pPr>
              <a:defRPr sz="1350" b="0">
                <a:solidFill>
                  <a:srgbClr val="F2F5FA"/>
                </a:solidFill>
                <a:latin typeface="Calibri"/>
                <a:ea typeface="Calibri"/>
                <a:cs typeface="Calibri"/>
              </a:defRPr>
            </a:pPr>
            <a:r>
              <a:rPr sz="1350" b="0">
                <a:solidFill>
                  <a:srgbClr val="F2F5FA"/>
                </a:solidFill>
                <a:latin typeface="Calibri"/>
                <a:ea typeface="Calibri"/>
                <a:cs typeface="Calibri"/>
              </a:rPr>
              <a:t>Electricity costs use GPU + CPU package energy at R4.1109/kWh incl. VAT. Tokens include input and output.</a:t>
            </a:r>
          </a:p>
        </p:txBody>
      </p:sp>
    </p:spTree>
    <p:extLst>
      <p:ext uri="{BB962C8B-B14F-4D97-AF65-F5344CB8AC3E}">
        <p14:creationId xmlns:p14="http://schemas.microsoft.com/office/powerpoint/2010/main" val="133008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FD78F0-690B-433B-BDEA-8E7B10C763EC}"/>
              </a:ext>
            </a:extLst>
          </p:cNvPr>
          <p:cNvSpPr>
            <a:spLocks noGrp="1"/>
          </p:cNvSpPr>
          <p:nvPr>
            <p:ph type="title" idx="100" hasCustomPrompt="1"/>
          </p:nvPr>
        </p:nvSpPr>
        <p:spPr>
          <a:xfrm>
            <a:off x="548640" y="365760"/>
            <a:ext cx="11064240" cy="868680"/>
          </a:xfrm>
          <a:prstGeom prst="rect">
            <a:avLst/>
          </a:prstGeom>
          <a:noFill/>
        </p:spPr>
        <p:txBody>
          <a:bodyPr wrap="square" lIns="0" tIns="0" rIns="0" bIns="0" anchor="ctr"/>
          <a:lstStyle/>
          <a:p>
            <a:pPr marL="0" indent="0" algn="l">
              <a:buNone/>
            </a:pPr>
            <a:r>
              <a:rPr sz="3400" b="1">
                <a:solidFill>
                  <a:srgbClr val="F2F5FA"/>
                </a:solidFill>
                <a:latin typeface="Cambria"/>
                <a:ea typeface="Cambria"/>
                <a:cs typeface="Cambria"/>
              </a:rPr>
              <a:t>Cost of Intervention: per batch</a:t>
            </a:r>
            <a:endParaRPr sz="3400"/>
          </a:p>
        </p:txBody>
      </p:sp>
      <p:sp>
        <p:nvSpPr>
          <p:cNvPr id="25" name="Slide Number Placeholder 0">
            <a:extLst>
              <a:ext uri="{FF2B5EF4-FFF2-40B4-BE49-F238E27FC236}">
                <a16:creationId xmlns:a16="http://schemas.microsoft.com/office/drawing/2014/main" id="{9D9CF153-9532-4894-8EBE-C81F98A94CDB}"/>
              </a:ext>
            </a:extLst>
          </p:cNvPr>
          <p:cNvSpPr>
            <a:spLocks noGrp="1"/>
          </p:cNvSpPr>
          <p:nvPr>
            <p:ph type="sldNum" idx="4294967295"/>
          </p:nvPr>
        </p:nvSpPr>
        <p:spPr>
          <a:xfrm>
            <a:off x="11155680" y="6400800"/>
            <a:ext cx="548640" cy="274320"/>
          </a:xfrm>
          <a:prstGeom prst="rect">
            <a:avLst/>
          </a:prstGeom>
        </p:spPr>
        <p:txBody>
          <a:bodyPr/>
          <a:lstStyle>
            <a:lvl1pPr>
              <a:buNone/>
              <a:defRPr sz="1000">
                <a:solidFill>
                  <a:srgbClr val="9FB2CC"/>
                </a:solidFill>
                <a:latin typeface="Calibri"/>
                <a:ea typeface="Calibri"/>
                <a:cs typeface="Calibri"/>
              </a:defRPr>
            </a:lvl1pPr>
          </a:lstStyle>
          <a:p>
            <a:pPr algn="l">
              <a:buNone/>
            </a:pPr>
            <a:fld id="{F6DF2BE2-2DFA-1C03-677D-BDC2260D6D92}" type="slidenum">
              <a:rPr b="0"/>
              <a:t>21</a:t>
            </a:fld>
            <a:endParaRPr/>
          </a:p>
        </p:txBody>
      </p:sp>
      <p:sp>
        <p:nvSpPr>
          <p:cNvPr id="26" name="cost-text-10">
            <a:extLst>
              <a:ext uri="{FF2B5EF4-FFF2-40B4-BE49-F238E27FC236}">
                <a16:creationId xmlns:a16="http://schemas.microsoft.com/office/drawing/2014/main" id="{A0E2DF62-10AF-4B77-8FB8-A2D929C2AB1D}"/>
              </a:ext>
            </a:extLst>
          </p:cNvPr>
          <p:cNvSpPr>
            <a:spLocks noGrp="1"/>
          </p:cNvSpPr>
          <p:nvPr/>
        </p:nvSpPr>
        <p:spPr>
          <a:xfrm>
            <a:off x="548640" y="1123950"/>
            <a:ext cx="11064240" cy="266700"/>
          </a:xfrm>
          <a:prstGeom prst="rect">
            <a:avLst/>
          </a:prstGeom>
          <a:noFill/>
          <a:ln w="0">
            <a:noFill/>
            <a:prstDash val="solid"/>
          </a:ln>
        </p:spPr>
        <p:txBody>
          <a:bodyPr wrap="square" lIns="0" tIns="0" rIns="0" bIns="0" anchor="ctr">
            <a:noAutofit/>
          </a:bodyPr>
          <a:lstStyle>
            <a:defPPr>
              <a:defRPr sz="1500" b="0">
                <a:solidFill>
                  <a:srgbClr val="9FB2CC"/>
                </a:solidFill>
                <a:latin typeface="Calibri"/>
                <a:ea typeface="Calibri"/>
                <a:cs typeface="Calibri"/>
              </a:defRPr>
            </a:defPPr>
            <a:lvl1pPr>
              <a:defRPr sz="1500" b="0">
                <a:solidFill>
                  <a:srgbClr val="9FB2CC"/>
                </a:solidFill>
                <a:latin typeface="Calibri"/>
                <a:ea typeface="Calibri"/>
                <a:cs typeface="Calibri"/>
              </a:defRPr>
            </a:lvl1pPr>
            <a:lvl2pPr>
              <a:defRPr sz="1500" b="0">
                <a:solidFill>
                  <a:srgbClr val="9FB2CC"/>
                </a:solidFill>
                <a:latin typeface="Calibri"/>
                <a:ea typeface="Calibri"/>
                <a:cs typeface="Calibri"/>
              </a:defRPr>
            </a:lvl2pPr>
            <a:lvl3pPr>
              <a:defRPr sz="1500" b="0">
                <a:solidFill>
                  <a:srgbClr val="9FB2CC"/>
                </a:solidFill>
                <a:latin typeface="Calibri"/>
                <a:ea typeface="Calibri"/>
                <a:cs typeface="Calibri"/>
              </a:defRPr>
            </a:lvl3pPr>
            <a:lvl4pPr>
              <a:defRPr sz="1500" b="0">
                <a:solidFill>
                  <a:srgbClr val="9FB2CC"/>
                </a:solidFill>
                <a:latin typeface="Calibri"/>
                <a:ea typeface="Calibri"/>
                <a:cs typeface="Calibri"/>
              </a:defRPr>
            </a:lvl4pPr>
            <a:lvl5pPr>
              <a:defRPr sz="1500" b="0">
                <a:solidFill>
                  <a:srgbClr val="9FB2CC"/>
                </a:solidFill>
                <a:latin typeface="Calibri"/>
                <a:ea typeface="Calibri"/>
                <a:cs typeface="Calibri"/>
              </a:defRPr>
            </a:lvl5pPr>
            <a:lvl6pPr>
              <a:defRPr sz="1500" b="0">
                <a:solidFill>
                  <a:srgbClr val="9FB2CC"/>
                </a:solidFill>
                <a:latin typeface="Calibri"/>
                <a:ea typeface="Calibri"/>
                <a:cs typeface="Calibri"/>
              </a:defRPr>
            </a:lvl6pPr>
            <a:lvl7pPr>
              <a:defRPr sz="1500" b="0">
                <a:solidFill>
                  <a:srgbClr val="9FB2CC"/>
                </a:solidFill>
                <a:latin typeface="Calibri"/>
                <a:ea typeface="Calibri"/>
                <a:cs typeface="Calibri"/>
              </a:defRPr>
            </a:lvl7pPr>
            <a:lvl8pPr>
              <a:defRPr sz="1500" b="0">
                <a:solidFill>
                  <a:srgbClr val="9FB2CC"/>
                </a:solidFill>
                <a:latin typeface="Calibri"/>
                <a:ea typeface="Calibri"/>
                <a:cs typeface="Calibri"/>
              </a:defRPr>
            </a:lvl8pPr>
            <a:lvl9pPr>
              <a:defRPr sz="1500" b="0">
                <a:solidFill>
                  <a:srgbClr val="9FB2CC"/>
                </a:solidFill>
                <a:latin typeface="Calibri"/>
                <a:ea typeface="Calibri"/>
                <a:cs typeface="Calibri"/>
              </a:defRPr>
            </a:lvl9pPr>
          </a:lstStyle>
          <a:p>
            <a:pPr>
              <a:defRPr sz="1500" b="0">
                <a:solidFill>
                  <a:srgbClr val="9FB2CC"/>
                </a:solidFill>
                <a:latin typeface="Calibri"/>
                <a:ea typeface="Calibri"/>
                <a:cs typeface="Calibri"/>
              </a:defRPr>
            </a:pPr>
            <a:r>
              <a:rPr sz="1500" b="0">
                <a:solidFill>
                  <a:srgbClr val="9FB2CC"/>
                </a:solidFill>
                <a:latin typeface="Calibri"/>
                <a:ea typeface="Calibri"/>
                <a:cs typeface="Calibri"/>
              </a:rPr>
              <a:t>Actual totals for 1,000 prompts per mode and quantization, including the 10-prompt pilot</a:t>
            </a:r>
          </a:p>
        </p:txBody>
      </p:sp>
      <p:sp>
        <p:nvSpPr>
          <p:cNvPr id="27" name="cost-chart-frame-11">
            <a:extLst>
              <a:ext uri="{FF2B5EF4-FFF2-40B4-BE49-F238E27FC236}">
                <a16:creationId xmlns:a16="http://schemas.microsoft.com/office/drawing/2014/main" id="{52BAB37F-1C07-4560-9E33-0C96EDF330B5}"/>
              </a:ext>
            </a:extLst>
          </p:cNvPr>
          <p:cNvSpPr>
            <a:spLocks noGrp="1"/>
          </p:cNvSpPr>
          <p:nvPr/>
        </p:nvSpPr>
        <p:spPr>
          <a:xfrm>
            <a:off x="54864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28" name="Chart">
            <a:extLst>
              <a:ext uri="{FF2B5EF4-FFF2-40B4-BE49-F238E27FC236}">
                <a16:creationId xmlns:a16="http://schemas.microsoft.com/office/drawing/2014/main" id="{B570C605-FED5-4275-835F-6A7C9021642A}"/>
              </a:ext>
            </a:extLst>
          </p:cNvPr>
          <p:cNvGraphicFramePr/>
          <p:nvPr/>
        </p:nvGraphicFramePr>
        <p:xfrm>
          <a:off x="624840" y="1609725"/>
          <a:ext cx="341376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29" name="cost-text-12">
            <a:extLst>
              <a:ext uri="{FF2B5EF4-FFF2-40B4-BE49-F238E27FC236}">
                <a16:creationId xmlns:a16="http://schemas.microsoft.com/office/drawing/2014/main" id="{C5118722-6080-46AB-9158-5CA5804D5D6F}"/>
              </a:ext>
            </a:extLst>
          </p:cNvPr>
          <p:cNvSpPr>
            <a:spLocks noGrp="1"/>
          </p:cNvSpPr>
          <p:nvPr/>
        </p:nvSpPr>
        <p:spPr>
          <a:xfrm>
            <a:off x="720090" y="5124450"/>
            <a:ext cx="3223260" cy="295275"/>
          </a:xfrm>
          <a:prstGeom prst="rect">
            <a:avLst/>
          </a:prstGeom>
          <a:noFill/>
          <a:ln w="0">
            <a:noFill/>
            <a:prstDash val="solid"/>
          </a:ln>
        </p:spPr>
        <p:txBody>
          <a:bodyPr wrap="square" lIns="0" tIns="0" rIns="0" bIns="0" anchor="ctr">
            <a:noAutofit/>
          </a:bodyPr>
          <a:lstStyle>
            <a:defPPr>
              <a:defRPr sz="1725" b="1">
                <a:solidFill>
                  <a:srgbClr val="3D95E8"/>
                </a:solidFill>
                <a:latin typeface="Calibri"/>
                <a:ea typeface="Calibri"/>
                <a:cs typeface="Calibri"/>
              </a:defRPr>
            </a:defPPr>
            <a:lvl1pPr>
              <a:defRPr sz="1725" b="1">
                <a:solidFill>
                  <a:srgbClr val="3D95E8"/>
                </a:solidFill>
                <a:latin typeface="Calibri"/>
                <a:ea typeface="Calibri"/>
                <a:cs typeface="Calibri"/>
              </a:defRPr>
            </a:lvl1pPr>
            <a:lvl2pPr>
              <a:defRPr sz="1725" b="1">
                <a:solidFill>
                  <a:srgbClr val="3D95E8"/>
                </a:solidFill>
                <a:latin typeface="Calibri"/>
                <a:ea typeface="Calibri"/>
                <a:cs typeface="Calibri"/>
              </a:defRPr>
            </a:lvl2pPr>
            <a:lvl3pPr>
              <a:defRPr sz="1725" b="1">
                <a:solidFill>
                  <a:srgbClr val="3D95E8"/>
                </a:solidFill>
                <a:latin typeface="Calibri"/>
                <a:ea typeface="Calibri"/>
                <a:cs typeface="Calibri"/>
              </a:defRPr>
            </a:lvl3pPr>
            <a:lvl4pPr>
              <a:defRPr sz="1725" b="1">
                <a:solidFill>
                  <a:srgbClr val="3D95E8"/>
                </a:solidFill>
                <a:latin typeface="Calibri"/>
                <a:ea typeface="Calibri"/>
                <a:cs typeface="Calibri"/>
              </a:defRPr>
            </a:lvl4pPr>
            <a:lvl5pPr>
              <a:defRPr sz="1725" b="1">
                <a:solidFill>
                  <a:srgbClr val="3D95E8"/>
                </a:solidFill>
                <a:latin typeface="Calibri"/>
                <a:ea typeface="Calibri"/>
                <a:cs typeface="Calibri"/>
              </a:defRPr>
            </a:lvl5pPr>
            <a:lvl6pPr>
              <a:defRPr sz="1725" b="1">
                <a:solidFill>
                  <a:srgbClr val="3D95E8"/>
                </a:solidFill>
                <a:latin typeface="Calibri"/>
                <a:ea typeface="Calibri"/>
                <a:cs typeface="Calibri"/>
              </a:defRPr>
            </a:lvl6pPr>
            <a:lvl7pPr>
              <a:defRPr sz="1725" b="1">
                <a:solidFill>
                  <a:srgbClr val="3D95E8"/>
                </a:solidFill>
                <a:latin typeface="Calibri"/>
                <a:ea typeface="Calibri"/>
                <a:cs typeface="Calibri"/>
              </a:defRPr>
            </a:lvl7pPr>
            <a:lvl8pPr>
              <a:defRPr sz="1725" b="1">
                <a:solidFill>
                  <a:srgbClr val="3D95E8"/>
                </a:solidFill>
                <a:latin typeface="Calibri"/>
                <a:ea typeface="Calibri"/>
                <a:cs typeface="Calibri"/>
              </a:defRPr>
            </a:lvl8pPr>
            <a:lvl9pPr>
              <a:defRPr sz="1725" b="1">
                <a:solidFill>
                  <a:srgbClr val="3D95E8"/>
                </a:solidFill>
                <a:latin typeface="Calibri"/>
                <a:ea typeface="Calibri"/>
                <a:cs typeface="Calibri"/>
              </a:defRPr>
            </a:lvl9pPr>
          </a:lstStyle>
          <a:p>
            <a:pPr>
              <a:defRPr sz="1725" b="1">
                <a:solidFill>
                  <a:srgbClr val="3D95E8"/>
                </a:solidFill>
                <a:latin typeface="Calibri"/>
                <a:ea typeface="Calibri"/>
                <a:cs typeface="Calibri"/>
              </a:defRPr>
            </a:pPr>
            <a:r>
              <a:rPr sz="1725" b="1">
                <a:solidFill>
                  <a:srgbClr val="3D95E8"/>
                </a:solidFill>
                <a:latin typeface="Calibri"/>
                <a:ea typeface="Calibri"/>
                <a:cs typeface="Calibri"/>
              </a:rPr>
              <a:t>6.2–6.6× longer</a:t>
            </a:r>
          </a:p>
        </p:txBody>
      </p:sp>
      <p:sp>
        <p:nvSpPr>
          <p:cNvPr id="30" name="cost-chart-frame-13">
            <a:extLst>
              <a:ext uri="{FF2B5EF4-FFF2-40B4-BE49-F238E27FC236}">
                <a16:creationId xmlns:a16="http://schemas.microsoft.com/office/drawing/2014/main" id="{C04A16DA-22E6-4897-88B9-E6390F2082E5}"/>
              </a:ext>
            </a:extLst>
          </p:cNvPr>
          <p:cNvSpPr>
            <a:spLocks noGrp="1"/>
          </p:cNvSpPr>
          <p:nvPr/>
        </p:nvSpPr>
        <p:spPr>
          <a:xfrm>
            <a:off x="429768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1" name="Chart">
            <a:extLst>
              <a:ext uri="{FF2B5EF4-FFF2-40B4-BE49-F238E27FC236}">
                <a16:creationId xmlns:a16="http://schemas.microsoft.com/office/drawing/2014/main" id="{3A874A71-CAC4-49CD-9AE1-67E8E29B2D20}"/>
              </a:ext>
            </a:extLst>
          </p:cNvPr>
          <p:cNvGraphicFramePr/>
          <p:nvPr/>
        </p:nvGraphicFramePr>
        <p:xfrm>
          <a:off x="4373880" y="1609725"/>
          <a:ext cx="341376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32" name="cost-text-14">
            <a:extLst>
              <a:ext uri="{FF2B5EF4-FFF2-40B4-BE49-F238E27FC236}">
                <a16:creationId xmlns:a16="http://schemas.microsoft.com/office/drawing/2014/main" id="{2125DAF7-4906-4E3E-AE1A-2E536D76B6CE}"/>
              </a:ext>
            </a:extLst>
          </p:cNvPr>
          <p:cNvSpPr>
            <a:spLocks noGrp="1"/>
          </p:cNvSpPr>
          <p:nvPr/>
        </p:nvSpPr>
        <p:spPr>
          <a:xfrm>
            <a:off x="4469130" y="5124450"/>
            <a:ext cx="3223260" cy="295275"/>
          </a:xfrm>
          <a:prstGeom prst="rect">
            <a:avLst/>
          </a:prstGeom>
          <a:noFill/>
          <a:ln w="0">
            <a:noFill/>
            <a:prstDash val="solid"/>
          </a:ln>
        </p:spPr>
        <p:txBody>
          <a:bodyPr wrap="square" lIns="0" tIns="0" rIns="0" bIns="0" anchor="ctr">
            <a:noAutofit/>
          </a:bodyPr>
          <a:lstStyle>
            <a:defPPr>
              <a:defRPr sz="1725" b="1">
                <a:solidFill>
                  <a:srgbClr val="FF5A4F"/>
                </a:solidFill>
                <a:latin typeface="Calibri"/>
                <a:ea typeface="Calibri"/>
                <a:cs typeface="Calibri"/>
              </a:defRPr>
            </a:defPPr>
            <a:lvl1pPr>
              <a:defRPr sz="1725" b="1">
                <a:solidFill>
                  <a:srgbClr val="FF5A4F"/>
                </a:solidFill>
                <a:latin typeface="Calibri"/>
                <a:ea typeface="Calibri"/>
                <a:cs typeface="Calibri"/>
              </a:defRPr>
            </a:lvl1pPr>
            <a:lvl2pPr>
              <a:defRPr sz="1725" b="1">
                <a:solidFill>
                  <a:srgbClr val="FF5A4F"/>
                </a:solidFill>
                <a:latin typeface="Calibri"/>
                <a:ea typeface="Calibri"/>
                <a:cs typeface="Calibri"/>
              </a:defRPr>
            </a:lvl2pPr>
            <a:lvl3pPr>
              <a:defRPr sz="1725" b="1">
                <a:solidFill>
                  <a:srgbClr val="FF5A4F"/>
                </a:solidFill>
                <a:latin typeface="Calibri"/>
                <a:ea typeface="Calibri"/>
                <a:cs typeface="Calibri"/>
              </a:defRPr>
            </a:lvl3pPr>
            <a:lvl4pPr>
              <a:defRPr sz="1725" b="1">
                <a:solidFill>
                  <a:srgbClr val="FF5A4F"/>
                </a:solidFill>
                <a:latin typeface="Calibri"/>
                <a:ea typeface="Calibri"/>
                <a:cs typeface="Calibri"/>
              </a:defRPr>
            </a:lvl4pPr>
            <a:lvl5pPr>
              <a:defRPr sz="1725" b="1">
                <a:solidFill>
                  <a:srgbClr val="FF5A4F"/>
                </a:solidFill>
                <a:latin typeface="Calibri"/>
                <a:ea typeface="Calibri"/>
                <a:cs typeface="Calibri"/>
              </a:defRPr>
            </a:lvl5pPr>
            <a:lvl6pPr>
              <a:defRPr sz="1725" b="1">
                <a:solidFill>
                  <a:srgbClr val="FF5A4F"/>
                </a:solidFill>
                <a:latin typeface="Calibri"/>
                <a:ea typeface="Calibri"/>
                <a:cs typeface="Calibri"/>
              </a:defRPr>
            </a:lvl6pPr>
            <a:lvl7pPr>
              <a:defRPr sz="1725" b="1">
                <a:solidFill>
                  <a:srgbClr val="FF5A4F"/>
                </a:solidFill>
                <a:latin typeface="Calibri"/>
                <a:ea typeface="Calibri"/>
                <a:cs typeface="Calibri"/>
              </a:defRPr>
            </a:lvl7pPr>
            <a:lvl8pPr>
              <a:defRPr sz="1725" b="1">
                <a:solidFill>
                  <a:srgbClr val="FF5A4F"/>
                </a:solidFill>
                <a:latin typeface="Calibri"/>
                <a:ea typeface="Calibri"/>
                <a:cs typeface="Calibri"/>
              </a:defRPr>
            </a:lvl8pPr>
            <a:lvl9pPr>
              <a:defRPr sz="1725" b="1">
                <a:solidFill>
                  <a:srgbClr val="FF5A4F"/>
                </a:solidFill>
                <a:latin typeface="Calibri"/>
                <a:ea typeface="Calibri"/>
                <a:cs typeface="Calibri"/>
              </a:defRPr>
            </a:lvl9pPr>
          </a:lstStyle>
          <a:p>
            <a:pPr>
              <a:defRPr sz="1725" b="1">
                <a:solidFill>
                  <a:srgbClr val="FF5A4F"/>
                </a:solidFill>
                <a:latin typeface="Calibri"/>
                <a:ea typeface="Calibri"/>
                <a:cs typeface="Calibri"/>
              </a:defRPr>
            </a:pPr>
            <a:r>
              <a:rPr sz="1725" b="1">
                <a:solidFill>
                  <a:srgbClr val="FF5A4F"/>
                </a:solidFill>
                <a:latin typeface="Calibri"/>
                <a:ea typeface="Calibri"/>
                <a:cs typeface="Calibri"/>
              </a:rPr>
              <a:t>5.4–6.3× electricity cost</a:t>
            </a:r>
          </a:p>
        </p:txBody>
      </p:sp>
      <p:sp>
        <p:nvSpPr>
          <p:cNvPr id="33" name="cost-chart-frame-15">
            <a:extLst>
              <a:ext uri="{FF2B5EF4-FFF2-40B4-BE49-F238E27FC236}">
                <a16:creationId xmlns:a16="http://schemas.microsoft.com/office/drawing/2014/main" id="{9CDAE6D4-6C08-4042-A836-B483FCBBE152}"/>
              </a:ext>
            </a:extLst>
          </p:cNvPr>
          <p:cNvSpPr>
            <a:spLocks noGrp="1"/>
          </p:cNvSpPr>
          <p:nvPr/>
        </p:nvSpPr>
        <p:spPr>
          <a:xfrm>
            <a:off x="804672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4" name="Chart">
            <a:extLst>
              <a:ext uri="{FF2B5EF4-FFF2-40B4-BE49-F238E27FC236}">
                <a16:creationId xmlns:a16="http://schemas.microsoft.com/office/drawing/2014/main" id="{891BFADC-7162-44B9-BB3A-E68A2F601FB0}"/>
              </a:ext>
            </a:extLst>
          </p:cNvPr>
          <p:cNvGraphicFramePr/>
          <p:nvPr/>
        </p:nvGraphicFramePr>
        <p:xfrm>
          <a:off x="8122920" y="1609725"/>
          <a:ext cx="3413760" cy="3381375"/>
        </p:xfrm>
        <a:graphic>
          <a:graphicData uri="http://schemas.openxmlformats.org/drawingml/2006/chart">
            <c:chart xmlns:c="http://schemas.openxmlformats.org/drawingml/2006/chart" xmlns:r="http://schemas.openxmlformats.org/officeDocument/2006/relationships" r:id="rId5"/>
          </a:graphicData>
        </a:graphic>
      </p:graphicFrame>
      <p:sp>
        <p:nvSpPr>
          <p:cNvPr id="35" name="cost-text-16">
            <a:extLst>
              <a:ext uri="{FF2B5EF4-FFF2-40B4-BE49-F238E27FC236}">
                <a16:creationId xmlns:a16="http://schemas.microsoft.com/office/drawing/2014/main" id="{272719ED-8187-4562-AD38-C1A8EA577047}"/>
              </a:ext>
            </a:extLst>
          </p:cNvPr>
          <p:cNvSpPr>
            <a:spLocks noGrp="1"/>
          </p:cNvSpPr>
          <p:nvPr/>
        </p:nvSpPr>
        <p:spPr>
          <a:xfrm>
            <a:off x="8218170" y="5124450"/>
            <a:ext cx="3223260" cy="295275"/>
          </a:xfrm>
          <a:prstGeom prst="rect">
            <a:avLst/>
          </a:prstGeom>
          <a:noFill/>
          <a:ln w="0">
            <a:noFill/>
            <a:prstDash val="solid"/>
          </a:ln>
        </p:spPr>
        <p:txBody>
          <a:bodyPr wrap="square" lIns="0" tIns="0" rIns="0" bIns="0" anchor="ctr">
            <a:noAutofit/>
          </a:bodyPr>
          <a:lstStyle>
            <a:defPPr>
              <a:defRPr sz="1725" b="1">
                <a:solidFill>
                  <a:srgbClr val="F7E23B"/>
                </a:solidFill>
                <a:latin typeface="Calibri"/>
                <a:ea typeface="Calibri"/>
                <a:cs typeface="Calibri"/>
              </a:defRPr>
            </a:defPPr>
            <a:lvl1pPr>
              <a:defRPr sz="1725" b="1">
                <a:solidFill>
                  <a:srgbClr val="F7E23B"/>
                </a:solidFill>
                <a:latin typeface="Calibri"/>
                <a:ea typeface="Calibri"/>
                <a:cs typeface="Calibri"/>
              </a:defRPr>
            </a:lvl1pPr>
            <a:lvl2pPr>
              <a:defRPr sz="1725" b="1">
                <a:solidFill>
                  <a:srgbClr val="F7E23B"/>
                </a:solidFill>
                <a:latin typeface="Calibri"/>
                <a:ea typeface="Calibri"/>
                <a:cs typeface="Calibri"/>
              </a:defRPr>
            </a:lvl2pPr>
            <a:lvl3pPr>
              <a:defRPr sz="1725" b="1">
                <a:solidFill>
                  <a:srgbClr val="F7E23B"/>
                </a:solidFill>
                <a:latin typeface="Calibri"/>
                <a:ea typeface="Calibri"/>
                <a:cs typeface="Calibri"/>
              </a:defRPr>
            </a:lvl3pPr>
            <a:lvl4pPr>
              <a:defRPr sz="1725" b="1">
                <a:solidFill>
                  <a:srgbClr val="F7E23B"/>
                </a:solidFill>
                <a:latin typeface="Calibri"/>
                <a:ea typeface="Calibri"/>
                <a:cs typeface="Calibri"/>
              </a:defRPr>
            </a:lvl4pPr>
            <a:lvl5pPr>
              <a:defRPr sz="1725" b="1">
                <a:solidFill>
                  <a:srgbClr val="F7E23B"/>
                </a:solidFill>
                <a:latin typeface="Calibri"/>
                <a:ea typeface="Calibri"/>
                <a:cs typeface="Calibri"/>
              </a:defRPr>
            </a:lvl5pPr>
            <a:lvl6pPr>
              <a:defRPr sz="1725" b="1">
                <a:solidFill>
                  <a:srgbClr val="F7E23B"/>
                </a:solidFill>
                <a:latin typeface="Calibri"/>
                <a:ea typeface="Calibri"/>
                <a:cs typeface="Calibri"/>
              </a:defRPr>
            </a:lvl6pPr>
            <a:lvl7pPr>
              <a:defRPr sz="1725" b="1">
                <a:solidFill>
                  <a:srgbClr val="F7E23B"/>
                </a:solidFill>
                <a:latin typeface="Calibri"/>
                <a:ea typeface="Calibri"/>
                <a:cs typeface="Calibri"/>
              </a:defRPr>
            </a:lvl7pPr>
            <a:lvl8pPr>
              <a:defRPr sz="1725" b="1">
                <a:solidFill>
                  <a:srgbClr val="F7E23B"/>
                </a:solidFill>
                <a:latin typeface="Calibri"/>
                <a:ea typeface="Calibri"/>
                <a:cs typeface="Calibri"/>
              </a:defRPr>
            </a:lvl8pPr>
            <a:lvl9pPr>
              <a:defRPr sz="1725" b="1">
                <a:solidFill>
                  <a:srgbClr val="F7E23B"/>
                </a:solidFill>
                <a:latin typeface="Calibri"/>
                <a:ea typeface="Calibri"/>
                <a:cs typeface="Calibri"/>
              </a:defRPr>
            </a:lvl9pPr>
          </a:lstStyle>
          <a:p>
            <a:pPr>
              <a:defRPr sz="1725" b="1">
                <a:solidFill>
                  <a:srgbClr val="F7E23B"/>
                </a:solidFill>
                <a:latin typeface="Calibri"/>
                <a:ea typeface="Calibri"/>
                <a:cs typeface="Calibri"/>
              </a:defRPr>
            </a:pPr>
            <a:r>
              <a:rPr sz="1725" b="1">
                <a:solidFill>
                  <a:srgbClr val="F7E23B"/>
                </a:solidFill>
                <a:latin typeface="Calibri"/>
                <a:ea typeface="Calibri"/>
                <a:cs typeface="Calibri"/>
              </a:rPr>
              <a:t>5.4–6.3× energy used</a:t>
            </a:r>
          </a:p>
        </p:txBody>
      </p:sp>
      <p:sp>
        <p:nvSpPr>
          <p:cNvPr id="36" name="cost-chart-frame-17">
            <a:extLst>
              <a:ext uri="{FF2B5EF4-FFF2-40B4-BE49-F238E27FC236}">
                <a16:creationId xmlns:a16="http://schemas.microsoft.com/office/drawing/2014/main" id="{EF41859E-33F2-4C0C-A9A5-E4EAA6F6B387}"/>
              </a:ext>
            </a:extLst>
          </p:cNvPr>
          <p:cNvSpPr>
            <a:spLocks noGrp="1"/>
          </p:cNvSpPr>
          <p:nvPr/>
        </p:nvSpPr>
        <p:spPr>
          <a:xfrm>
            <a:off x="548640" y="5669280"/>
            <a:ext cx="11064240" cy="502920"/>
          </a:xfrm>
          <a:prstGeom prst="roundRect">
            <a:avLst>
              <a:gd name="adj" fmla="val 22727"/>
            </a:avLst>
          </a:prstGeom>
          <a:solidFill>
            <a:srgbClr val="16294A"/>
          </a:solidFill>
          <a:ln w="9525">
            <a:solidFill>
              <a:srgbClr val="92C4FF"/>
            </a:solidFill>
            <a:prstDash val="solid"/>
          </a:ln>
        </p:spPr>
        <p:txBody>
          <a:bodyPr/>
          <a:lstStyle/>
          <a:p>
            <a:endParaRPr lang="en-GB"/>
          </a:p>
        </p:txBody>
      </p:sp>
      <p:sp>
        <p:nvSpPr>
          <p:cNvPr id="37" name="cost-text-18">
            <a:extLst>
              <a:ext uri="{FF2B5EF4-FFF2-40B4-BE49-F238E27FC236}">
                <a16:creationId xmlns:a16="http://schemas.microsoft.com/office/drawing/2014/main" id="{09CBACEC-DA3C-4DE0-94C8-D5EF8DA868E4}"/>
              </a:ext>
            </a:extLst>
          </p:cNvPr>
          <p:cNvSpPr>
            <a:spLocks noGrp="1"/>
          </p:cNvSpPr>
          <p:nvPr/>
        </p:nvSpPr>
        <p:spPr>
          <a:xfrm>
            <a:off x="733425" y="5715000"/>
            <a:ext cx="10696575" cy="409575"/>
          </a:xfrm>
          <a:prstGeom prst="rect">
            <a:avLst/>
          </a:prstGeom>
          <a:noFill/>
          <a:ln w="0">
            <a:noFill/>
            <a:prstDash val="solid"/>
          </a:ln>
        </p:spPr>
        <p:txBody>
          <a:bodyPr wrap="square" lIns="0" tIns="0" rIns="0" bIns="0" anchor="ctr">
            <a:noAutofit/>
          </a:bodyPr>
          <a:lstStyle>
            <a:defPPr>
              <a:defRPr sz="1350" b="0">
                <a:solidFill>
                  <a:srgbClr val="F2F5FA"/>
                </a:solidFill>
                <a:latin typeface="Calibri"/>
                <a:ea typeface="Calibri"/>
                <a:cs typeface="Calibri"/>
              </a:defRPr>
            </a:defPPr>
            <a:lvl1pPr>
              <a:defRPr sz="1350" b="0">
                <a:solidFill>
                  <a:srgbClr val="F2F5FA"/>
                </a:solidFill>
                <a:latin typeface="Calibri"/>
                <a:ea typeface="Calibri"/>
                <a:cs typeface="Calibri"/>
              </a:defRPr>
            </a:lvl1pPr>
            <a:lvl2pPr>
              <a:defRPr sz="1350" b="0">
                <a:solidFill>
                  <a:srgbClr val="F2F5FA"/>
                </a:solidFill>
                <a:latin typeface="Calibri"/>
                <a:ea typeface="Calibri"/>
                <a:cs typeface="Calibri"/>
              </a:defRPr>
            </a:lvl2pPr>
            <a:lvl3pPr>
              <a:defRPr sz="1350" b="0">
                <a:solidFill>
                  <a:srgbClr val="F2F5FA"/>
                </a:solidFill>
                <a:latin typeface="Calibri"/>
                <a:ea typeface="Calibri"/>
                <a:cs typeface="Calibri"/>
              </a:defRPr>
            </a:lvl3pPr>
            <a:lvl4pPr>
              <a:defRPr sz="1350" b="0">
                <a:solidFill>
                  <a:srgbClr val="F2F5FA"/>
                </a:solidFill>
                <a:latin typeface="Calibri"/>
                <a:ea typeface="Calibri"/>
                <a:cs typeface="Calibri"/>
              </a:defRPr>
            </a:lvl4pPr>
            <a:lvl5pPr>
              <a:defRPr sz="1350" b="0">
                <a:solidFill>
                  <a:srgbClr val="F2F5FA"/>
                </a:solidFill>
                <a:latin typeface="Calibri"/>
                <a:ea typeface="Calibri"/>
                <a:cs typeface="Calibri"/>
              </a:defRPr>
            </a:lvl5pPr>
            <a:lvl6pPr>
              <a:defRPr sz="1350" b="0">
                <a:solidFill>
                  <a:srgbClr val="F2F5FA"/>
                </a:solidFill>
                <a:latin typeface="Calibri"/>
                <a:ea typeface="Calibri"/>
                <a:cs typeface="Calibri"/>
              </a:defRPr>
            </a:lvl6pPr>
            <a:lvl7pPr>
              <a:defRPr sz="1350" b="0">
                <a:solidFill>
                  <a:srgbClr val="F2F5FA"/>
                </a:solidFill>
                <a:latin typeface="Calibri"/>
                <a:ea typeface="Calibri"/>
                <a:cs typeface="Calibri"/>
              </a:defRPr>
            </a:lvl7pPr>
            <a:lvl8pPr>
              <a:defRPr sz="1350" b="0">
                <a:solidFill>
                  <a:srgbClr val="F2F5FA"/>
                </a:solidFill>
                <a:latin typeface="Calibri"/>
                <a:ea typeface="Calibri"/>
                <a:cs typeface="Calibri"/>
              </a:defRPr>
            </a:lvl8pPr>
            <a:lvl9pPr>
              <a:defRPr sz="1350" b="0">
                <a:solidFill>
                  <a:srgbClr val="F2F5FA"/>
                </a:solidFill>
                <a:latin typeface="Calibri"/>
                <a:ea typeface="Calibri"/>
                <a:cs typeface="Calibri"/>
              </a:defRPr>
            </a:lvl9pPr>
          </a:lstStyle>
          <a:p>
            <a:pPr>
              <a:defRPr sz="1350" b="0">
                <a:solidFill>
                  <a:srgbClr val="F2F5FA"/>
                </a:solidFill>
                <a:latin typeface="Calibri"/>
                <a:ea typeface="Calibri"/>
                <a:cs typeface="Calibri"/>
              </a:defRPr>
            </a:pPr>
            <a:r>
              <a:rPr sz="1350" b="0">
                <a:solidFill>
                  <a:srgbClr val="F2F5FA"/>
                </a:solidFill>
                <a:latin typeface="Calibri"/>
                <a:ea typeface="Calibri"/>
                <a:cs typeface="Calibri"/>
              </a:rPr>
              <a:t>Across all three batches, the intervention added 29.0 hours and R32.59 of electricity.</a:t>
            </a:r>
          </a:p>
        </p:txBody>
      </p:sp>
    </p:spTree>
    <p:extLst>
      <p:ext uri="{BB962C8B-B14F-4D97-AF65-F5344CB8AC3E}">
        <p14:creationId xmlns:p14="http://schemas.microsoft.com/office/powerpoint/2010/main" val="133008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Auditing the evaluator</a:t>
            </a:r>
            <a:endParaRPr lang="en-US" sz="3400" dirty="0"/>
          </a:p>
        </p:txBody>
      </p:sp>
      <p:sp>
        <p:nvSpPr>
          <p:cNvPr id="4" name="Card"/>
          <p:cNvSpPr/>
          <p:nvPr/>
        </p:nvSpPr>
        <p:spPr>
          <a:xfrm>
            <a:off x="548640" y="1463040"/>
            <a:ext cx="4206240" cy="4663440"/>
          </a:xfrm>
          <a:prstGeom prst="roundRect">
            <a:avLst>
              <a:gd name="adj" fmla="val 2609"/>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365760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CHECKING THE EVALUATOR</a:t>
            </a:r>
            <a:endParaRPr lang="en-US" sz="1400" dirty="0"/>
          </a:p>
        </p:txBody>
      </p:sp>
      <p:sp>
        <p:nvSpPr>
          <p:cNvPr id="6" name="Text 3"/>
          <p:cNvSpPr txBox="1"/>
          <p:nvPr/>
        </p:nvSpPr>
        <p:spPr>
          <a:xfrm>
            <a:off x="822960" y="2103120"/>
            <a:ext cx="3657600" cy="822960"/>
          </a:xfrm>
          <a:prstGeom prst="rect">
            <a:avLst/>
          </a:prstGeom>
          <a:noFill/>
          <a:ln/>
        </p:spPr>
        <p:txBody>
          <a:bodyPr wrap="square" lIns="0" tIns="0" rIns="0" bIns="0" rtlCol="0" anchor="t"/>
          <a:lstStyle/>
          <a:p>
            <a:pPr marL="0" indent="0">
              <a:buNone/>
            </a:pPr>
            <a:r>
              <a:rPr lang="en-US" sz="5000" b="1" dirty="0">
                <a:solidFill>
                  <a:srgbClr val="F2F5FA"/>
                </a:solidFill>
                <a:latin typeface="Cambria" pitchFamily="34" charset="0"/>
                <a:ea typeface="Cambria" pitchFamily="34" charset="-122"/>
                <a:cs typeface="Cambria" pitchFamily="34" charset="-120"/>
              </a:rPr>
              <a:t>99 / 102</a:t>
            </a:r>
            <a:endParaRPr lang="en-US" sz="5000" dirty="0"/>
          </a:p>
        </p:txBody>
      </p:sp>
      <p:sp>
        <p:nvSpPr>
          <p:cNvPr id="7" name="Text 4"/>
          <p:cNvSpPr txBox="1"/>
          <p:nvPr/>
        </p:nvSpPr>
        <p:spPr>
          <a:xfrm>
            <a:off x="822960" y="3017520"/>
            <a:ext cx="3657600" cy="109728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primary-outcome decisions confirmed after adjudication by two group members (95 of 102 full classes).</a:t>
            </a:r>
            <a:endParaRPr lang="en-US" sz="1500" dirty="0"/>
          </a:p>
        </p:txBody>
      </p:sp>
      <p:sp>
        <p:nvSpPr>
          <p:cNvPr id="8" name="Text 5"/>
          <p:cNvSpPr txBox="1"/>
          <p:nvPr/>
        </p:nvSpPr>
        <p:spPr>
          <a:xfrm>
            <a:off x="822960" y="4251960"/>
            <a:ext cx="3657600" cy="914400"/>
          </a:xfrm>
          <a:prstGeom prst="rect">
            <a:avLst/>
          </a:prstGeom>
          <a:noFill/>
          <a:ln/>
        </p:spPr>
        <p:txBody>
          <a:bodyPr wrap="square" lIns="0" tIns="0" rIns="0" bIns="0" rtlCol="0" anchor="t"/>
          <a:lstStyle/>
          <a:p>
            <a:pPr marL="0" indent="0">
              <a:buNone/>
            </a:pPr>
            <a:r>
              <a:rPr lang="en-US" sz="1500" dirty="0">
                <a:solidFill>
                  <a:srgbClr val="9FB2CC"/>
                </a:solidFill>
                <a:latin typeface="Calibri" pitchFamily="34" charset="0"/>
                <a:ea typeface="Calibri" pitchFamily="34" charset="-122"/>
                <a:cs typeface="Calibri" pitchFamily="34" charset="-120"/>
              </a:rPr>
              <a:t>New rules found: invented GitHub media types and legacy Open-Meteo names.</a:t>
            </a:r>
            <a:endParaRPr lang="en-US" sz="1500" dirty="0"/>
          </a:p>
        </p:txBody>
      </p:sp>
      <p:sp>
        <p:nvSpPr>
          <p:cNvPr id="9" name="Text 6"/>
          <p:cNvSpPr txBox="1"/>
          <p:nvPr/>
        </p:nvSpPr>
        <p:spPr>
          <a:xfrm>
            <a:off x="822960" y="5166360"/>
            <a:ext cx="3657600" cy="731520"/>
          </a:xfrm>
          <a:prstGeom prst="rect">
            <a:avLst/>
          </a:prstGeom>
          <a:noFill/>
          <a:ln/>
        </p:spPr>
        <p:txBody>
          <a:bodyPr wrap="square" lIns="0" tIns="0" rIns="0" bIns="0" rtlCol="0" anchor="t"/>
          <a:lstStyle/>
          <a:p>
            <a:pPr marL="0" indent="0">
              <a:buNone/>
            </a:pPr>
            <a:r>
              <a:rPr lang="en-US" sz="1500" b="1" dirty="0">
                <a:solidFill>
                  <a:srgbClr val="F7E23B"/>
                </a:solidFill>
                <a:latin typeface="Calibri" pitchFamily="34" charset="0"/>
                <a:ea typeface="Calibri" pitchFamily="34" charset="-122"/>
                <a:cs typeface="Calibri" pitchFamily="34" charset="-120"/>
              </a:rPr>
              <a:t>The verifier and the evaluator shared this blind spot.</a:t>
            </a:r>
            <a:endParaRPr lang="en-US" sz="1500" dirty="0"/>
          </a:p>
        </p:txBody>
      </p:sp>
      <p:sp>
        <p:nvSpPr>
          <p:cNvPr id="10" name="Card"/>
          <p:cNvSpPr/>
          <p:nvPr/>
        </p:nvSpPr>
        <p:spPr>
          <a:xfrm>
            <a:off x="4937760" y="1463040"/>
            <a:ext cx="667512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11" name="Chart 0"/>
          <p:cNvGraphicFramePr/>
          <p:nvPr/>
        </p:nvGraphicFramePr>
        <p:xfrm>
          <a:off x="5029200" y="1554480"/>
          <a:ext cx="64922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8"/>
          <p:cNvSpPr txBox="1"/>
          <p:nvPr/>
        </p:nvSpPr>
        <p:spPr>
          <a:xfrm>
            <a:off x="5212080" y="5120640"/>
            <a:ext cx="6126480" cy="914400"/>
          </a:xfrm>
          <a:prstGeom prst="rect">
            <a:avLst/>
          </a:prstGeom>
          <a:noFill/>
          <a:ln/>
        </p:spPr>
        <p:txBody>
          <a:bodyPr wrap="square" lIns="0" tIns="0" rIns="0" bIns="0" rtlCol="0" anchor="t"/>
          <a:lstStyle/>
          <a:p>
            <a:pPr marL="0" indent="0">
              <a:buNone/>
            </a:pPr>
            <a:r>
              <a:rPr lang="en-US" sz="1500" b="1" dirty="0">
                <a:solidFill>
                  <a:srgbClr val="3D95E8"/>
                </a:solidFill>
                <a:latin typeface="Calibri" pitchFamily="34" charset="0"/>
                <a:ea typeface="Calibri" pitchFamily="34" charset="-122"/>
                <a:cs typeface="Calibri" pitchFamily="34" charset="-120"/>
              </a:rPr>
              <a:t>Re-scoring keeps a 47.5 to 51.0 point reduction, with Holm-adjusted p &lt; 10⁻¹¹⁸ in every run. Every conclusion still holds.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Scope and next steps</a:t>
            </a:r>
            <a:endParaRPr lang="en-US" sz="3400" dirty="0"/>
          </a:p>
        </p:txBody>
      </p:sp>
      <p:sp>
        <p:nvSpPr>
          <p:cNvPr id="4" name="Card"/>
          <p:cNvSpPr/>
          <p:nvPr/>
        </p:nvSpPr>
        <p:spPr>
          <a:xfrm>
            <a:off x="548640" y="1463040"/>
            <a:ext cx="5440680" cy="3931920"/>
          </a:xfrm>
          <a:prstGeom prst="roundRect">
            <a:avLst>
              <a:gd name="adj" fmla="val 279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4846320" cy="365760"/>
          </a:xfrm>
          <a:prstGeom prst="rect">
            <a:avLst/>
          </a:prstGeom>
          <a:noFill/>
          <a:ln/>
        </p:spPr>
        <p:txBody>
          <a:bodyPr wrap="square" lIns="0" tIns="0" rIns="0" bIns="0" rtlCol="0" anchor="t"/>
          <a:lstStyle/>
          <a:p>
            <a:pPr marL="0" indent="0">
              <a:buNone/>
            </a:pPr>
            <a:r>
              <a:rPr lang="en-US" sz="1400" b="1" kern="0" spc="200" dirty="0">
                <a:solidFill>
                  <a:srgbClr val="8FC1FF"/>
                </a:solidFill>
                <a:latin typeface="Calibri" pitchFamily="34" charset="0"/>
                <a:ea typeface="Calibri" pitchFamily="34" charset="-122"/>
                <a:cs typeface="Calibri" pitchFamily="34" charset="-120"/>
              </a:rPr>
              <a:t>CURRENT EVIDENCE</a:t>
            </a:r>
            <a:endParaRPr lang="en-US" sz="1400" dirty="0"/>
          </a:p>
        </p:txBody>
      </p:sp>
      <p:pic>
        <p:nvPicPr>
          <p:cNvPr id="6" name="Image 0" descr="icon"/>
          <p:cNvPicPr>
            <a:picLocks noChangeAspect="1"/>
          </p:cNvPicPr>
          <p:nvPr/>
        </p:nvPicPr>
        <p:blipFill>
          <a:blip r:embed="rId3"/>
          <a:stretch>
            <a:fillRect/>
          </a:stretch>
        </p:blipFill>
        <p:spPr>
          <a:xfrm>
            <a:off x="822960" y="2286000"/>
            <a:ext cx="365760" cy="365760"/>
          </a:xfrm>
          <a:prstGeom prst="rect">
            <a:avLst/>
          </a:prstGeom>
        </p:spPr>
      </p:pic>
      <p:sp>
        <p:nvSpPr>
          <p:cNvPr id="7" name="Text 3"/>
          <p:cNvSpPr txBox="1"/>
          <p:nvPr/>
        </p:nvSpPr>
        <p:spPr>
          <a:xfrm>
            <a:off x="1371600" y="219456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One model, Python, six public APIs</a:t>
            </a:r>
            <a:endParaRPr lang="en-US" sz="1800" dirty="0"/>
          </a:p>
        </p:txBody>
      </p:sp>
      <p:pic>
        <p:nvPicPr>
          <p:cNvPr id="8" name="Image 1" descr="icon"/>
          <p:cNvPicPr>
            <a:picLocks noChangeAspect="1"/>
          </p:cNvPicPr>
          <p:nvPr/>
        </p:nvPicPr>
        <p:blipFill>
          <a:blip r:embed="rId3"/>
          <a:stretch>
            <a:fillRect/>
          </a:stretch>
        </p:blipFill>
        <p:spPr>
          <a:xfrm>
            <a:off x="822960" y="3063240"/>
            <a:ext cx="365760" cy="365760"/>
          </a:xfrm>
          <a:prstGeom prst="rect">
            <a:avLst/>
          </a:prstGeom>
        </p:spPr>
      </p:pic>
      <p:sp>
        <p:nvSpPr>
          <p:cNvPr id="9" name="Text 4"/>
          <p:cNvSpPr txBox="1"/>
          <p:nvPr/>
        </p:nvSpPr>
        <p:spPr>
          <a:xfrm>
            <a:off x="1371600" y="297180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Partly researcher-authored contracts</a:t>
            </a:r>
            <a:endParaRPr lang="en-US" sz="1800" dirty="0"/>
          </a:p>
        </p:txBody>
      </p:sp>
      <p:pic>
        <p:nvPicPr>
          <p:cNvPr id="10" name="Image 2" descr="icon"/>
          <p:cNvPicPr>
            <a:picLocks noChangeAspect="1"/>
          </p:cNvPicPr>
          <p:nvPr/>
        </p:nvPicPr>
        <p:blipFill>
          <a:blip r:embed="rId3"/>
          <a:stretch>
            <a:fillRect/>
          </a:stretch>
        </p:blipFill>
        <p:spPr>
          <a:xfrm>
            <a:off x="822960" y="3840480"/>
            <a:ext cx="365760" cy="365760"/>
          </a:xfrm>
          <a:prstGeom prst="rect">
            <a:avLst/>
          </a:prstGeom>
        </p:spPr>
      </p:pic>
      <p:sp>
        <p:nvSpPr>
          <p:cNvPr id="11" name="Text 5"/>
          <p:cNvSpPr txBox="1"/>
          <p:nvPr/>
        </p:nvSpPr>
        <p:spPr>
          <a:xfrm>
            <a:off x="1371600" y="374904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No component-by-component ablation</a:t>
            </a:r>
            <a:endParaRPr lang="en-US" sz="1800" dirty="0"/>
          </a:p>
        </p:txBody>
      </p:sp>
      <p:pic>
        <p:nvPicPr>
          <p:cNvPr id="12" name="Image 3" descr="icon"/>
          <p:cNvPicPr>
            <a:picLocks noChangeAspect="1"/>
          </p:cNvPicPr>
          <p:nvPr/>
        </p:nvPicPr>
        <p:blipFill>
          <a:blip r:embed="rId3"/>
          <a:stretch>
            <a:fillRect/>
          </a:stretch>
        </p:blipFill>
        <p:spPr>
          <a:xfrm>
            <a:off x="822960" y="4617720"/>
            <a:ext cx="365760" cy="365760"/>
          </a:xfrm>
          <a:prstGeom prst="rect">
            <a:avLst/>
          </a:prstGeom>
        </p:spPr>
      </p:pic>
      <p:sp>
        <p:nvSpPr>
          <p:cNvPr id="13" name="Text 6"/>
          <p:cNvSpPr txBox="1"/>
          <p:nvPr/>
        </p:nvSpPr>
        <p:spPr>
          <a:xfrm>
            <a:off x="1371600" y="452628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No test of impossible requests</a:t>
            </a:r>
            <a:endParaRPr lang="en-US" sz="1800" dirty="0"/>
          </a:p>
        </p:txBody>
      </p:sp>
      <p:sp>
        <p:nvSpPr>
          <p:cNvPr id="14" name="Card"/>
          <p:cNvSpPr/>
          <p:nvPr/>
        </p:nvSpPr>
        <p:spPr>
          <a:xfrm>
            <a:off x="6172200" y="1463040"/>
            <a:ext cx="5440680" cy="3931920"/>
          </a:xfrm>
          <a:prstGeom prst="roundRect">
            <a:avLst>
              <a:gd name="adj" fmla="val 279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8"/>
          <p:cNvSpPr txBox="1"/>
          <p:nvPr/>
        </p:nvSpPr>
        <p:spPr>
          <a:xfrm>
            <a:off x="6446520" y="1645920"/>
            <a:ext cx="484632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FURTHER WORK</a:t>
            </a:r>
            <a:endParaRPr lang="en-US" sz="1400" dirty="0"/>
          </a:p>
        </p:txBody>
      </p:sp>
      <p:pic>
        <p:nvPicPr>
          <p:cNvPr id="16" name="Image 4" descr="icon"/>
          <p:cNvPicPr>
            <a:picLocks noChangeAspect="1"/>
          </p:cNvPicPr>
          <p:nvPr/>
        </p:nvPicPr>
        <p:blipFill>
          <a:blip r:embed="rId4"/>
          <a:stretch>
            <a:fillRect/>
          </a:stretch>
        </p:blipFill>
        <p:spPr>
          <a:xfrm>
            <a:off x="6446520" y="2286000"/>
            <a:ext cx="365760" cy="365760"/>
          </a:xfrm>
          <a:prstGeom prst="rect">
            <a:avLst/>
          </a:prstGeom>
        </p:spPr>
      </p:pic>
      <p:sp>
        <p:nvSpPr>
          <p:cNvPr id="17" name="Text 9"/>
          <p:cNvSpPr txBox="1"/>
          <p:nvPr/>
        </p:nvSpPr>
        <p:spPr>
          <a:xfrm>
            <a:off x="6995160" y="219456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Isolate prompt and tool effects</a:t>
            </a:r>
            <a:endParaRPr lang="en-US" sz="1800" dirty="0"/>
          </a:p>
        </p:txBody>
      </p:sp>
      <p:pic>
        <p:nvPicPr>
          <p:cNvPr id="18" name="Image 5" descr="icon"/>
          <p:cNvPicPr>
            <a:picLocks noChangeAspect="1"/>
          </p:cNvPicPr>
          <p:nvPr/>
        </p:nvPicPr>
        <p:blipFill>
          <a:blip r:embed="rId4"/>
          <a:stretch>
            <a:fillRect/>
          </a:stretch>
        </p:blipFill>
        <p:spPr>
          <a:xfrm>
            <a:off x="6446520" y="3063240"/>
            <a:ext cx="365760" cy="365760"/>
          </a:xfrm>
          <a:prstGeom prst="rect">
            <a:avLst/>
          </a:prstGeom>
        </p:spPr>
      </p:pic>
      <p:sp>
        <p:nvSpPr>
          <p:cNvPr id="19" name="Text 10"/>
          <p:cNvSpPr txBox="1"/>
          <p:nvPr/>
        </p:nvSpPr>
        <p:spPr>
          <a:xfrm>
            <a:off x="6995160" y="297180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Bind representative runtime inputs</a:t>
            </a:r>
            <a:endParaRPr lang="en-US" sz="1800" dirty="0"/>
          </a:p>
        </p:txBody>
      </p:sp>
      <p:pic>
        <p:nvPicPr>
          <p:cNvPr id="20" name="Image 6" descr="icon"/>
          <p:cNvPicPr>
            <a:picLocks noChangeAspect="1"/>
          </p:cNvPicPr>
          <p:nvPr/>
        </p:nvPicPr>
        <p:blipFill>
          <a:blip r:embed="rId4"/>
          <a:stretch>
            <a:fillRect/>
          </a:stretch>
        </p:blipFill>
        <p:spPr>
          <a:xfrm>
            <a:off x="6446520" y="3840480"/>
            <a:ext cx="365760" cy="365760"/>
          </a:xfrm>
          <a:prstGeom prst="rect">
            <a:avLst/>
          </a:prstGeom>
        </p:spPr>
      </p:pic>
      <p:sp>
        <p:nvSpPr>
          <p:cNvPr id="21" name="Text 11"/>
          <p:cNvSpPr txBox="1"/>
          <p:nvPr/>
        </p:nvSpPr>
        <p:spPr>
          <a:xfrm>
            <a:off x="6995160" y="374904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Verify the user's intended operation</a:t>
            </a:r>
            <a:endParaRPr lang="en-US" sz="1800" dirty="0"/>
          </a:p>
        </p:txBody>
      </p:sp>
      <p:pic>
        <p:nvPicPr>
          <p:cNvPr id="22" name="Image 7" descr="icon"/>
          <p:cNvPicPr>
            <a:picLocks noChangeAspect="1"/>
          </p:cNvPicPr>
          <p:nvPr/>
        </p:nvPicPr>
        <p:blipFill>
          <a:blip r:embed="rId4"/>
          <a:stretch>
            <a:fillRect/>
          </a:stretch>
        </p:blipFill>
        <p:spPr>
          <a:xfrm>
            <a:off x="6446520" y="4617720"/>
            <a:ext cx="365760" cy="365760"/>
          </a:xfrm>
          <a:prstGeom prst="rect">
            <a:avLst/>
          </a:prstGeom>
        </p:spPr>
      </p:pic>
      <p:sp>
        <p:nvSpPr>
          <p:cNvPr id="23" name="Text 12"/>
          <p:cNvSpPr txBox="1"/>
          <p:nvPr/>
        </p:nvSpPr>
        <p:spPr>
          <a:xfrm>
            <a:off x="6995160" y="452628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Broaden models and API coverage</a:t>
            </a:r>
            <a:endParaRPr lang="en-US" sz="1800" dirty="0"/>
          </a:p>
        </p:txBody>
      </p:sp>
      <p:sp>
        <p:nvSpPr>
          <p:cNvPr id="24" name="Text 13"/>
          <p:cNvSpPr txBox="1"/>
          <p:nvPr/>
        </p:nvSpPr>
        <p:spPr>
          <a:xfrm>
            <a:off x="548640" y="5577840"/>
            <a:ext cx="11064240" cy="548640"/>
          </a:xfrm>
          <a:prstGeom prst="rect">
            <a:avLst/>
          </a:prstGeom>
          <a:noFill/>
          <a:ln/>
        </p:spPr>
        <p:txBody>
          <a:bodyPr wrap="square" lIns="0" tIns="0" rIns="0" bIns="0" rtlCol="0" anchor="t"/>
          <a:lstStyle/>
          <a:p>
            <a:pPr marL="0" indent="0">
              <a:buNone/>
            </a:pPr>
            <a:r>
              <a:rPr lang="en-US" sz="1500" i="1" dirty="0">
                <a:solidFill>
                  <a:srgbClr val="9FB2CC"/>
                </a:solidFill>
                <a:latin typeface="Calibri" pitchFamily="34" charset="0"/>
                <a:ea typeface="Calibri" pitchFamily="34" charset="-122"/>
                <a:cs typeface="Calibri" pitchFamily="34" charset="-120"/>
              </a:rPr>
              <a:t>The three quantizations repeat the same tasks: they show robustness to numerical precision, not independent replication.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Applying it in the real world</a:t>
            </a:r>
            <a:endParaRPr lang="en-US" sz="3400" dirty="0"/>
          </a:p>
        </p:txBody>
      </p:sp>
      <p:sp>
        <p:nvSpPr>
          <p:cNvPr id="11" name="Subtitle"/>
          <p:cNvSpPr txBox="1"/>
          <p:nvPr/>
        </p:nvSpPr>
        <p:spPr>
          <a:xfrm>
            <a:off x="548640" y="1234440"/>
            <a:ext cx="11064240" cy="320040"/>
          </a:xfrm>
          <a:prstGeom prst="rect">
            <a:avLst/>
          </a:prstGeom>
          <a:noFill/>
          <a:ln/>
        </p:spPr>
        <p:txBody>
          <a:bodyPr wrap="square" lIns="0" tIns="0" rIns="0" bIns="0" rtlCol="0" anchor="t"/>
          <a:lstStyle/>
          <a:p>
            <a:pPr marL="0" indent="0" algn="l">
              <a:spcAft>
                <a:spcPts val="0"/>
              </a:spcAft>
              <a:buNone/>
            </a:pPr>
            <a:r>
              <a:rPr lang="en-US" sz="1600" kern="0" dirty="0">
                <a:solidFill>
                  <a:srgbClr val="9FB2CC"/>
                </a:solidFill>
                <a:latin typeface="Calibri" pitchFamily="34" charset="0"/>
                <a:ea typeface="Calibri" pitchFamily="34" charset="-122"/>
                <a:cs typeface="Calibri" pitchFamily="34" charset="-120"/>
              </a:rPr>
              <a:t>Now imagine a company with a large codebase and its own internal APIs</a:t>
            </a:r>
          </a:p>
        </p:txBody>
      </p:sp>
      <p:sp>
        <p:nvSpPr>
          <p:cNvPr id="12" name="Flow card 1"/>
          <p:cNvSpPr/>
          <p:nvPr/>
        </p:nvSpPr>
        <p:spPr>
          <a:xfrm>
            <a:off x="548640" y="1737360"/>
            <a:ext cx="3383280" cy="210312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Flow label 1"/>
          <p:cNvSpPr txBox="1"/>
          <p:nvPr/>
        </p:nvSpPr>
        <p:spPr>
          <a:xfrm>
            <a:off x="77724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8FC1FF"/>
                </a:solidFill>
                <a:latin typeface="Calibri" pitchFamily="34" charset="0"/>
                <a:ea typeface="Calibri" pitchFamily="34" charset="-122"/>
                <a:cs typeface="Calibri" pitchFamily="34" charset="-120"/>
              </a:rPr>
              <a:t>1   THE ASSISTANT WRITES</a:t>
            </a:r>
          </a:p>
        </p:txBody>
      </p:sp>
      <p:sp>
        <p:nvSpPr>
          <p:cNvPr id="14" name="Flow card 2"/>
          <p:cNvSpPr/>
          <p:nvPr/>
        </p:nvSpPr>
        <p:spPr>
          <a:xfrm>
            <a:off x="4389120" y="1737360"/>
            <a:ext cx="3383280" cy="2103120"/>
          </a:xfrm>
          <a:prstGeom prst="roundRect">
            <a:avLst>
              <a:gd name="adj" fmla="val 4500"/>
            </a:avLst>
          </a:prstGeom>
          <a:solidFill>
            <a:srgbClr val="16294A"/>
          </a:solidFill>
          <a:ln w="1905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5" name="Flow label 2"/>
          <p:cNvSpPr txBox="1"/>
          <p:nvPr/>
        </p:nvSpPr>
        <p:spPr>
          <a:xfrm>
            <a:off x="461772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8FC1FF"/>
                </a:solidFill>
                <a:latin typeface="Calibri" pitchFamily="34" charset="0"/>
                <a:ea typeface="Calibri" pitchFamily="34" charset="-122"/>
                <a:cs typeface="Calibri" pitchFamily="34" charset="-120"/>
              </a:rPr>
              <a:t>2   THE CHECKER READS</a:t>
            </a:r>
          </a:p>
        </p:txBody>
      </p:sp>
      <p:sp>
        <p:nvSpPr>
          <p:cNvPr id="16" name="Flow card 3"/>
          <p:cNvSpPr/>
          <p:nvPr/>
        </p:nvSpPr>
        <p:spPr>
          <a:xfrm>
            <a:off x="8229600" y="1737360"/>
            <a:ext cx="3383280" cy="210312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7" name="Flow label 3"/>
          <p:cNvSpPr txBox="1"/>
          <p:nvPr/>
        </p:nvSpPr>
        <p:spPr>
          <a:xfrm>
            <a:off x="845820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8FC1FF"/>
                </a:solidFill>
                <a:latin typeface="Calibri" pitchFamily="34" charset="0"/>
                <a:ea typeface="Calibri" pitchFamily="34" charset="-122"/>
                <a:cs typeface="Calibri" pitchFamily="34" charset="-120"/>
              </a:rPr>
              <a:t>3   THE DEVELOPER SEES</a:t>
            </a:r>
          </a:p>
        </p:txBody>
      </p:sp>
      <p:sp>
        <p:nvSpPr>
          <p:cNvPr id="18" name="Flow text 1"/>
          <p:cNvSpPr txBox="1"/>
          <p:nvPr/>
        </p:nvSpPr>
        <p:spPr>
          <a:xfrm>
            <a:off x="777240" y="2377440"/>
            <a:ext cx="2926080" cy="1371600"/>
          </a:xfrm>
          <a:prstGeom prst="rect">
            <a:avLst/>
          </a:prstGeom>
          <a:noFill/>
          <a:ln/>
        </p:spPr>
        <p:txBody>
          <a:bodyPr wrap="square" lIns="0" tIns="0" rIns="0" bIns="0" rtlCol="0" anchor="t"/>
          <a:lstStyle/>
          <a:p>
            <a:pPr marL="0" indent="0" algn="l">
              <a:spcAft>
                <a:spcPts val="0"/>
              </a:spcAft>
              <a:buNone/>
            </a:pPr>
            <a:r>
              <a:rPr lang="en-US" sz="1800" kern="0" dirty="0">
                <a:solidFill>
                  <a:srgbClr val="F2F5FA"/>
                </a:solidFill>
                <a:latin typeface="Calibri" pitchFamily="34" charset="0"/>
                <a:ea typeface="Calibri" pitchFamily="34" charset="-122"/>
                <a:cs typeface="Calibri" pitchFamily="34" charset="-120"/>
              </a:rPr>
              <a:t>An AI coding assistant drafts a call to one of the company’s own APIs.</a:t>
            </a:r>
          </a:p>
        </p:txBody>
      </p:sp>
      <p:sp>
        <p:nvSpPr>
          <p:cNvPr id="19" name="Flow text 2"/>
          <p:cNvSpPr txBox="1"/>
          <p:nvPr/>
        </p:nvSpPr>
        <p:spPr>
          <a:xfrm>
            <a:off x="4617720" y="2377440"/>
            <a:ext cx="2926080" cy="1371600"/>
          </a:xfrm>
          <a:prstGeom prst="rect">
            <a:avLst/>
          </a:prstGeom>
          <a:noFill/>
          <a:ln/>
        </p:spPr>
        <p:txBody>
          <a:bodyPr wrap="square" lIns="0" tIns="0" rIns="0" bIns="0" rtlCol="0" anchor="t"/>
          <a:lstStyle/>
          <a:p>
            <a:pPr marL="0" indent="0" algn="l">
              <a:spcAft>
                <a:spcPts val="0"/>
              </a:spcAft>
              <a:buNone/>
            </a:pPr>
            <a:r>
              <a:rPr lang="en-US" sz="1800" kern="0" dirty="0">
                <a:solidFill>
                  <a:srgbClr val="F2F5FA"/>
                </a:solidFill>
                <a:latin typeface="Calibri" pitchFamily="34" charset="0"/>
                <a:ea typeface="Calibri" pitchFamily="34" charset="-122"/>
                <a:cs typeface="Calibri" pitchFamily="34" charset="-120"/>
              </a:rPr>
              <a:t>Every claim in the code is checked against that API’s specification, frozen and versioned.</a:t>
            </a:r>
          </a:p>
        </p:txBody>
      </p:sp>
      <p:sp>
        <p:nvSpPr>
          <p:cNvPr id="20" name="Arrow 1"/>
          <p:cNvSpPr/>
          <p:nvPr/>
        </p:nvSpPr>
        <p:spPr>
          <a:xfrm>
            <a:off x="4023360" y="2606040"/>
            <a:ext cx="274320" cy="365760"/>
          </a:xfrm>
          <a:prstGeom prst="rightArrow">
            <a:avLst/>
          </a:prstGeom>
          <a:solidFill>
            <a:srgbClr val="8FC1FF"/>
          </a:solidFill>
          <a:ln>
            <a:noFill/>
          </a:ln>
        </p:spPr>
        <p:txBody>
          <a:bodyPr lIns="0" tIns="0" rIns="0" bIns="0" anchor="ctr"/>
          <a:lstStyle/>
          <a:p>
            <a:endParaRPr lang="en-GB"/>
          </a:p>
        </p:txBody>
      </p:sp>
      <p:sp>
        <p:nvSpPr>
          <p:cNvPr id="21" name="Arrow 2"/>
          <p:cNvSpPr/>
          <p:nvPr/>
        </p:nvSpPr>
        <p:spPr>
          <a:xfrm>
            <a:off x="7863840" y="2606040"/>
            <a:ext cx="274320" cy="365760"/>
          </a:xfrm>
          <a:prstGeom prst="rightArrow">
            <a:avLst/>
          </a:prstGeom>
          <a:solidFill>
            <a:srgbClr val="8FC1FF"/>
          </a:solidFill>
          <a:ln>
            <a:noFill/>
          </a:ln>
        </p:spPr>
        <p:txBody>
          <a:bodyPr lIns="0" tIns="0" rIns="0" bIns="0" anchor="ctr"/>
          <a:lstStyle/>
          <a:p>
            <a:endParaRPr lang="en-GB"/>
          </a:p>
        </p:txBody>
      </p:sp>
      <p:pic>
        <p:nvPicPr>
          <p:cNvPr id="22" name="Verified icon" descr="icon"/>
          <p:cNvPicPr>
            <a:picLocks noChangeAspect="1"/>
          </p:cNvPicPr>
          <p:nvPr/>
        </p:nvPicPr>
        <p:blipFill>
          <a:blip r:embed="rId3"/>
          <a:stretch>
            <a:fillRect/>
          </a:stretch>
        </p:blipFill>
        <p:spPr>
          <a:xfrm>
            <a:off x="8458200" y="2331720"/>
            <a:ext cx="320040" cy="320040"/>
          </a:xfrm>
          <a:prstGeom prst="rect">
            <a:avLst/>
          </a:prstGeom>
        </p:spPr>
      </p:pic>
      <p:sp>
        <p:nvSpPr>
          <p:cNvPr id="23" name="Outcome 1"/>
          <p:cNvSpPr txBox="1"/>
          <p:nvPr/>
        </p:nvSpPr>
        <p:spPr>
          <a:xfrm>
            <a:off x="8915400" y="2304288"/>
            <a:ext cx="2468880" cy="374904"/>
          </a:xfrm>
          <a:prstGeom prst="rect">
            <a:avLst/>
          </a:prstGeom>
          <a:noFill/>
          <a:ln/>
        </p:spPr>
        <p:txBody>
          <a:bodyPr wrap="square" lIns="0" tIns="0" rIns="0" bIns="0" rtlCol="0" anchor="ctr"/>
          <a:lstStyle/>
          <a:p>
            <a:pPr marL="0" indent="0" algn="l">
              <a:spcAft>
                <a:spcPts val="0"/>
              </a:spcAft>
              <a:buNone/>
            </a:pPr>
            <a:r>
              <a:rPr lang="en-US" sz="1600" b="1" kern="0" dirty="0">
                <a:solidFill>
                  <a:srgbClr val="F2F5FA"/>
                </a:solidFill>
                <a:latin typeface="Calibri" pitchFamily="34" charset="0"/>
                <a:ea typeface="Calibri" pitchFamily="34" charset="-122"/>
                <a:cs typeface="Calibri" pitchFamily="34" charset="-120"/>
              </a:rPr>
              <a:t>Verified: </a:t>
            </a:r>
            <a:r>
              <a:rPr lang="en-US" sz="1600" kern="0" dirty="0">
                <a:solidFill>
                  <a:srgbClr val="F2F5FA"/>
                </a:solidFill>
                <a:latin typeface="Calibri" pitchFamily="34" charset="0"/>
                <a:ea typeface="Calibri" pitchFamily="34" charset="-122"/>
                <a:cs typeface="Calibri" pitchFamily="34" charset="-120"/>
              </a:rPr>
              <a:t>delivered</a:t>
            </a:r>
          </a:p>
        </p:txBody>
      </p:sp>
      <p:sp>
        <p:nvSpPr>
          <p:cNvPr id="24" name="Flagged icon"/>
          <p:cNvSpPr/>
          <p:nvPr/>
        </p:nvSpPr>
        <p:spPr>
          <a:xfrm>
            <a:off x="8458200" y="2811780"/>
            <a:ext cx="320040" cy="320040"/>
          </a:xfrm>
          <a:prstGeom prst="ellipse">
            <a:avLst/>
          </a:prstGeom>
          <a:solidFill>
            <a:srgbClr val="F7E23B"/>
          </a:solidFill>
          <a:ln>
            <a:noFill/>
          </a:ln>
        </p:spPr>
        <p:txBody>
          <a:bodyPr lIns="0" tIns="0" rIns="0" bIns="0" anchor="ctr"/>
          <a:lstStyle/>
          <a:p>
            <a:pPr algn="ctr"/>
            <a:r>
              <a:rPr lang="en-US" sz="1400" b="1" kern="0" dirty="0">
                <a:solidFill>
                  <a:srgbClr val="0B1B33"/>
                </a:solidFill>
                <a:latin typeface="Calibri" pitchFamily="34" charset="0"/>
                <a:ea typeface="Calibri" pitchFamily="34" charset="-122"/>
                <a:cs typeface="Calibri" pitchFamily="34" charset="-120"/>
              </a:rPr>
              <a:t>!</a:t>
            </a:r>
          </a:p>
        </p:txBody>
      </p:sp>
      <p:sp>
        <p:nvSpPr>
          <p:cNvPr id="25" name="Outcome 2"/>
          <p:cNvSpPr txBox="1"/>
          <p:nvPr/>
        </p:nvSpPr>
        <p:spPr>
          <a:xfrm>
            <a:off x="8915400" y="2784348"/>
            <a:ext cx="2468880" cy="374904"/>
          </a:xfrm>
          <a:prstGeom prst="rect">
            <a:avLst/>
          </a:prstGeom>
          <a:noFill/>
          <a:ln/>
        </p:spPr>
        <p:txBody>
          <a:bodyPr wrap="square" lIns="0" tIns="0" rIns="0" bIns="0" rtlCol="0" anchor="ctr"/>
          <a:lstStyle/>
          <a:p>
            <a:pPr marL="0" indent="0" algn="l">
              <a:spcAft>
                <a:spcPts val="0"/>
              </a:spcAft>
              <a:buNone/>
            </a:pPr>
            <a:r>
              <a:rPr lang="en-US" sz="1600" b="1" kern="0" dirty="0">
                <a:solidFill>
                  <a:srgbClr val="F2F5FA"/>
                </a:solidFill>
                <a:latin typeface="Calibri" pitchFamily="34" charset="0"/>
                <a:ea typeface="Calibri" pitchFamily="34" charset="-122"/>
                <a:cs typeface="Calibri" pitchFamily="34" charset="-120"/>
              </a:rPr>
              <a:t>Flagged: </a:t>
            </a:r>
            <a:r>
              <a:rPr lang="en-US" sz="1600" kern="0" dirty="0">
                <a:solidFill>
                  <a:srgbClr val="F2F5FA"/>
                </a:solidFill>
                <a:latin typeface="Calibri" pitchFamily="34" charset="0"/>
                <a:ea typeface="Calibri" pitchFamily="34" charset="-122"/>
                <a:cs typeface="Calibri" pitchFamily="34" charset="-120"/>
              </a:rPr>
              <a:t>with a warning</a:t>
            </a:r>
          </a:p>
        </p:txBody>
      </p:sp>
      <p:pic>
        <p:nvPicPr>
          <p:cNvPr id="26" name="Withheld icon" descr="icon"/>
          <p:cNvPicPr>
            <a:picLocks noChangeAspect="1"/>
          </p:cNvPicPr>
          <p:nvPr/>
        </p:nvPicPr>
        <p:blipFill>
          <a:blip r:embed="rId4"/>
          <a:stretch>
            <a:fillRect/>
          </a:stretch>
        </p:blipFill>
        <p:spPr>
          <a:xfrm>
            <a:off x="8458200" y="3291840"/>
            <a:ext cx="320040" cy="320040"/>
          </a:xfrm>
          <a:prstGeom prst="rect">
            <a:avLst/>
          </a:prstGeom>
        </p:spPr>
      </p:pic>
      <p:sp>
        <p:nvSpPr>
          <p:cNvPr id="27" name="Outcome 3"/>
          <p:cNvSpPr txBox="1"/>
          <p:nvPr/>
        </p:nvSpPr>
        <p:spPr>
          <a:xfrm>
            <a:off x="8915400" y="3264408"/>
            <a:ext cx="2468880" cy="374904"/>
          </a:xfrm>
          <a:prstGeom prst="rect">
            <a:avLst/>
          </a:prstGeom>
          <a:noFill/>
          <a:ln/>
        </p:spPr>
        <p:txBody>
          <a:bodyPr wrap="square" lIns="0" tIns="0" rIns="0" bIns="0" rtlCol="0" anchor="ctr"/>
          <a:lstStyle/>
          <a:p>
            <a:pPr marL="0" indent="0" algn="l">
              <a:spcAft>
                <a:spcPts val="0"/>
              </a:spcAft>
              <a:buNone/>
            </a:pPr>
            <a:r>
              <a:rPr lang="en-US" sz="1600" b="1" kern="0" dirty="0">
                <a:solidFill>
                  <a:srgbClr val="F2F5FA"/>
                </a:solidFill>
                <a:latin typeface="Calibri" pitchFamily="34" charset="0"/>
                <a:ea typeface="Calibri" pitchFamily="34" charset="-122"/>
                <a:cs typeface="Calibri" pitchFamily="34" charset="-120"/>
              </a:rPr>
              <a:t>Withheld: </a:t>
            </a:r>
            <a:r>
              <a:rPr lang="en-US" sz="1600" kern="0" dirty="0">
                <a:solidFill>
                  <a:srgbClr val="F2F5FA"/>
                </a:solidFill>
                <a:latin typeface="Calibri" pitchFamily="34" charset="0"/>
                <a:ea typeface="Calibri" pitchFamily="34" charset="-122"/>
                <a:cs typeface="Calibri" pitchFamily="34" charset="-120"/>
              </a:rPr>
              <a:t>held back</a:t>
            </a:r>
          </a:p>
        </p:txBody>
      </p:sp>
      <p:sp>
        <p:nvSpPr>
          <p:cNvPr id="28" name="Fit card 1"/>
          <p:cNvSpPr/>
          <p:nvPr/>
        </p:nvSpPr>
        <p:spPr>
          <a:xfrm>
            <a:off x="54864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9" name="Fit label 1"/>
          <p:cNvSpPr txBox="1"/>
          <p:nvPr/>
        </p:nvSpPr>
        <p:spPr>
          <a:xfrm>
            <a:off x="77724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F7E23B"/>
                </a:solidFill>
                <a:latin typeface="Calibri" pitchFamily="34" charset="0"/>
                <a:ea typeface="Calibri" pitchFamily="34" charset="-122"/>
                <a:cs typeface="Calibri" pitchFamily="34" charset="-120"/>
              </a:rPr>
              <a:t>SPECIALISED</a:t>
            </a:r>
          </a:p>
        </p:txBody>
      </p:sp>
      <p:sp>
        <p:nvSpPr>
          <p:cNvPr id="30" name="Fit text 1"/>
          <p:cNvSpPr txBox="1"/>
          <p:nvPr/>
        </p:nvSpPr>
        <p:spPr>
          <a:xfrm>
            <a:off x="777240" y="4526280"/>
            <a:ext cx="2926080" cy="822960"/>
          </a:xfrm>
          <a:prstGeom prst="rect">
            <a:avLst/>
          </a:prstGeom>
          <a:noFill/>
          <a:ln/>
        </p:spPr>
        <p:txBody>
          <a:bodyPr wrap="square" lIns="0" tIns="0" rIns="0" bIns="0" rtlCol="0" anchor="t"/>
          <a:lstStyle/>
          <a:p>
            <a:pPr marL="0" indent="0" algn="l">
              <a:spcAft>
                <a:spcPts val="0"/>
              </a:spcAft>
              <a:buNone/>
            </a:pPr>
            <a:r>
              <a:rPr lang="en-US" sz="1500" kern="0" dirty="0">
                <a:solidFill>
                  <a:srgbClr val="F2F5FA"/>
                </a:solidFill>
                <a:latin typeface="Calibri" pitchFamily="34" charset="0"/>
                <a:ea typeface="Calibri" pitchFamily="34" charset="-122"/>
                <a:cs typeface="Calibri" pitchFamily="34" charset="-120"/>
              </a:rPr>
              <a:t>One codebase and known contracts, so the checker is built around them, not around the whole internet.</a:t>
            </a:r>
          </a:p>
        </p:txBody>
      </p:sp>
      <p:sp>
        <p:nvSpPr>
          <p:cNvPr id="31" name="Fit card 2"/>
          <p:cNvSpPr/>
          <p:nvPr/>
        </p:nvSpPr>
        <p:spPr>
          <a:xfrm>
            <a:off x="438912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2" name="Fit label 2"/>
          <p:cNvSpPr txBox="1"/>
          <p:nvPr/>
        </p:nvSpPr>
        <p:spPr>
          <a:xfrm>
            <a:off x="461772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F7E23B"/>
                </a:solidFill>
                <a:latin typeface="Calibri" pitchFamily="34" charset="0"/>
                <a:ea typeface="Calibri" pitchFamily="34" charset="-122"/>
                <a:cs typeface="Calibri" pitchFamily="34" charset="-120"/>
              </a:rPr>
              <a:t>STAYS CURRENT</a:t>
            </a:r>
          </a:p>
        </p:txBody>
      </p:sp>
      <p:sp>
        <p:nvSpPr>
          <p:cNvPr id="33" name="Fit text 2"/>
          <p:cNvSpPr txBox="1"/>
          <p:nvPr/>
        </p:nvSpPr>
        <p:spPr>
          <a:xfrm>
            <a:off x="4617720" y="4526280"/>
            <a:ext cx="2926080" cy="822960"/>
          </a:xfrm>
          <a:prstGeom prst="rect">
            <a:avLst/>
          </a:prstGeom>
          <a:noFill/>
          <a:ln/>
        </p:spPr>
        <p:txBody>
          <a:bodyPr wrap="square" lIns="0" tIns="0" rIns="0" bIns="0" rtlCol="0" anchor="t"/>
          <a:lstStyle/>
          <a:p>
            <a:pPr marL="0" indent="0" algn="l">
              <a:spcAft>
                <a:spcPts val="0"/>
              </a:spcAft>
              <a:buNone/>
            </a:pPr>
            <a:r>
              <a:rPr lang="en-US" sz="1500" kern="0" dirty="0">
                <a:solidFill>
                  <a:srgbClr val="F2F5FA"/>
                </a:solidFill>
                <a:latin typeface="Calibri" pitchFamily="34" charset="0"/>
                <a:ea typeface="Calibri" pitchFamily="34" charset="-122"/>
                <a:cs typeface="Calibri" pitchFamily="34" charset="-120"/>
              </a:rPr>
              <a:t>Contracts change; a model’s training does not. Update the checker’s evidence, not the model.</a:t>
            </a:r>
          </a:p>
        </p:txBody>
      </p:sp>
      <p:sp>
        <p:nvSpPr>
          <p:cNvPr id="34" name="Fit card 3"/>
          <p:cNvSpPr/>
          <p:nvPr/>
        </p:nvSpPr>
        <p:spPr>
          <a:xfrm>
            <a:off x="822960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5" name="Fit label 3"/>
          <p:cNvSpPr txBox="1"/>
          <p:nvPr/>
        </p:nvSpPr>
        <p:spPr>
          <a:xfrm>
            <a:off x="845820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dirty="0">
                <a:solidFill>
                  <a:srgbClr val="F7E23B"/>
                </a:solidFill>
                <a:latin typeface="Calibri" pitchFamily="34" charset="0"/>
                <a:ea typeface="Calibri" pitchFamily="34" charset="-122"/>
                <a:cs typeface="Calibri" pitchFamily="34" charset="-120"/>
              </a:rPr>
              <a:t>CHEAP TO RUN</a:t>
            </a:r>
          </a:p>
        </p:txBody>
      </p:sp>
      <p:sp>
        <p:nvSpPr>
          <p:cNvPr id="36" name="Fit text 3"/>
          <p:cNvSpPr txBox="1"/>
          <p:nvPr/>
        </p:nvSpPr>
        <p:spPr>
          <a:xfrm>
            <a:off x="8458200" y="4526280"/>
            <a:ext cx="2926080" cy="822960"/>
          </a:xfrm>
          <a:prstGeom prst="rect">
            <a:avLst/>
          </a:prstGeom>
          <a:noFill/>
          <a:ln/>
        </p:spPr>
        <p:txBody>
          <a:bodyPr wrap="square" lIns="0" tIns="0" rIns="0" bIns="0" rtlCol="0" anchor="t"/>
          <a:lstStyle/>
          <a:p>
            <a:pPr marL="0" indent="0" algn="l">
              <a:spcAft>
                <a:spcPts val="0"/>
              </a:spcAft>
              <a:buNone/>
            </a:pPr>
            <a:r>
              <a:rPr lang="en-US" sz="1500" kern="0" dirty="0">
                <a:solidFill>
                  <a:srgbClr val="F2F5FA"/>
                </a:solidFill>
                <a:latin typeface="Calibri" pitchFamily="34" charset="0"/>
                <a:ea typeface="Calibri" pitchFamily="34" charset="-122"/>
                <a:cs typeface="Calibri" pitchFamily="34" charset="-120"/>
              </a:rPr>
              <a:t>About one cent of local electricity per prompt in our tests. The real price is time: about six times longer.</a:t>
            </a:r>
          </a:p>
        </p:txBody>
      </p:sp>
      <p:sp>
        <p:nvSpPr>
          <p:cNvPr id="37" name="Caveat"/>
          <p:cNvSpPr txBox="1"/>
          <p:nvPr/>
        </p:nvSpPr>
        <p:spPr>
          <a:xfrm>
            <a:off x="548640" y="5532120"/>
            <a:ext cx="11064240" cy="320040"/>
          </a:xfrm>
          <a:prstGeom prst="rect">
            <a:avLst/>
          </a:prstGeom>
          <a:noFill/>
          <a:ln/>
        </p:spPr>
        <p:txBody>
          <a:bodyPr wrap="square" lIns="0" tIns="0" rIns="0" bIns="0" rtlCol="0" anchor="t"/>
          <a:lstStyle/>
          <a:p>
            <a:pPr marL="0" indent="0" algn="l">
              <a:spcAft>
                <a:spcPts val="0"/>
              </a:spcAft>
              <a:buNone/>
            </a:pPr>
            <a:r>
              <a:rPr lang="en-US" sz="1500" i="1" kern="0" dirty="0">
                <a:solidFill>
                  <a:srgbClr val="9FB2CC"/>
                </a:solidFill>
                <a:latin typeface="Calibri" pitchFamily="34" charset="0"/>
                <a:ea typeface="Calibri" pitchFamily="34" charset="-122"/>
                <a:cs typeface="Calibri" pitchFamily="34" charset="-120"/>
              </a:rPr>
              <a:t>A sketch of one application, not something we tested: our evidence covers one model and six public APIs.</a:t>
            </a:r>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a:solidFill>
                  <a:srgbClr val="F2F5FA"/>
                </a:solidFill>
                <a:latin typeface="Cambria" pitchFamily="34" charset="0"/>
                <a:ea typeface="Cambria" pitchFamily="34" charset="-122"/>
                <a:cs typeface="Cambria" pitchFamily="34" charset="-120"/>
              </a:rPr>
              <a:t>Vibe coding summary</a:t>
            </a:r>
            <a:endParaRPr lang="en-US" sz="3400" dirty="0"/>
          </a:p>
        </p:txBody>
      </p:sp>
      <p:sp>
        <p:nvSpPr>
          <p:cNvPr id="11" name="Subtitle"/>
          <p:cNvSpPr txBox="1"/>
          <p:nvPr/>
        </p:nvSpPr>
        <p:spPr>
          <a:xfrm>
            <a:off x="548640" y="1234440"/>
            <a:ext cx="11064240" cy="320040"/>
          </a:xfrm>
          <a:prstGeom prst="rect">
            <a:avLst/>
          </a:prstGeom>
          <a:noFill/>
          <a:ln/>
        </p:spPr>
        <p:txBody>
          <a:bodyPr wrap="square" lIns="0" tIns="0" rIns="0" bIns="0" rtlCol="0" anchor="t"/>
          <a:lstStyle/>
          <a:p>
            <a:pPr marL="0" indent="0" algn="l">
              <a:spcAft>
                <a:spcPts val="0"/>
              </a:spcAft>
              <a:buNone/>
            </a:pPr>
            <a:r>
              <a:rPr lang="en-US" sz="1600" kern="0">
                <a:solidFill>
                  <a:srgbClr val="9FB2CC"/>
                </a:solidFill>
                <a:latin typeface="Calibri" pitchFamily="34" charset="0"/>
                <a:ea typeface="Calibri" pitchFamily="34" charset="-122"/>
                <a:cs typeface="Calibri" pitchFamily="34" charset="-120"/>
              </a:rPr>
              <a:t>How AI tools helped build the project, and how we kept control of the evidence</a:t>
            </a:r>
            <a:endParaRPr lang="en-US" sz="1600" kern="0" dirty="0">
              <a:solidFill>
                <a:srgbClr val="9FB2CC"/>
              </a:solidFill>
              <a:latin typeface="Calibri" pitchFamily="34" charset="0"/>
              <a:ea typeface="Calibri" pitchFamily="34" charset="-122"/>
              <a:cs typeface="Calibri" pitchFamily="34" charset="-120"/>
            </a:endParaRPr>
          </a:p>
        </p:txBody>
      </p:sp>
      <p:sp>
        <p:nvSpPr>
          <p:cNvPr id="12" name="Flow card 1"/>
          <p:cNvSpPr/>
          <p:nvPr/>
        </p:nvSpPr>
        <p:spPr>
          <a:xfrm>
            <a:off x="548640" y="1737360"/>
            <a:ext cx="3383280" cy="210312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Flow label 1"/>
          <p:cNvSpPr txBox="1"/>
          <p:nvPr/>
        </p:nvSpPr>
        <p:spPr>
          <a:xfrm>
            <a:off x="77724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8FC1FF"/>
                </a:solidFill>
                <a:latin typeface="Calibri" pitchFamily="34" charset="0"/>
                <a:ea typeface="Calibri" pitchFamily="34" charset="-122"/>
                <a:cs typeface="Calibri" pitchFamily="34" charset="-120"/>
              </a:rPr>
              <a:t>1   WE DESIGNED</a:t>
            </a:r>
            <a:endParaRPr lang="en-US" sz="1200" b="1" kern="0" spc="150" dirty="0">
              <a:solidFill>
                <a:srgbClr val="8FC1FF"/>
              </a:solidFill>
              <a:latin typeface="Calibri" pitchFamily="34" charset="0"/>
              <a:ea typeface="Calibri" pitchFamily="34" charset="-122"/>
              <a:cs typeface="Calibri" pitchFamily="34" charset="-120"/>
            </a:endParaRPr>
          </a:p>
        </p:txBody>
      </p:sp>
      <p:sp>
        <p:nvSpPr>
          <p:cNvPr id="14" name="Flow card 2"/>
          <p:cNvSpPr/>
          <p:nvPr/>
        </p:nvSpPr>
        <p:spPr>
          <a:xfrm>
            <a:off x="4389120" y="1737360"/>
            <a:ext cx="3383280" cy="2103120"/>
          </a:xfrm>
          <a:prstGeom prst="roundRect">
            <a:avLst>
              <a:gd name="adj" fmla="val 4500"/>
            </a:avLst>
          </a:prstGeom>
          <a:solidFill>
            <a:srgbClr val="16294A"/>
          </a:solidFill>
          <a:ln w="1905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5" name="Flow label 2"/>
          <p:cNvSpPr txBox="1"/>
          <p:nvPr/>
        </p:nvSpPr>
        <p:spPr>
          <a:xfrm>
            <a:off x="461772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8FC1FF"/>
                </a:solidFill>
                <a:latin typeface="Calibri" pitchFamily="34" charset="0"/>
                <a:ea typeface="Calibri" pitchFamily="34" charset="-122"/>
                <a:cs typeface="Calibri" pitchFamily="34" charset="-120"/>
              </a:rPr>
              <a:t>2   AI HELPED BUILD</a:t>
            </a:r>
            <a:endParaRPr lang="en-US" sz="1200" b="1" kern="0" spc="150" dirty="0">
              <a:solidFill>
                <a:srgbClr val="8FC1FF"/>
              </a:solidFill>
              <a:latin typeface="Calibri" pitchFamily="34" charset="0"/>
              <a:ea typeface="Calibri" pitchFamily="34" charset="-122"/>
              <a:cs typeface="Calibri" pitchFamily="34" charset="-120"/>
            </a:endParaRPr>
          </a:p>
        </p:txBody>
      </p:sp>
      <p:sp>
        <p:nvSpPr>
          <p:cNvPr id="16" name="Flow card 3"/>
          <p:cNvSpPr/>
          <p:nvPr/>
        </p:nvSpPr>
        <p:spPr>
          <a:xfrm>
            <a:off x="8229600" y="1737360"/>
            <a:ext cx="3383280" cy="210312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7" name="Flow label 3"/>
          <p:cNvSpPr txBox="1"/>
          <p:nvPr/>
        </p:nvSpPr>
        <p:spPr>
          <a:xfrm>
            <a:off x="8458200" y="1920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8FC1FF"/>
                </a:solidFill>
                <a:latin typeface="Calibri" pitchFamily="34" charset="0"/>
                <a:ea typeface="Calibri" pitchFamily="34" charset="-122"/>
                <a:cs typeface="Calibri" pitchFamily="34" charset="-120"/>
              </a:rPr>
              <a:t>3   WE CHECKED IT</a:t>
            </a:r>
            <a:endParaRPr lang="en-US" sz="1200" b="1" kern="0" spc="150" dirty="0">
              <a:solidFill>
                <a:srgbClr val="8FC1FF"/>
              </a:solidFill>
              <a:latin typeface="Calibri" pitchFamily="34" charset="0"/>
              <a:ea typeface="Calibri" pitchFamily="34" charset="-122"/>
              <a:cs typeface="Calibri" pitchFamily="34" charset="-120"/>
            </a:endParaRPr>
          </a:p>
        </p:txBody>
      </p:sp>
      <p:sp>
        <p:nvSpPr>
          <p:cNvPr id="18" name="Flow text 1"/>
          <p:cNvSpPr txBox="1"/>
          <p:nvPr/>
        </p:nvSpPr>
        <p:spPr>
          <a:xfrm>
            <a:off x="777240" y="2377440"/>
            <a:ext cx="2926080" cy="1371600"/>
          </a:xfrm>
          <a:prstGeom prst="rect">
            <a:avLst/>
          </a:prstGeom>
          <a:noFill/>
          <a:ln/>
        </p:spPr>
        <p:txBody>
          <a:bodyPr wrap="square" lIns="0" tIns="0" rIns="0" bIns="0" rtlCol="0" anchor="t"/>
          <a:lstStyle/>
          <a:p>
            <a:pPr marL="0" indent="0" algn="l">
              <a:spcAft>
                <a:spcPts val="0"/>
              </a:spcAft>
              <a:buNone/>
            </a:pPr>
            <a:r>
              <a:rPr lang="en-US" sz="1800" kern="0">
                <a:solidFill>
                  <a:srgbClr val="F2F5FA"/>
                </a:solidFill>
                <a:latin typeface="Calibri" pitchFamily="34" charset="0"/>
                <a:ea typeface="Calibri" pitchFamily="34" charset="-122"/>
                <a:cs typeface="Calibri" pitchFamily="34" charset="-120"/>
              </a:rPr>
              <a:t>Domain, hypotheses, evaluation plan and scoring rules were decided by the group and fixed before the main runs.</a:t>
            </a:r>
            <a:endParaRPr lang="en-US" sz="1800" kern="0" dirty="0">
              <a:solidFill>
                <a:srgbClr val="F2F5FA"/>
              </a:solidFill>
              <a:latin typeface="Calibri" pitchFamily="34" charset="0"/>
              <a:ea typeface="Calibri" pitchFamily="34" charset="-122"/>
              <a:cs typeface="Calibri" pitchFamily="34" charset="-120"/>
            </a:endParaRPr>
          </a:p>
        </p:txBody>
      </p:sp>
      <p:sp>
        <p:nvSpPr>
          <p:cNvPr id="19" name="Flow text 2"/>
          <p:cNvSpPr txBox="1"/>
          <p:nvPr/>
        </p:nvSpPr>
        <p:spPr>
          <a:xfrm>
            <a:off x="4617720" y="2377440"/>
            <a:ext cx="2926080" cy="1371600"/>
          </a:xfrm>
          <a:prstGeom prst="rect">
            <a:avLst/>
          </a:prstGeom>
          <a:noFill/>
          <a:ln/>
        </p:spPr>
        <p:txBody>
          <a:bodyPr wrap="square" lIns="0" tIns="0" rIns="0" bIns="0" rtlCol="0" anchor="t"/>
          <a:lstStyle/>
          <a:p>
            <a:pPr marL="0" indent="0" algn="l">
              <a:spcAft>
                <a:spcPts val="0"/>
              </a:spcAft>
              <a:buNone/>
            </a:pPr>
            <a:r>
              <a:rPr lang="en-US" sz="1800" kern="0">
                <a:solidFill>
                  <a:srgbClr val="F2F5FA"/>
                </a:solidFill>
                <a:latin typeface="Calibri" pitchFamily="34" charset="0"/>
                <a:ea typeface="Calibri" pitchFamily="34" charset="-122"/>
                <a:cs typeface="Calibri" pitchFamily="34" charset="-120"/>
              </a:rPr>
              <a:t>Claude Code wrote, tested and debugged the toolbox, benchmark, evaluator and analysis scripts. DeepSeek and ChatGPT for design talks.</a:t>
            </a:r>
            <a:endParaRPr lang="en-US" sz="1800" kern="0" dirty="0">
              <a:solidFill>
                <a:srgbClr val="F2F5FA"/>
              </a:solidFill>
              <a:latin typeface="Calibri" pitchFamily="34" charset="0"/>
              <a:ea typeface="Calibri" pitchFamily="34" charset="-122"/>
              <a:cs typeface="Calibri" pitchFamily="34" charset="-120"/>
            </a:endParaRPr>
          </a:p>
        </p:txBody>
      </p:sp>
      <p:sp>
        <p:nvSpPr>
          <p:cNvPr id="20" name="Arrow 1"/>
          <p:cNvSpPr/>
          <p:nvPr/>
        </p:nvSpPr>
        <p:spPr>
          <a:xfrm>
            <a:off x="4023360" y="2606040"/>
            <a:ext cx="274320" cy="365760"/>
          </a:xfrm>
          <a:prstGeom prst="rightArrow">
            <a:avLst/>
          </a:prstGeom>
          <a:solidFill>
            <a:srgbClr val="8FC1FF"/>
          </a:solidFill>
          <a:ln>
            <a:noFill/>
          </a:ln>
        </p:spPr>
        <p:txBody>
          <a:bodyPr lIns="0" tIns="0" rIns="0" bIns="0" anchor="ctr"/>
          <a:lstStyle/>
          <a:p>
            <a:endParaRPr lang="en-GB"/>
          </a:p>
        </p:txBody>
      </p:sp>
      <p:sp>
        <p:nvSpPr>
          <p:cNvPr id="21" name="Arrow 2"/>
          <p:cNvSpPr/>
          <p:nvPr/>
        </p:nvSpPr>
        <p:spPr>
          <a:xfrm>
            <a:off x="7863840" y="2606040"/>
            <a:ext cx="274320" cy="365760"/>
          </a:xfrm>
          <a:prstGeom prst="rightArrow">
            <a:avLst/>
          </a:prstGeom>
          <a:solidFill>
            <a:srgbClr val="8FC1FF"/>
          </a:solidFill>
          <a:ln>
            <a:noFill/>
          </a:ln>
        </p:spPr>
        <p:txBody>
          <a:bodyPr lIns="0" tIns="0" rIns="0" bIns="0" anchor="ctr"/>
          <a:lstStyle/>
          <a:p>
            <a:endParaRPr lang="en-GB"/>
          </a:p>
        </p:txBody>
      </p:sp>
      <p:pic>
        <p:nvPicPr>
          <p:cNvPr id="22" name="Verified icon" descr="icon"/>
          <p:cNvPicPr>
            <a:picLocks noChangeAspect="1"/>
          </p:cNvPicPr>
          <p:nvPr/>
        </p:nvPicPr>
        <p:blipFill>
          <a:blip r:embed="rId3"/>
          <a:stretch>
            <a:fillRect/>
          </a:stretch>
        </p:blipFill>
        <p:spPr>
          <a:xfrm>
            <a:off x="8458200" y="2331720"/>
            <a:ext cx="320040" cy="320040"/>
          </a:xfrm>
          <a:prstGeom prst="rect">
            <a:avLst/>
          </a:prstGeom>
        </p:spPr>
      </p:pic>
      <p:sp>
        <p:nvSpPr>
          <p:cNvPr id="23" name="Outcome 1"/>
          <p:cNvSpPr txBox="1"/>
          <p:nvPr/>
        </p:nvSpPr>
        <p:spPr>
          <a:xfrm>
            <a:off x="8915400" y="2304288"/>
            <a:ext cx="2468880" cy="374904"/>
          </a:xfrm>
          <a:prstGeom prst="rect">
            <a:avLst/>
          </a:prstGeom>
          <a:noFill/>
          <a:ln/>
        </p:spPr>
        <p:txBody>
          <a:bodyPr wrap="square" lIns="0" tIns="0" rIns="0" bIns="0" rtlCol="0" anchor="ctr"/>
          <a:lstStyle/>
          <a:p>
            <a:pPr marL="0" indent="0" algn="l">
              <a:spcAft>
                <a:spcPts val="0"/>
              </a:spcAft>
              <a:buNone/>
            </a:pPr>
            <a:r>
              <a:rPr lang="en-US" sz="1600" b="1" kern="0">
                <a:solidFill>
                  <a:srgbClr val="F2F5FA"/>
                </a:solidFill>
                <a:latin typeface="Calibri" pitchFamily="34" charset="0"/>
                <a:ea typeface="Calibri" pitchFamily="34" charset="-122"/>
                <a:cs typeface="Calibri" pitchFamily="34" charset="-120"/>
              </a:rPr>
              <a:t>1,000 / 1,000</a:t>
            </a:r>
            <a:r>
              <a:rPr lang="en-US" sz="1600" kern="0">
                <a:solidFill>
                  <a:srgbClr val="F2F5FA"/>
                </a:solidFill>
                <a:latin typeface="Calibri" pitchFamily="34" charset="0"/>
                <a:ea typeface="Calibri" pitchFamily="34" charset="-122"/>
                <a:cs typeface="Calibri" pitchFamily="34" charset="-120"/>
              </a:rPr>
              <a:t> references pass</a:t>
            </a:r>
            <a:endParaRPr lang="en-US" sz="1600" kern="0" dirty="0">
              <a:solidFill>
                <a:srgbClr val="F2F5FA"/>
              </a:solidFill>
              <a:latin typeface="Calibri" pitchFamily="34" charset="0"/>
              <a:ea typeface="Calibri" pitchFamily="34" charset="-122"/>
              <a:cs typeface="Calibri" pitchFamily="34" charset="-120"/>
            </a:endParaRPr>
          </a:p>
        </p:txBody>
      </p:sp>
      <p:sp>
        <p:nvSpPr>
          <p:cNvPr id="24" name="Flagged icon"/>
          <p:cNvSpPr/>
          <p:nvPr/>
        </p:nvSpPr>
        <p:spPr>
          <a:xfrm>
            <a:off x="8458200" y="2811780"/>
            <a:ext cx="320040" cy="320040"/>
          </a:xfrm>
          <a:prstGeom prst="ellipse">
            <a:avLst/>
          </a:prstGeom>
          <a:solidFill>
            <a:srgbClr val="F7E23B"/>
          </a:solidFill>
          <a:ln>
            <a:noFill/>
          </a:ln>
        </p:spPr>
        <p:txBody>
          <a:bodyPr lIns="0" tIns="0" rIns="0" bIns="0" anchor="ctr"/>
          <a:lstStyle/>
          <a:p>
            <a:pPr algn="ctr"/>
            <a:r>
              <a:rPr lang="en-US" sz="1400" b="1" kern="0" dirty="0">
                <a:solidFill>
                  <a:srgbClr val="0B1B33"/>
                </a:solidFill>
                <a:latin typeface="Calibri" pitchFamily="34" charset="0"/>
                <a:ea typeface="Calibri" pitchFamily="34" charset="-122"/>
                <a:cs typeface="Calibri" pitchFamily="34" charset="-120"/>
              </a:rPr>
              <a:t>!</a:t>
            </a:r>
          </a:p>
        </p:txBody>
      </p:sp>
      <p:sp>
        <p:nvSpPr>
          <p:cNvPr id="25" name="Outcome 2"/>
          <p:cNvSpPr txBox="1"/>
          <p:nvPr/>
        </p:nvSpPr>
        <p:spPr>
          <a:xfrm>
            <a:off x="8915400" y="2784348"/>
            <a:ext cx="2468880" cy="374904"/>
          </a:xfrm>
          <a:prstGeom prst="rect">
            <a:avLst/>
          </a:prstGeom>
          <a:noFill/>
          <a:ln/>
        </p:spPr>
        <p:txBody>
          <a:bodyPr wrap="square" lIns="0" tIns="0" rIns="0" bIns="0" rtlCol="0" anchor="ctr"/>
          <a:lstStyle/>
          <a:p>
            <a:pPr marL="0" indent="0" algn="l">
              <a:spcAft>
                <a:spcPts val="0"/>
              </a:spcAft>
              <a:buNone/>
            </a:pPr>
            <a:r>
              <a:rPr lang="en-US" sz="1600" b="1" kern="0">
                <a:solidFill>
                  <a:srgbClr val="F2F5FA"/>
                </a:solidFill>
                <a:latin typeface="Calibri" pitchFamily="34" charset="0"/>
                <a:ea typeface="Calibri" pitchFamily="34" charset="-122"/>
                <a:cs typeface="Calibri" pitchFamily="34" charset="-120"/>
              </a:rPr>
              <a:t>3,000</a:t>
            </a:r>
            <a:r>
              <a:rPr lang="en-US" sz="1600" kern="0">
                <a:solidFill>
                  <a:srgbClr val="F2F5FA"/>
                </a:solidFill>
                <a:latin typeface="Calibri" pitchFamily="34" charset="0"/>
                <a:ea typeface="Calibri" pitchFamily="34" charset="-122"/>
                <a:cs typeface="Calibri" pitchFamily="34" charset="-120"/>
              </a:rPr>
              <a:t> broken programs blocked</a:t>
            </a:r>
            <a:endParaRPr lang="en-US" sz="1600" kern="0" dirty="0">
              <a:solidFill>
                <a:srgbClr val="F2F5FA"/>
              </a:solidFill>
              <a:latin typeface="Calibri" pitchFamily="34" charset="0"/>
              <a:ea typeface="Calibri" pitchFamily="34" charset="-122"/>
              <a:cs typeface="Calibri" pitchFamily="34" charset="-120"/>
            </a:endParaRPr>
          </a:p>
        </p:txBody>
      </p:sp>
      <p:pic>
        <p:nvPicPr>
          <p:cNvPr id="26" name="Withheld icon" descr="icon"/>
          <p:cNvPicPr>
            <a:picLocks noChangeAspect="1"/>
          </p:cNvPicPr>
          <p:nvPr/>
        </p:nvPicPr>
        <p:blipFill>
          <a:blip r:embed="rId4"/>
          <a:stretch>
            <a:fillRect/>
          </a:stretch>
        </p:blipFill>
        <p:spPr>
          <a:xfrm>
            <a:off x="8458200" y="3291840"/>
            <a:ext cx="320040" cy="320040"/>
          </a:xfrm>
          <a:prstGeom prst="rect">
            <a:avLst/>
          </a:prstGeom>
        </p:spPr>
      </p:pic>
      <p:sp>
        <p:nvSpPr>
          <p:cNvPr id="27" name="Outcome 3"/>
          <p:cNvSpPr txBox="1"/>
          <p:nvPr/>
        </p:nvSpPr>
        <p:spPr>
          <a:xfrm>
            <a:off x="8915400" y="3264408"/>
            <a:ext cx="2468880" cy="374904"/>
          </a:xfrm>
          <a:prstGeom prst="rect">
            <a:avLst/>
          </a:prstGeom>
          <a:noFill/>
          <a:ln/>
        </p:spPr>
        <p:txBody>
          <a:bodyPr wrap="square" lIns="0" tIns="0" rIns="0" bIns="0" rtlCol="0" anchor="ctr"/>
          <a:lstStyle/>
          <a:p>
            <a:pPr marL="0" indent="0" algn="l">
              <a:spcAft>
                <a:spcPts val="0"/>
              </a:spcAft>
              <a:buNone/>
            </a:pPr>
            <a:r>
              <a:rPr lang="en-US" sz="1600" b="1" kern="0">
                <a:solidFill>
                  <a:srgbClr val="F2F5FA"/>
                </a:solidFill>
                <a:latin typeface="Calibri" pitchFamily="34" charset="0"/>
                <a:ea typeface="Calibri" pitchFamily="34" charset="-122"/>
                <a:cs typeface="Calibri" pitchFamily="34" charset="-120"/>
              </a:rPr>
              <a:t>13</a:t>
            </a:r>
            <a:r>
              <a:rPr lang="en-US" sz="1600" kern="0">
                <a:solidFill>
                  <a:srgbClr val="F2F5FA"/>
                </a:solidFill>
                <a:latin typeface="Calibri" pitchFamily="34" charset="0"/>
                <a:ea typeface="Calibri" pitchFamily="34" charset="-122"/>
                <a:cs typeface="Calibri" pitchFamily="34" charset="-120"/>
              </a:rPr>
              <a:t> scoring defects fixed</a:t>
            </a:r>
            <a:endParaRPr lang="en-US" sz="1600" kern="0" dirty="0">
              <a:solidFill>
                <a:srgbClr val="F2F5FA"/>
              </a:solidFill>
              <a:latin typeface="Calibri" pitchFamily="34" charset="0"/>
              <a:ea typeface="Calibri" pitchFamily="34" charset="-122"/>
              <a:cs typeface="Calibri" pitchFamily="34" charset="-120"/>
            </a:endParaRPr>
          </a:p>
        </p:txBody>
      </p:sp>
      <p:sp>
        <p:nvSpPr>
          <p:cNvPr id="28" name="Fit card 1"/>
          <p:cNvSpPr/>
          <p:nvPr/>
        </p:nvSpPr>
        <p:spPr>
          <a:xfrm>
            <a:off x="54864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9" name="Fit label 1"/>
          <p:cNvSpPr txBox="1"/>
          <p:nvPr/>
        </p:nvSpPr>
        <p:spPr>
          <a:xfrm>
            <a:off x="77724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F7E23B"/>
                </a:solidFill>
                <a:latin typeface="Calibri" pitchFamily="34" charset="0"/>
                <a:ea typeface="Calibri" pitchFamily="34" charset="-122"/>
                <a:cs typeface="Calibri" pitchFamily="34" charset="-120"/>
              </a:rPr>
              <a:t>WHAT WORKED</a:t>
            </a:r>
            <a:endParaRPr lang="en-US" sz="1200" b="1" kern="0" spc="150" dirty="0">
              <a:solidFill>
                <a:srgbClr val="F7E23B"/>
              </a:solidFill>
              <a:latin typeface="Calibri" pitchFamily="34" charset="0"/>
              <a:ea typeface="Calibri" pitchFamily="34" charset="-122"/>
              <a:cs typeface="Calibri" pitchFamily="34" charset="-120"/>
            </a:endParaRPr>
          </a:p>
        </p:txBody>
      </p:sp>
      <p:sp>
        <p:nvSpPr>
          <p:cNvPr id="30" name="Fit text 1"/>
          <p:cNvSpPr txBox="1"/>
          <p:nvPr/>
        </p:nvSpPr>
        <p:spPr>
          <a:xfrm>
            <a:off x="777240" y="4526280"/>
            <a:ext cx="2926080" cy="822960"/>
          </a:xfrm>
          <a:prstGeom prst="rect">
            <a:avLst/>
          </a:prstGeom>
          <a:noFill/>
          <a:ln/>
        </p:spPr>
        <p:txBody>
          <a:bodyPr wrap="square" lIns="0" tIns="0" rIns="0" bIns="0" rtlCol="0" anchor="t"/>
          <a:lstStyle/>
          <a:p>
            <a:pPr marL="0" indent="0" algn="l">
              <a:spcAft>
                <a:spcPts val="0"/>
              </a:spcAft>
              <a:buNone/>
            </a:pPr>
            <a:r>
              <a:rPr lang="en-US" sz="1500" kern="0">
                <a:solidFill>
                  <a:srgbClr val="F2F5FA"/>
                </a:solidFill>
                <a:latin typeface="Calibri" pitchFamily="34" charset="0"/>
                <a:ea typeface="Calibri" pitchFamily="34" charset="-122"/>
                <a:cs typeface="Calibri" pitchFamily="34" charset="-120"/>
              </a:rPr>
              <a:t>Tools, tests and charts in days; every number regenerated from the raw runs.</a:t>
            </a:r>
            <a:endParaRPr lang="en-US" sz="1500" kern="0" dirty="0">
              <a:solidFill>
                <a:srgbClr val="F2F5FA"/>
              </a:solidFill>
              <a:latin typeface="Calibri" pitchFamily="34" charset="0"/>
              <a:ea typeface="Calibri" pitchFamily="34" charset="-122"/>
              <a:cs typeface="Calibri" pitchFamily="34" charset="-120"/>
            </a:endParaRPr>
          </a:p>
        </p:txBody>
      </p:sp>
      <p:sp>
        <p:nvSpPr>
          <p:cNvPr id="31" name="Fit card 2"/>
          <p:cNvSpPr/>
          <p:nvPr/>
        </p:nvSpPr>
        <p:spPr>
          <a:xfrm>
            <a:off x="438912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2" name="Fit label 2"/>
          <p:cNvSpPr txBox="1"/>
          <p:nvPr/>
        </p:nvSpPr>
        <p:spPr>
          <a:xfrm>
            <a:off x="461772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F7E23B"/>
                </a:solidFill>
                <a:latin typeface="Calibri" pitchFamily="34" charset="0"/>
                <a:ea typeface="Calibri" pitchFamily="34" charset="-122"/>
                <a:cs typeface="Calibri" pitchFamily="34" charset="-120"/>
              </a:rPr>
              <a:t>WHAT WE WATCHED</a:t>
            </a:r>
            <a:endParaRPr lang="en-US" sz="1200" b="1" kern="0" spc="150" dirty="0">
              <a:solidFill>
                <a:srgbClr val="F7E23B"/>
              </a:solidFill>
              <a:latin typeface="Calibri" pitchFamily="34" charset="0"/>
              <a:ea typeface="Calibri" pitchFamily="34" charset="-122"/>
              <a:cs typeface="Calibri" pitchFamily="34" charset="-120"/>
            </a:endParaRPr>
          </a:p>
        </p:txBody>
      </p:sp>
      <p:sp>
        <p:nvSpPr>
          <p:cNvPr id="33" name="Fit text 2"/>
          <p:cNvSpPr txBox="1"/>
          <p:nvPr/>
        </p:nvSpPr>
        <p:spPr>
          <a:xfrm>
            <a:off x="4617720" y="4526280"/>
            <a:ext cx="2926080" cy="822960"/>
          </a:xfrm>
          <a:prstGeom prst="rect">
            <a:avLst/>
          </a:prstGeom>
          <a:noFill/>
          <a:ln/>
        </p:spPr>
        <p:txBody>
          <a:bodyPr wrap="square" lIns="0" tIns="0" rIns="0" bIns="0" rtlCol="0" anchor="t"/>
          <a:lstStyle/>
          <a:p>
            <a:pPr marL="0" indent="0" algn="l">
              <a:spcAft>
                <a:spcPts val="0"/>
              </a:spcAft>
              <a:buNone/>
            </a:pPr>
            <a:r>
              <a:rPr lang="en-US" sz="1500" kern="0">
                <a:solidFill>
                  <a:srgbClr val="F2F5FA"/>
                </a:solidFill>
                <a:latin typeface="Calibri" pitchFamily="34" charset="0"/>
                <a:ea typeface="Calibri" pitchFamily="34" charset="-122"/>
                <a:cs typeface="Calibri" pitchFamily="34" charset="-120"/>
              </a:rPr>
              <a:t>AI code can look right and be wrong. Known-answer tests and an independent evaluator caught it.</a:t>
            </a:r>
            <a:endParaRPr lang="en-US" sz="1500" kern="0" dirty="0">
              <a:solidFill>
                <a:srgbClr val="F2F5FA"/>
              </a:solidFill>
              <a:latin typeface="Calibri" pitchFamily="34" charset="0"/>
              <a:ea typeface="Calibri" pitchFamily="34" charset="-122"/>
              <a:cs typeface="Calibri" pitchFamily="34" charset="-120"/>
            </a:endParaRPr>
          </a:p>
        </p:txBody>
      </p:sp>
      <p:sp>
        <p:nvSpPr>
          <p:cNvPr id="34" name="Fit card 3"/>
          <p:cNvSpPr/>
          <p:nvPr/>
        </p:nvSpPr>
        <p:spPr>
          <a:xfrm>
            <a:off x="8229600" y="4069080"/>
            <a:ext cx="3383280" cy="1325880"/>
          </a:xfrm>
          <a:prstGeom prst="roundRect">
            <a:avLst>
              <a:gd name="adj" fmla="val 4500"/>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5" name="Fit label 3"/>
          <p:cNvSpPr txBox="1"/>
          <p:nvPr/>
        </p:nvSpPr>
        <p:spPr>
          <a:xfrm>
            <a:off x="8458200" y="4206240"/>
            <a:ext cx="2926080" cy="274320"/>
          </a:xfrm>
          <a:prstGeom prst="rect">
            <a:avLst/>
          </a:prstGeom>
          <a:noFill/>
          <a:ln/>
        </p:spPr>
        <p:txBody>
          <a:bodyPr wrap="square" lIns="0" tIns="0" rIns="0" bIns="0" rtlCol="0" anchor="t"/>
          <a:lstStyle/>
          <a:p>
            <a:pPr marL="0" indent="0" algn="l">
              <a:spcAft>
                <a:spcPts val="0"/>
              </a:spcAft>
              <a:buNone/>
            </a:pPr>
            <a:r>
              <a:rPr lang="en-US" sz="1200" b="1" kern="0" spc="150">
                <a:solidFill>
                  <a:srgbClr val="F7E23B"/>
                </a:solidFill>
                <a:latin typeface="Calibri" pitchFamily="34" charset="0"/>
                <a:ea typeface="Calibri" pitchFamily="34" charset="-122"/>
                <a:cs typeface="Calibri" pitchFamily="34" charset="-120"/>
              </a:rPr>
              <a:t>HUMANS IN THE LOOP</a:t>
            </a:r>
            <a:endParaRPr lang="en-US" sz="1200" b="1" kern="0" spc="150" dirty="0">
              <a:solidFill>
                <a:srgbClr val="F7E23B"/>
              </a:solidFill>
              <a:latin typeface="Calibri" pitchFamily="34" charset="0"/>
              <a:ea typeface="Calibri" pitchFamily="34" charset="-122"/>
              <a:cs typeface="Calibri" pitchFamily="34" charset="-120"/>
            </a:endParaRPr>
          </a:p>
        </p:txBody>
      </p:sp>
      <p:sp>
        <p:nvSpPr>
          <p:cNvPr id="36" name="Fit text 3"/>
          <p:cNvSpPr txBox="1"/>
          <p:nvPr/>
        </p:nvSpPr>
        <p:spPr>
          <a:xfrm>
            <a:off x="8458200" y="4526280"/>
            <a:ext cx="2926080" cy="822960"/>
          </a:xfrm>
          <a:prstGeom prst="rect">
            <a:avLst/>
          </a:prstGeom>
          <a:noFill/>
          <a:ln/>
        </p:spPr>
        <p:txBody>
          <a:bodyPr wrap="square" lIns="0" tIns="0" rIns="0" bIns="0" rtlCol="0" anchor="t"/>
          <a:lstStyle/>
          <a:p>
            <a:pPr marL="0" indent="0" algn="l">
              <a:spcAft>
                <a:spcPts val="0"/>
              </a:spcAft>
              <a:buNone/>
            </a:pPr>
            <a:r>
              <a:rPr lang="en-US" sz="1500" kern="0">
                <a:solidFill>
                  <a:srgbClr val="F2F5FA"/>
                </a:solidFill>
                <a:latin typeface="Calibri" pitchFamily="34" charset="0"/>
                <a:ea typeface="Calibri" pitchFamily="34" charset="-122"/>
                <a:cs typeface="Calibri" pitchFamily="34" charset="-120"/>
              </a:rPr>
              <a:t>AI-assisted first review, re-checked by members. Audits confirmed 99 of 102 decisions.</a:t>
            </a:r>
            <a:endParaRPr lang="en-US" sz="1500" kern="0" dirty="0">
              <a:solidFill>
                <a:srgbClr val="F2F5FA"/>
              </a:solidFill>
              <a:latin typeface="Calibri" pitchFamily="34" charset="0"/>
              <a:ea typeface="Calibri" pitchFamily="34" charset="-122"/>
              <a:cs typeface="Calibri" pitchFamily="34" charset="-120"/>
            </a:endParaRPr>
          </a:p>
        </p:txBody>
      </p:sp>
      <p:sp>
        <p:nvSpPr>
          <p:cNvPr id="37" name="Caveat"/>
          <p:cNvSpPr txBox="1"/>
          <p:nvPr/>
        </p:nvSpPr>
        <p:spPr>
          <a:xfrm>
            <a:off x="548640" y="5532120"/>
            <a:ext cx="11064240" cy="320040"/>
          </a:xfrm>
          <a:prstGeom prst="rect">
            <a:avLst/>
          </a:prstGeom>
          <a:noFill/>
          <a:ln/>
        </p:spPr>
        <p:txBody>
          <a:bodyPr wrap="square" lIns="0" tIns="0" rIns="0" bIns="0" rtlCol="0" anchor="t"/>
          <a:lstStyle/>
          <a:p>
            <a:pPr marL="0" indent="0" algn="l">
              <a:spcAft>
                <a:spcPts val="0"/>
              </a:spcAft>
              <a:buNone/>
            </a:pPr>
            <a:r>
              <a:rPr lang="en-US" sz="1500" i="1" kern="0">
                <a:solidFill>
                  <a:srgbClr val="9FB2CC"/>
                </a:solidFill>
                <a:latin typeface="Calibri" pitchFamily="34" charset="0"/>
                <a:ea typeface="Calibri" pitchFamily="34" charset="-122"/>
                <a:cs typeface="Calibri" pitchFamily="34" charset="-120"/>
              </a:rPr>
              <a:t>Every component can be explained, rerun and defended by the group; all AI use is listed in the report's AI disclosure.</a:t>
            </a:r>
            <a:endParaRPr lang="en-US" sz="1500" i="1" kern="0" dirty="0">
              <a:solidFill>
                <a:srgbClr val="9FB2CC"/>
              </a:solidFill>
              <a:latin typeface="Calibri" pitchFamily="34" charset="0"/>
              <a:ea typeface="Calibri" pitchFamily="34" charset="-122"/>
              <a:cs typeface="Calibri" pitchFamily="34" charset="-120"/>
            </a:endParaRPr>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25</a:t>
            </a:fld>
            <a:endParaRPr lang="en-US"/>
          </a:p>
        </p:txBody>
      </p:sp>
    </p:spTree>
    <p:extLst>
      <p:ext uri="{BB962C8B-B14F-4D97-AF65-F5344CB8AC3E}">
        <p14:creationId xmlns:p14="http://schemas.microsoft.com/office/powerpoint/2010/main" val="941743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Network of glowing nodes"/>
          <p:cNvPicPr>
            <a:picLocks noChangeAspect="1"/>
          </p:cNvPicPr>
          <p:nvPr/>
        </p:nvPicPr>
        <p:blipFill>
          <a:blip r:embed="rId3"/>
          <a:stretch>
            <a:fillRect/>
          </a:stretch>
        </p:blipFill>
        <p:spPr>
          <a:xfrm>
            <a:off x="9052560" y="0"/>
            <a:ext cx="3139135" cy="6858000"/>
          </a:xfrm>
          <a:prstGeom prst="rect">
            <a:avLst/>
          </a:prstGeom>
        </p:spPr>
      </p:pic>
      <p:sp>
        <p:nvSpPr>
          <p:cNvPr id="4" name="Text 0"/>
          <p:cNvSpPr txBox="1"/>
          <p:nvPr/>
        </p:nvSpPr>
        <p:spPr>
          <a:xfrm>
            <a:off x="731520" y="548640"/>
            <a:ext cx="5486400" cy="365760"/>
          </a:xfrm>
          <a:prstGeom prst="rect">
            <a:avLst/>
          </a:prstGeom>
          <a:noFill/>
          <a:ln/>
        </p:spPr>
        <p:txBody>
          <a:bodyPr wrap="square" lIns="0" tIns="0" rIns="0" bIns="0" rtlCol="0" anchor="t"/>
          <a:lstStyle/>
          <a:p>
            <a:pPr marL="0" indent="0">
              <a:buNone/>
            </a:pPr>
            <a:r>
              <a:rPr lang="en-US" sz="1400" b="1" kern="0" spc="400" dirty="0">
                <a:solidFill>
                  <a:srgbClr val="F7E23B"/>
                </a:solidFill>
                <a:latin typeface="Calibri" pitchFamily="34" charset="0"/>
                <a:ea typeface="Calibri" pitchFamily="34" charset="-122"/>
                <a:cs typeface="Calibri" pitchFamily="34" charset="-120"/>
              </a:rPr>
              <a:t>CONCLUSION</a:t>
            </a:r>
            <a:endParaRPr lang="en-US" sz="1400" dirty="0"/>
          </a:p>
        </p:txBody>
      </p:sp>
      <p:sp>
        <p:nvSpPr>
          <p:cNvPr id="5" name="Text 1"/>
          <p:cNvSpPr txBox="1"/>
          <p:nvPr/>
        </p:nvSpPr>
        <p:spPr>
          <a:xfrm>
            <a:off x="731520" y="914400"/>
            <a:ext cx="8046720" cy="1463040"/>
          </a:xfrm>
          <a:prstGeom prst="rect">
            <a:avLst/>
          </a:prstGeom>
          <a:noFill/>
          <a:ln/>
        </p:spPr>
        <p:txBody>
          <a:bodyPr wrap="square" lIns="0" tIns="0" rIns="0" bIns="0" rtlCol="0" anchor="t"/>
          <a:lstStyle/>
          <a:p>
            <a:pPr marL="0" indent="0">
              <a:buNone/>
            </a:pPr>
            <a:r>
              <a:rPr lang="en-US" sz="8000" b="1" dirty="0">
                <a:solidFill>
                  <a:srgbClr val="FF7B6F"/>
                </a:solidFill>
                <a:latin typeface="Cambria" pitchFamily="34" charset="0"/>
                <a:ea typeface="Cambria" pitchFamily="34" charset="-122"/>
                <a:cs typeface="Cambria" pitchFamily="34" charset="-120"/>
              </a:rPr>
              <a:t>53%</a:t>
            </a:r>
            <a:r>
              <a:rPr lang="en-US" sz="8000" b="1" dirty="0">
                <a:solidFill>
                  <a:srgbClr val="9FB2CC"/>
                </a:solidFill>
                <a:latin typeface="Cambria" pitchFamily="34" charset="0"/>
                <a:ea typeface="Cambria" pitchFamily="34" charset="-122"/>
                <a:cs typeface="Cambria" pitchFamily="34" charset="-120"/>
              </a:rPr>
              <a:t>  →  </a:t>
            </a:r>
            <a:r>
              <a:rPr lang="en-US" sz="8000" b="1" dirty="0">
                <a:solidFill>
                  <a:srgbClr val="FFFFFF"/>
                </a:solidFill>
                <a:latin typeface="Cambria" pitchFamily="34" charset="0"/>
                <a:ea typeface="Cambria" pitchFamily="34" charset="-122"/>
                <a:cs typeface="Cambria" pitchFamily="34" charset="-120"/>
              </a:rPr>
              <a:t>2%</a:t>
            </a:r>
            <a:endParaRPr lang="en-US" sz="8000" dirty="0"/>
          </a:p>
        </p:txBody>
      </p:sp>
      <p:sp>
        <p:nvSpPr>
          <p:cNvPr id="6" name="Text 2"/>
          <p:cNvSpPr txBox="1"/>
          <p:nvPr/>
        </p:nvSpPr>
        <p:spPr>
          <a:xfrm>
            <a:off x="731520" y="2468880"/>
            <a:ext cx="8046720" cy="457200"/>
          </a:xfrm>
          <a:prstGeom prst="rect">
            <a:avLst/>
          </a:prstGeom>
          <a:noFill/>
          <a:ln/>
        </p:spPr>
        <p:txBody>
          <a:bodyPr wrap="square" lIns="0" tIns="0" rIns="0" bIns="0" rtlCol="0" anchor="t"/>
          <a:lstStyle/>
          <a:p>
            <a:pPr marL="0" indent="0">
              <a:buNone/>
            </a:pPr>
            <a:r>
              <a:rPr lang="en-US" sz="2000" dirty="0">
                <a:solidFill>
                  <a:srgbClr val="C9D6E8"/>
                </a:solidFill>
                <a:latin typeface="Calibri" pitchFamily="34" charset="0"/>
                <a:ea typeface="Calibri" pitchFamily="34" charset="-122"/>
                <a:cs typeface="Calibri" pitchFamily="34" charset="-120"/>
              </a:rPr>
              <a:t>of tasks end with a hallucinated API call in the user's hands (2.8 to 3.7% after audit-informed re-scoring).</a:t>
            </a:r>
            <a:endParaRPr lang="en-US" sz="2000" dirty="0"/>
          </a:p>
        </p:txBody>
      </p:sp>
      <p:sp>
        <p:nvSpPr>
          <p:cNvPr id="7" name="Card"/>
          <p:cNvSpPr/>
          <p:nvPr/>
        </p:nvSpPr>
        <p:spPr>
          <a:xfrm>
            <a:off x="7315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8" name="Text 4"/>
          <p:cNvSpPr txBox="1"/>
          <p:nvPr/>
        </p:nvSpPr>
        <p:spPr>
          <a:xfrm>
            <a:off x="9144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Safe, not always useful</a:t>
            </a:r>
            <a:endParaRPr lang="en-US" sz="1600" dirty="0"/>
          </a:p>
        </p:txBody>
      </p:sp>
      <p:sp>
        <p:nvSpPr>
          <p:cNvPr id="9" name="Text 5"/>
          <p:cNvSpPr txBox="1"/>
          <p:nvPr/>
        </p:nvSpPr>
        <p:spPr>
          <a:xfrm>
            <a:off x="9144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Abstains on 38 to 40% of tasks</a:t>
            </a:r>
            <a:endParaRPr lang="en-US" sz="1400" dirty="0"/>
          </a:p>
        </p:txBody>
      </p:sp>
      <p:sp>
        <p:nvSpPr>
          <p:cNvPr id="10" name="Card"/>
          <p:cNvSpPr/>
          <p:nvPr/>
        </p:nvSpPr>
        <p:spPr>
          <a:xfrm>
            <a:off x="34747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11" name="Text 7"/>
          <p:cNvSpPr txBox="1"/>
          <p:nvPr/>
        </p:nvSpPr>
        <p:spPr>
          <a:xfrm>
            <a:off x="36576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It costs</a:t>
            </a:r>
            <a:endParaRPr lang="en-US" sz="1600" dirty="0"/>
          </a:p>
        </p:txBody>
      </p:sp>
      <p:sp>
        <p:nvSpPr>
          <p:cNvPr id="12" name="Text 8"/>
          <p:cNvSpPr txBox="1"/>
          <p:nvPr/>
        </p:nvSpPr>
        <p:spPr>
          <a:xfrm>
            <a:off x="36576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~6x the time, 40 to 46x the tokens</a:t>
            </a:r>
            <a:endParaRPr lang="en-US" sz="1400" dirty="0"/>
          </a:p>
        </p:txBody>
      </p:sp>
      <p:sp>
        <p:nvSpPr>
          <p:cNvPr id="13" name="Card"/>
          <p:cNvSpPr/>
          <p:nvPr/>
        </p:nvSpPr>
        <p:spPr>
          <a:xfrm>
            <a:off x="62179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14" name="Text 10"/>
          <p:cNvSpPr txBox="1"/>
          <p:nvPr/>
        </p:nvSpPr>
        <p:spPr>
          <a:xfrm>
            <a:off x="64008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Verified is not done</a:t>
            </a:r>
            <a:endParaRPr lang="en-US" sz="1600" dirty="0"/>
          </a:p>
        </p:txBody>
      </p:sp>
      <p:sp>
        <p:nvSpPr>
          <p:cNvPr id="15" name="Text 11"/>
          <p:cNvSpPr txBox="1"/>
          <p:nvPr/>
        </p:nvSpPr>
        <p:spPr>
          <a:xfrm>
            <a:off x="64008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Contract conformance, not user intent</a:t>
            </a:r>
            <a:endParaRPr lang="en-US" sz="1400" dirty="0"/>
          </a:p>
        </p:txBody>
      </p:sp>
      <p:sp>
        <p:nvSpPr>
          <p:cNvPr id="16" name="Text 12"/>
          <p:cNvSpPr txBox="1"/>
          <p:nvPr/>
        </p:nvSpPr>
        <p:spPr>
          <a:xfrm>
            <a:off x="731520" y="5120640"/>
            <a:ext cx="7955280" cy="640080"/>
          </a:xfrm>
          <a:prstGeom prst="rect">
            <a:avLst/>
          </a:prstGeom>
          <a:noFill/>
          <a:ln/>
        </p:spPr>
        <p:txBody>
          <a:bodyPr wrap="square" lIns="0" tIns="0" rIns="0" bIns="0" rtlCol="0" anchor="t"/>
          <a:lstStyle/>
          <a:p>
            <a:pPr marL="0" indent="0">
              <a:buNone/>
            </a:pPr>
            <a:r>
              <a:rPr lang="en-US" sz="1800" i="1" dirty="0">
                <a:solidFill>
                  <a:srgbClr val="C9D6E8"/>
                </a:solidFill>
                <a:latin typeface="Calibri" pitchFamily="34" charset="0"/>
                <a:ea typeface="Calibri" pitchFamily="34" charset="-122"/>
                <a:cs typeface="Calibri" pitchFamily="34" charset="-120"/>
              </a:rPr>
              <a:t>Most baseline hallucinations were stale or invented API versions from the model's training data. The fix lives outside the model: explicit rules, not its own judgement.</a:t>
            </a:r>
            <a:endParaRPr lang="en-US" sz="1800" dirty="0"/>
          </a:p>
        </p:txBody>
      </p:sp>
      <p:sp>
        <p:nvSpPr>
          <p:cNvPr id="17" name="Text 13"/>
          <p:cNvSpPr txBox="1"/>
          <p:nvPr/>
        </p:nvSpPr>
        <p:spPr>
          <a:xfrm>
            <a:off x="731520" y="594360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A: Exact headline results</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114800"/>
        </p:xfrm>
        <a:graphic>
          <a:graphicData uri="http://schemas.openxmlformats.org/drawingml/2006/table">
            <a:tbl>
              <a:tblPr/>
              <a:tblGrid>
                <a:gridCol w="4206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580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Q4_K_M</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Q6_K</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Q8_0</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Hallucinations, baseline / agent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51.8% / 1.6%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50.8% / 2.3%</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55.2% / 2.0%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Correct request, baseline / agent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24.9% / 50.9%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36.9% / 50.4%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34.4% / 51.5%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Agent abstention</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37.6%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39.5%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38.7%</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Incorrect acceptance / rejection</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 / 21</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23 / 20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20 / 28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4"/>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Repaired / regressed task pairs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505 / 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490 / 10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529 / 3</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990 scored tasks per run. Repaired and regressed refer to the primary paired outcome, not necessarily a correct request.</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B: Weights and thresholds</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160520"/>
        </p:xfrm>
        <a:graphic>
          <a:graphicData uri="http://schemas.openxmlformats.org/drawingml/2006/table">
            <a:tbl>
              <a:tblPr/>
              <a:tblGrid>
                <a:gridCol w="3931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9436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Scheme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Deliver / flag</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Abstain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Hallucinations delivered</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Proposed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166 / 1,658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Equal weights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212 / 1,612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Endpoint-heavy</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1,072 / 752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Strict thresholds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0 / 1,824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4"/>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Lenient thresholds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1,072 / 752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5"/>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Gate removed (exploratory)</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166 / 1,919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885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224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760720"/>
            <a:ext cx="11064240" cy="4572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2,970 repeated task-runs pooled. Correct requests delivered: 1,513 under every planned scheme and 1,579 without the gate.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C: Deployment and components</a:t>
            </a:r>
            <a:endParaRPr lang="en-US" sz="3400" dirty="0"/>
          </a:p>
        </p:txBody>
      </p:sp>
      <p:sp>
        <p:nvSpPr>
          <p:cNvPr id="3" name="FigureBackground"/>
          <p:cNvSpPr/>
          <p:nvPr/>
        </p:nvSpPr>
        <p:spPr>
          <a:xfrm>
            <a:off x="1920240" y="1417320"/>
            <a:ext cx="8366760" cy="4681728"/>
          </a:xfrm>
          <a:prstGeom prst="rect">
            <a:avLst/>
          </a:prstGeom>
          <a:solidFill>
            <a:srgbClr val="FFFFFF"/>
          </a:solidFill>
          <a:ln w="12700">
            <a:solidFill>
              <a:srgbClr val="2B4470"/>
            </a:solidFill>
            <a:prstDash val="solid"/>
          </a:ln>
        </p:spPr>
        <p:txBody>
          <a:bodyPr/>
          <a:lstStyle/>
          <a:p>
            <a:endParaRPr lang="en-GB"/>
          </a:p>
        </p:txBody>
      </p:sp>
      <p:pic>
        <p:nvPicPr>
          <p:cNvPr id="4" name="Image 0" descr="Figure 2 from the final report: deployment and component view"/>
          <p:cNvPicPr>
            <a:picLocks noChangeAspect="1"/>
          </p:cNvPicPr>
          <p:nvPr/>
        </p:nvPicPr>
        <p:blipFill>
          <a:blip r:embed="rId3"/>
          <a:stretch>
            <a:fillRect/>
          </a:stretch>
        </p:blipFill>
        <p:spPr>
          <a:xfrm>
            <a:off x="2011680" y="1463040"/>
            <a:ext cx="8183880" cy="4590288"/>
          </a:xfrm>
          <a:prstGeom prst="rect">
            <a:avLst/>
          </a:prstGeom>
        </p:spPr>
      </p:pic>
      <p:sp>
        <p:nvSpPr>
          <p:cNvPr id="5" name="Text 2"/>
          <p:cNvSpPr txBox="1"/>
          <p:nvPr/>
        </p:nvSpPr>
        <p:spPr>
          <a:xfrm>
            <a:off x="1920240" y="6126480"/>
            <a:ext cx="8229600" cy="274320"/>
          </a:xfrm>
          <a:prstGeom prst="rect">
            <a:avLst/>
          </a:prstGeom>
          <a:noFill/>
          <a:ln/>
        </p:spPr>
        <p:txBody>
          <a:bodyPr wrap="square" lIns="0" tIns="0" rIns="0" bIns="0" rtlCol="0" anchor="t"/>
          <a:lstStyle/>
          <a:p>
            <a:pPr marL="0" indent="0">
              <a:buNone/>
            </a:pPr>
            <a:r>
              <a:rPr lang="en-US" sz="1200" i="1" dirty="0">
                <a:solidFill>
                  <a:srgbClr val="9FB2CC"/>
                </a:solidFill>
                <a:latin typeface="Calibri" pitchFamily="34" charset="0"/>
                <a:ea typeface="Calibri" pitchFamily="34" charset="-122"/>
                <a:cs typeface="Calibri" pitchFamily="34" charset="-120"/>
              </a:rPr>
              <a:t>Figure 2 from the final report.</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D: Sources and reproducibility</a:t>
            </a:r>
            <a:endParaRPr lang="en-US" sz="3400" dirty="0"/>
          </a:p>
        </p:txBody>
      </p:sp>
      <p:sp>
        <p:nvSpPr>
          <p:cNvPr id="3" name="Card"/>
          <p:cNvSpPr/>
          <p:nvPr/>
        </p:nvSpPr>
        <p:spPr>
          <a:xfrm>
            <a:off x="548640" y="1463040"/>
            <a:ext cx="5440680" cy="2286000"/>
          </a:xfrm>
          <a:prstGeom prst="roundRect">
            <a:avLst>
              <a:gd name="adj" fmla="val 4800"/>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4" name="Text 2"/>
          <p:cNvSpPr txBox="1"/>
          <p:nvPr/>
        </p:nvSpPr>
        <p:spPr>
          <a:xfrm>
            <a:off x="822960" y="1645920"/>
            <a:ext cx="4846320" cy="365760"/>
          </a:xfrm>
          <a:prstGeom prst="rect">
            <a:avLst/>
          </a:prstGeom>
          <a:noFill/>
          <a:ln/>
        </p:spPr>
        <p:txBody>
          <a:bodyPr wrap="square" lIns="0" tIns="0" rIns="0" bIns="0" rtlCol="0" anchor="t"/>
          <a:lstStyle/>
          <a:p>
            <a:pPr marL="0" indent="0">
              <a:buNone/>
            </a:pPr>
            <a:r>
              <a:rPr lang="en-US" sz="1400" b="1" kern="0" spc="200" dirty="0">
                <a:solidFill>
                  <a:srgbClr val="8FC1FF"/>
                </a:solidFill>
                <a:latin typeface="Calibri" pitchFamily="34" charset="0"/>
                <a:ea typeface="Calibri" pitchFamily="34" charset="-122"/>
                <a:cs typeface="Calibri" pitchFamily="34" charset="-120"/>
              </a:rPr>
              <a:t>RESEARCH EVIDENCE</a:t>
            </a:r>
            <a:endParaRPr lang="en-US" sz="1400" dirty="0"/>
          </a:p>
        </p:txBody>
      </p:sp>
      <p:sp>
        <p:nvSpPr>
          <p:cNvPr id="5" name="Text 3"/>
          <p:cNvSpPr txBox="1"/>
          <p:nvPr/>
        </p:nvSpPr>
        <p:spPr>
          <a:xfrm>
            <a:off x="822960" y="2194560"/>
            <a:ext cx="4846320" cy="137160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COMP301 The Skeptics Final Report. Tables 1, 3 to 5 and 7 to 12; Figures 1 to 6; Chapters 6 to 11.</a:t>
            </a:r>
            <a:endParaRPr lang="en-US" sz="1700" dirty="0"/>
          </a:p>
        </p:txBody>
      </p:sp>
      <p:sp>
        <p:nvSpPr>
          <p:cNvPr id="6" name="Card"/>
          <p:cNvSpPr/>
          <p:nvPr/>
        </p:nvSpPr>
        <p:spPr>
          <a:xfrm>
            <a:off x="6172200" y="1463040"/>
            <a:ext cx="5440680" cy="2286000"/>
          </a:xfrm>
          <a:prstGeom prst="roundRect">
            <a:avLst>
              <a:gd name="adj" fmla="val 4800"/>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5"/>
          <p:cNvSpPr txBox="1"/>
          <p:nvPr/>
        </p:nvSpPr>
        <p:spPr>
          <a:xfrm>
            <a:off x="6446520" y="1645920"/>
            <a:ext cx="484632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PRESENTER NARRATIVE</a:t>
            </a:r>
            <a:endParaRPr lang="en-US" sz="1400" dirty="0"/>
          </a:p>
        </p:txBody>
      </p:sp>
      <p:sp>
        <p:nvSpPr>
          <p:cNvPr id="8" name="Text 6"/>
          <p:cNvSpPr txBox="1"/>
          <p:nvPr/>
        </p:nvSpPr>
        <p:spPr>
          <a:xfrm>
            <a:off x="6446520" y="2194560"/>
            <a:ext cx="4846320" cy="137160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The Skeptics Final Presentation Script. Five presenter sections, about 15 to 16 minutes.</a:t>
            </a:r>
            <a:endParaRPr lang="en-US" sz="1700" dirty="0"/>
          </a:p>
        </p:txBody>
      </p:sp>
      <p:sp>
        <p:nvSpPr>
          <p:cNvPr id="9" name="Text 7"/>
          <p:cNvSpPr txBox="1"/>
          <p:nvPr/>
        </p:nvSpPr>
        <p:spPr>
          <a:xfrm>
            <a:off x="54864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21 Sep 2026</a:t>
            </a:r>
            <a:endParaRPr lang="en-US" sz="3000" dirty="0"/>
          </a:p>
        </p:txBody>
      </p:sp>
      <p:sp>
        <p:nvSpPr>
          <p:cNvPr id="10" name="Text 8"/>
          <p:cNvSpPr txBox="1"/>
          <p:nvPr/>
        </p:nvSpPr>
        <p:spPr>
          <a:xfrm>
            <a:off x="54864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Specifications frozen</a:t>
            </a:r>
            <a:endParaRPr lang="en-US" sz="1600" dirty="0"/>
          </a:p>
        </p:txBody>
      </p:sp>
      <p:sp>
        <p:nvSpPr>
          <p:cNvPr id="11" name="Text 9"/>
          <p:cNvSpPr txBox="1"/>
          <p:nvPr/>
        </p:nvSpPr>
        <p:spPr>
          <a:xfrm>
            <a:off x="429768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27 Sep 2026</a:t>
            </a:r>
            <a:endParaRPr lang="en-US" sz="3000" dirty="0"/>
          </a:p>
        </p:txBody>
      </p:sp>
      <p:sp>
        <p:nvSpPr>
          <p:cNvPr id="12" name="Text 10"/>
          <p:cNvSpPr txBox="1"/>
          <p:nvPr/>
        </p:nvSpPr>
        <p:spPr>
          <a:xfrm>
            <a:off x="429768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Evaluation plan fixed</a:t>
            </a:r>
            <a:endParaRPr lang="en-US" sz="1600" dirty="0"/>
          </a:p>
        </p:txBody>
      </p:sp>
      <p:sp>
        <p:nvSpPr>
          <p:cNvPr id="13" name="Text 11"/>
          <p:cNvSpPr txBox="1"/>
          <p:nvPr/>
        </p:nvSpPr>
        <p:spPr>
          <a:xfrm>
            <a:off x="804672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30 Sep to 3 Oct 2026</a:t>
            </a:r>
            <a:endParaRPr lang="en-US" sz="3000" dirty="0"/>
          </a:p>
        </p:txBody>
      </p:sp>
      <p:sp>
        <p:nvSpPr>
          <p:cNvPr id="14" name="Text 12"/>
          <p:cNvSpPr txBox="1"/>
          <p:nvPr/>
        </p:nvSpPr>
        <p:spPr>
          <a:xfrm>
            <a:off x="804672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Main runs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30</a:t>
            </a:fld>
            <a:endParaRPr lang="en-US"/>
          </a:p>
        </p:txBody>
      </p:sp>
    </p:spTree>
  </p:cSld>
  <p:clrMapOvr>
    <a:masterClrMapping/>
  </p:clrMapOvr>
</p:sld>
</file>

<file path=ppt/theme/theme1.xml><?xml version="1.0" encoding="utf-8"?>
<a:theme xmlns:a="http://schemas.openxmlformats.org/drawingml/2006/main" name="Skeptics Navy">
  <a:themeElements>
    <a:clrScheme name="Skeptics Navy">
      <a:dk1>
        <a:srgbClr val="0D1B2E"/>
      </a:dk1>
      <a:lt1>
        <a:srgbClr val="FFFFFF"/>
      </a:lt1>
      <a:dk2>
        <a:srgbClr val="1B3A66"/>
      </a:dk2>
      <a:lt2>
        <a:srgbClr val="F1F5FA"/>
      </a:lt2>
      <a:accent1>
        <a:srgbClr val="1B3A66"/>
      </a:accent1>
      <a:accent2>
        <a:srgbClr val="E8443A"/>
      </a:accent2>
      <a:accent3>
        <a:srgbClr val="2F80D0"/>
      </a:accent3>
      <a:accent4>
        <a:srgbClr val="F7E23B"/>
      </a:accent4>
      <a:accent5>
        <a:srgbClr val="5B7FA6"/>
      </a:accent5>
      <a:accent6>
        <a:srgbClr val="D3DCE8"/>
      </a:accent6>
      <a:hlink>
        <a:srgbClr val="2F80D0"/>
      </a:hlink>
      <a:folHlink>
        <a:srgbClr val="5B7FA6"/>
      </a:folHlink>
    </a:clrScheme>
    <a:fontScheme name="Skeptics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5894</Words>
  <Application>Microsoft Office PowerPoint</Application>
  <PresentationFormat>Widescreen</PresentationFormat>
  <Paragraphs>517</Paragraphs>
  <Slides>30</Slides>
  <Notes>30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Skeptics Navy</vt:lpstr>
      <vt:lpstr>PowerPoint Presentation</vt:lpstr>
      <vt:lpstr>Code that looks right, and calls an API that isn't</vt:lpstr>
      <vt:lpstr>The research question</vt:lpstr>
      <vt:lpstr>Four hypotheses, fixed before the main runs</vt:lpstr>
      <vt:lpstr>What counts as a hallucination</vt:lpstr>
      <vt:lpstr>1,000 tasks. 6 public APIs. Frozen ground truth</vt:lpstr>
      <vt:lpstr>The plain model hallucinates in over half its answers</vt:lpstr>
      <vt:lpstr>Generating an answer must not give it authority</vt:lpstr>
      <vt:lpstr>Six layers, one frozen source of truth</vt:lpstr>
      <vt:lpstr>How the confidence score is built</vt:lpstr>
      <vt:lpstr>Three rules, in order</vt:lpstr>
      <vt:lpstr>The verifier was tested first</vt:lpstr>
      <vt:lpstr>A paired experiment with an independent Marker</vt:lpstr>
      <vt:lpstr>Hallucinations reaching the user: ~53% down to ~2%</vt:lpstr>
      <vt:lpstr>Where the protection comes from</vt:lpstr>
      <vt:lpstr>Where the reduction happens</vt:lpstr>
      <vt:lpstr>What the numbers do and don't say</vt:lpstr>
      <vt:lpstr>The paired effect, run by run</vt:lpstr>
      <vt:lpstr>Hard rules, not the score, set the release</vt:lpstr>
      <vt:lpstr>Cost of Intervention: per prompt</vt:lpstr>
      <vt:lpstr>Cost of Intervention: per batch</vt:lpstr>
      <vt:lpstr>Auditing the evaluator</vt:lpstr>
      <vt:lpstr>Scope and next steps</vt:lpstr>
      <vt:lpstr>Applying it in the real world</vt:lpstr>
      <vt:lpstr>Vibe coding summary</vt:lpstr>
      <vt:lpstr>PowerPoint Presentation</vt:lpstr>
      <vt:lpstr>Appendix A: Exact headline results</vt:lpstr>
      <vt:lpstr>Appendix B: Weights and thresholds</vt:lpstr>
      <vt:lpstr>Appendix C: Deployment and components</vt:lpstr>
      <vt:lpstr>Appendix D: Sources and reproducibility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Skeptics - Confident Agent</dc:title>
  <dc:subject>PptxGenJS Presentation</dc:subject>
  <dc:creator>The Skeptics</dc:creator>
  <cp:lastModifiedBy>M.I Valli Mahomed</cp:lastModifiedBy>
  <cp:revision>5</cp:revision>
  <dcterms:created xsi:type="dcterms:W3CDTF">2026-10-17T15:24:48Z</dcterms:created>
  <dcterms:modified xsi:type="dcterms:W3CDTF">2026-10-19T19:54:47Z</dcterms:modified>
</cp:coreProperties>
</file>